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24"/>
    <p:sldId id="275" r:id="rId10"/>
    <p:sldId id="265" r:id="rId11"/>
    <p:sldId id="266" r:id="rId12"/>
    <p:sldId id="267" r:id="rId13"/>
    <p:sldId id="274" r:id="rId25"/>
    <p:sldId id="276" r:id="rId26"/>
    <p:sldId id="268" r:id="rId14"/>
    <p:sldId id="277" r:id="rId27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9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21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E276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5.48</c:v>
                </c:pt>
                <c:pt idx="1">
                  <c:v>6.22</c:v>
                </c:pt>
                <c:pt idx="2">
                  <c:v>7.2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1E276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5479</c:v>
                </c:pt>
                <c:pt idx="1">
                  <c:v>6221</c:v>
                </c:pt>
                <c:pt idx="2">
                  <c:v>7200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450</c:v>
                </c:pt>
                <c:pt idx="1">
                  <c:v>449</c:v>
                </c:pt>
                <c:pt idx="2">
                  <c:v>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405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Ownership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A951"/>
              </a:solidFill>
              <a:effectLst/>
            </c:spPr>
          </c:dPt>
          <c:dPt>
            <c:idx val="1"/>
            <c:bubble3D val="0"/>
            <c:spPr>
              <a:solidFill>
                <a:srgbClr val="D9DEE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76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76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Founder family</c:v>
                </c:pt>
                <c:pt idx="1">
                  <c:v>Other / free float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18.5</c:v>
                </c:pt>
                <c:pt idx="1">
                  <c:v>81.5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senior term loan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1.6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Excess balance-sheet cash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3.4</c:v>
                </c:pt>
                <c:pt idx="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Sponsor equity</c:v>
                </c:pt>
              </c:strCache>
            </c:strRef>
          </c:tx>
          <c:spPr>
            <a:solidFill>
              <a:srgbClr val="A9BC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7.65</c:v>
                </c:pt>
                <c:pt idx="1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Equity purchase</c:v>
                </c:pt>
              </c:strCache>
            </c:strRef>
          </c:tx>
          <c:spPr>
            <a:solidFill>
              <a:srgbClr val="5461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12.15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Refi debt &amp; fees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</c:v>
                </c:pt>
                <c:pt idx="1">
                  <c:v>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E276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  <c:pt idx="5">
                    <c:v>FY31E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7200</c:v>
                </c:pt>
                <c:pt idx="1">
                  <c:v>7704</c:v>
                </c:pt>
                <c:pt idx="2">
                  <c:v>8243</c:v>
                </c:pt>
                <c:pt idx="3">
                  <c:v>8738</c:v>
                </c:pt>
                <c:pt idx="4">
                  <c:v>9262</c:v>
                </c:pt>
                <c:pt idx="5">
                  <c:v>9725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  <c:pt idx="5">
                    <c:v>FY31E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800</c:v>
                </c:pt>
                <c:pt idx="1">
                  <c:v>919</c:v>
                </c:pt>
                <c:pt idx="2">
                  <c:v>1044</c:v>
                </c:pt>
                <c:pt idx="3">
                  <c:v>1179</c:v>
                </c:pt>
                <c:pt idx="4">
                  <c:v>1306</c:v>
                </c:pt>
                <c:pt idx="5">
                  <c:v>1432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405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4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3.png"/><Relationship Id="rId5" Type="http://schemas.openxmlformats.org/officeDocument/2006/relationships/image" Target="../media/image-14-3.png"/><Relationship Id="rId6" Type="http://schemas.openxmlformats.org/officeDocument/2006/relationships/image" Target="../media/image-14-3.png"/><Relationship Id="rId7" Type="http://schemas.openxmlformats.org/officeDocument/2006/relationships/image" Target="../media/image-14-3.png"/><Relationship Id="rId8" Type="http://schemas.openxmlformats.org/officeDocument/2006/relationships/image" Target="../media/image-14-3.png"/><Relationship Id="rId9" Type="http://schemas.openxmlformats.org/officeDocument/2006/relationships/image" Target="../media/image-14-3.png"/><Relationship Id="rId10" Type="http://schemas.openxmlformats.org/officeDocument/2006/relationships/image" Target="../media/image-14-3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image" Target="../media/image-15-2.png"/><Relationship Id="rId5" Type="http://schemas.openxmlformats.org/officeDocument/2006/relationships/image" Target="../media/image-1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822960" y="914400"/>
            <a:ext cx="1828800" cy="64008"/>
          </a:xfrm>
          <a:prstGeom prst="rect">
            <a:avLst>
              <a:gd name="adj" fmla="val 85714"/>
            </a:avLst>
          </a:prstGeom>
          <a:solidFill>
            <a:srgbClr val="C8A95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AISAN TECHNOLOGY CO., LTD.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5B64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Take-Private (LBO) Case Study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 STANDARD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4667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3364992" y="4206240"/>
            <a:ext cx="0" cy="5029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044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Nagoya, Japan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062472" y="4206240"/>
            <a:ext cx="0" cy="5029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1792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1792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1970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759952" y="4206240"/>
            <a:ext cx="0" cy="5029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1540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91540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Geospatial / HD maps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22960" y="521208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5321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Recommendation, business &amp; industry analysis · projections &amp; returns · value-up theses · key DD items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Private &amp; Confidential  ·  Prepared for the Investment Committee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 &amp; Recommendation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Fundamentally interesting, but an active subsidiary investigation and sub-hurdle returns make a bid premature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371600"/>
            <a:ext cx="11091672" cy="1078992"/>
          </a:xfrm>
          <a:prstGeom prst="rect">
            <a:avLst>
              <a:gd name="adj" fmla="val 8475"/>
            </a:avLst>
          </a:prstGeom>
          <a:solidFill>
            <a:srgbClr val="F7F7F7"/>
          </a:solidFill>
          <a:ln/>
          <a:effectLst/>
        </ns0:spPr>
        <ns0:txBody>
          <a:bodyPr/>
          <a:p/>
        </ns0:txBody>
      </ns0:sp>
      <ns0:sp>
        <ns0:nvSpPr>
          <ns0:cNvPr id="8" name="Text 5"/>
          <ns0:cNvSpPr/>
          <ns0:nvPr/>
        </ns0:nvSpPr>
        <ns0:spPr>
          <a:xfrm>
            <a:off x="1645920" y="1463040"/>
            <a:ext cx="978408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RECOMMENDATION   </a:t>
            </a:r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Too early; proceed to confirmatory DD only. </a:t>
            </a:r>
            <a:pPr indent="0" marL="0">
              <a:lnSpc>
                <a:spcPct val="100000"/>
              </a:lnSpc>
              <a:buNone/>
            </a:pPr>
            <a:r>
              <a:rPr lang="en-US" sz="1300" b="1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bid pending the investigation report, audited / restated FY2026 financials, QoE, cash-availability analysis and clean re-underwriting.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On 3 Apr 2026 AISAN set up a special committee after suspected forgery, concealment and improper transactions at a 100%-owned subsidiary; the FY26 impact is undetermined. Even on pre-restatement figures, base-case returns are ~16.8% IRR / 2.2x — below a typical PE hurdle.</a:t>
            </a:r>
            <a:endParaRPr lang="en-US" sz="11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548640" y="2697480"/>
            <a:ext cx="2670048" cy="1481328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12" name="Text 8"/>
          <ns0:cNvSpPr/>
          <ns0:nvPr/>
        </ns0:nvSpPr>
        <ns0:spPr>
          <a:xfrm>
            <a:off x="1371600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IRR</a:t>
            </a:r>
            <a:endParaRPr lang="en-US" sz="950" dirty="0"/>
          </a:p>
        </ns0:txBody>
      </ns0:sp>
      <ns0:sp>
        <ns0:nvSpPr>
          <ns0:cNvPr id="13" name="Text 9"/>
          <ns0:cNvSpPr/>
          <ns0:nvPr/>
        </ns0:nvSpPr>
        <ns0:spPr>
          <a:xfrm>
            <a:off x="749808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16.8%</a:t>
            </a:r>
            <a:endParaRPr lang="en-US" sz="3000" dirty="0"/>
          </a:p>
        </ns0:txBody>
      </ns0:sp>
      <ns0:sp>
        <ns0:nvSpPr>
          <ns0:cNvPr id="14" name="Text 10"/>
          <ns0:cNvSpPr/>
          <ns0:nvPr/>
        </ns0:nvSpPr>
        <ns0:spPr>
          <a:xfrm>
            <a:off x="749808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 2.17x · 5-yr hold</a:t>
            </a:r>
            <a:endParaRPr lang="en-US" sz="950" dirty="0"/>
          </a:p>
        </ns0:txBody>
      </ns0:sp>
      <ns0:sp>
        <ns0:nvSpPr>
          <ns0:cNvPr id="15" name="Shape 11"/>
          <ns0:cNvSpPr/>
          <ns0:nvPr/>
        </ns0:nvSpPr>
        <ns0:spPr>
          <a:xfrm>
            <a:off x="3346704" y="2697480"/>
            <a:ext cx="2670048" cy="1481328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18" name="Text 13"/>
          <ns0:cNvSpPr/>
          <ns0:nvPr/>
        </ns0:nvSpPr>
        <ns0:spPr>
          <a:xfrm>
            <a:off x="4169664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/ SHARE</a:t>
            </a:r>
            <a:endParaRPr lang="en-US" sz="950" dirty="0"/>
          </a:p>
        </ns0:txBody>
      </ns0:sp>
      <ns0:sp>
        <ns0:nvSpPr>
          <ns0:cNvPr id="19" name="Text 14"/>
          <ns0:cNvSpPr/>
          <ns0:nvPr/>
        </ns0:nvSpPr>
        <ns0:spPr>
          <a:xfrm>
            <a:off x="3547872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¥2,302</a:t>
            </a:r>
            <a:endParaRPr lang="en-US" sz="3000" dirty="0"/>
          </a:p>
        </ns0:txBody>
      </ns0:sp>
      <ns0:sp>
        <ns0:nvSpPr>
          <ns0:cNvPr id="20" name="Text 15"/>
          <ns0:cNvSpPr/>
          <ns0:nvPr/>
        </ns0:nvSpPr>
        <ns0:spPr>
          <a:xfrm>
            <a:off x="3547872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+37% to ¥1,680 ref / +29% to pre-news ¥1,780</a:t>
            </a:r>
            <a:endParaRPr lang="en-US" sz="950" dirty="0"/>
          </a:p>
        </ns0:txBody>
      </ns0:sp>
      <ns0:sp>
        <ns0:nvSpPr>
          <ns0:cNvPr id="21" name="Shape 16"/>
          <ns0:cNvSpPr/>
          <ns0:nvPr/>
        </ns0:nvSpPr>
        <ns0:spPr>
          <a:xfrm>
            <a:off x="6144768" y="2697480"/>
            <a:ext cx="2670048" cy="1481328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24" name="Text 18"/>
          <ns0:cNvSpPr/>
          <ns0:nvPr/>
        </ns0:nvSpPr>
        <ns0:spPr>
          <a:xfrm>
            <a:off x="6967728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GATING ITEM</a:t>
            </a:r>
            <a:endParaRPr lang="en-US" sz="950" dirty="0"/>
          </a:p>
        </ns0:txBody>
      </ns0:sp>
      <ns0:sp>
        <ns0:nvSpPr>
          <ns0:cNvPr id="25" name="Text 19"/>
          <ns0:cNvSpPr/>
          <ns0:nvPr/>
        </ns0:nvSpPr>
        <ns0:spPr>
          <a:xfrm>
            <a:off x="6345936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 probe</a:t>
            </a:r>
            <a:endParaRPr lang="en-US" sz="2300" dirty="0"/>
          </a:p>
        </ns0:txBody>
      </ns0:sp>
      <ns0:sp>
        <ns0:nvSpPr>
          <ns0:cNvPr id="26" name="Text 20"/>
          <ns0:cNvSpPr/>
          <ns0:nvPr/>
        </ns0:nvSpPr>
        <ns0:spPr>
          <a:xfrm>
            <a:off x="6345936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100%-sub special investigation</a:t>
            </a:r>
            <a:endParaRPr lang="en-US" sz="950" dirty="0"/>
          </a:p>
        </ns0:txBody>
      </ns0:sp>
      <ns0:sp>
        <ns0:nvSpPr>
          <ns0:cNvPr id="27" name="Shape 21"/>
          <ns0:cNvSpPr/>
          <ns0:nvPr/>
        </ns0:nvSpPr>
        <ns0:spPr>
          <a:xfrm>
            <a:off x="8942832" y="2697480"/>
            <a:ext cx="2670048" cy="1481328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0" name="Text 23"/>
          <ns0:cNvSpPr/>
          <ns0:nvPr/>
        </ns0:nvSpPr>
        <ns0:spPr>
          <a:xfrm>
            <a:off x="9765792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</a:t>
            </a:r>
            <a:endParaRPr lang="en-US" sz="950" dirty="0"/>
          </a:p>
        </ns0:txBody>
      </ns0:sp>
      <ns0:sp>
        <ns0:nvSpPr>
          <ns0:cNvPr id="31" name="Text 24"/>
          <ns0:cNvSpPr/>
          <ns0:nvPr/>
        </ns0:nvSpPr>
        <ns0:spPr>
          <a:xfrm>
            <a:off x="9144000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¥4.1bn</a:t>
            </a:r>
            <a:endParaRPr lang="en-US" sz="3000" dirty="0"/>
          </a:p>
        </ns0:txBody>
      </ns0:sp>
      <ns0:sp>
        <ns0:nvSpPr>
          <ns0:cNvPr id="32" name="Text 25"/>
          <ns0:cNvSpPr/>
          <ns0:nvPr/>
        </ns0:nvSpPr>
        <ns0:spPr>
          <a:xfrm>
            <a:off x="9144000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≈44% of mkt cap; reliability TBC</a:t>
            </a:r>
            <a:endParaRPr lang="en-US" sz="950" dirty="0"/>
          </a:p>
        </ns0:txBody>
      </ns0:sp>
      <ns0:sp>
        <ns0:nvSpPr>
          <ns0:cNvPr id="33" name="Shape 26"/>
          <ns0:cNvSpPr/>
          <ns0:nvPr/>
        </ns0:nvSpPr>
        <ns0:spPr>
          <a:xfrm>
            <a:off x="548640" y="4370832"/>
            <a:ext cx="5468112" cy="1920000"/>
          </a:xfrm>
          <a:prstGeom prst="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4" name="Shape 27"/>
          <ns0:cNvSpPr/>
          <ns0:nvPr/>
        </ns0:nvSpPr>
        <ns0:spPr>
          <a:xfrm>
            <a:off x="548640" y="4370832"/>
            <a:ext cx="91440" cy="1920000"/>
          </a:xfrm>
          <a:prstGeom prst="rect">
            <a:avLst>
              <a:gd name="adj" fmla="val 60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5" name="Text 28"/>
          <ns0:cNvSpPr/>
          <ns0:nvPr/>
        </ns0:nvSpPr>
        <ns0:spPr>
          <a:xfrm>
            <a:off x="822960" y="4517136"/>
            <a:ext cx="501091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ATTRACTIONS</a:t>
            </a:r>
            <a:endParaRPr lang="en-US" sz="1100" dirty="0"/>
          </a:p>
        </ns0:txBody>
      </ns0:sp>
      <ns0:sp>
        <ns0:nvSpPr>
          <ns0:cNvPr id="36" name="Text 29"/>
          <ns0:cNvSpPr/>
          <ns0:nvPr/>
        </ns0:nvSpPr>
        <ns0:spPr>
          <a:xfrm>
            <a:off x="868680" y="4882896"/>
            <a:ext cx="4919472" cy="12344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Sticky, high-margin surveying-software core (cash cow; recurring mix TBC)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Over-capitalised balance sheet: ~¥4.1bn net cash; deployment assumed in base case — returns fall to ~12.6%/~8.5% if not (DD item)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(reported) may support a take-private if aligned — willingness and roll-over economics are DD items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HD-map &amp; Level-4 autonomous-driving optionality for a strategic exit</a:t>
            </a:r>
            <a:endParaRPr lang="en-US" sz="1150" dirty="0"/>
          </a:p>
        </ns0:txBody>
      </ns0:sp>
      <ns0:sp>
        <ns0:nvSpPr>
          <ns0:cNvPr id="37" name="Shape 30"/>
          <ns0:cNvSpPr/>
          <ns0:nvPr/>
        </ns0:nvSpPr>
        <ns0:spPr>
          <a:xfrm>
            <a:off x="6172200" y="4370832"/>
            <a:ext cx="5468112" cy="1920000"/>
          </a:xfrm>
          <a:prstGeom prst="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8" name="Shape 31"/>
          <ns0:cNvSpPr/>
          <ns0:nvPr/>
        </ns0:nvSpPr>
        <ns0:spPr>
          <a:xfrm>
            <a:off x="6172200" y="4370832"/>
            <a:ext cx="91440" cy="1920000"/>
          </a:xfrm>
          <a:prstGeom prst="rect">
            <a:avLst>
              <a:gd name="adj" fmla="val 60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9" name="Text 32"/>
          <ns0:cNvSpPr/>
          <ns0:nvPr/>
        </ns0:nvSpPr>
        <ns0:spPr>
          <a:xfrm>
            <a:off x="6446520" y="4517136"/>
            <a:ext cx="501091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NOW</a:t>
            </a:r>
            <a:endParaRPr lang="en-US" sz="1100" dirty="0"/>
          </a:p>
        </ns0:txBody>
      </ns0:sp>
      <ns0:sp>
        <ns0:nvSpPr>
          <ns0:cNvPr id="40" name="Text 33"/>
          <ns0:cNvSpPr/>
          <ns0:nvPr/>
        </ns0:nvSpPr>
        <ns0:spPr>
          <a:xfrm>
            <a:off x="6492240" y="4882896"/>
            <a:ext cx="4919472" cy="12344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Subsidiary (Akisoku) under special investigation — suspected forgery / concealment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unreliable until restated; FY26 results formally delayed (30-Apr-26 notice), revision risk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IRR ~16.8% (upside ~23%, downside a capital loss) — below a clean 20% PE hurdle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 Q4-weighted revenue; loss-making Mobility; thin Standard float</a:t>
            </a:r>
            <a:endParaRPr lang="en-US" sz="1150" dirty="0"/>
          </a:p>
        </ns0:txBody>
      </ns0:sp>
      <ns0:sp>
        <ns0:nvSpPr>
          <ns0:cNvPr id="41" name="Text 34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2" name="Text 35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ns0:txBody>
      </ns0:sp>
      <ns0:sp>
        <ns0:nvSpPr>
          <ns0:cNvPr id="9502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602" name="SourceLine"/>
          <ns0:cNvSpPr txBox="1"/>
          <ns0:nvPr/>
        </ns0:nvSpPr>
        <ns0:spPr>
          <a:xfrm>
            <a:off x="503000" y="6330000"/>
            <a:ext cx="9600000" cy="16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company disclosure (TDnet / IR), accompanying LBO model (Assumptions notes 1-8); figures pre-restatement.</a:t>
            </a:r>
          </a:p>
        </ns0:txBody>
      </ns0:sp>
      <ns0:sp>
        <ns0:nvSpPr>
          <ns0:cNvPr id="9801" name="BannerBar"/>
          <ns0:cNvSpPr/>
          <ns0:nvPr/>
        </ns0:nvSpPr>
        <ns0:spPr>
          <a:xfrm>
            <a:off x="548640" y="1371600"/>
            <a:ext cx="54864" cy="1078992"/>
          </a:xfrm>
          <a:prstGeom prst="rect">
            <a:avLst/>
          </a:prstGeom>
          <a:solidFill>
            <a:srgbClr val="1E276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</ns0:spTree>
  </ns0:cSld>
  <ns0:clrMapOvr>
    <a:masterClrMapping/>
  </ns0:clrMapOvr>
</ns0:sld>
</file>

<file path=ppt/slides/slide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Highlights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reasons AISAN screens as a differentiated take-private opportunity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11091672" cy="82296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8" name="Text 5"/>
          <ns0:cNvSpPr/>
          <ns0:nvPr/>
        </ns0:nvSpPr>
        <ns0:spPr>
          <a:xfrm>
            <a:off x="1481328" y="1527048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ns0:txBody>
      </ns0:sp>
      <ns0:sp>
        <ns0:nvSpPr>
          <ns0:cNvPr id="9" name="Text 6"/>
          <ns0:cNvSpPr/>
          <ns0:nvPr/>
        </ns0:nvSpPr>
        <ns0:spPr>
          <a:xfrm>
            <a:off x="2148840" y="1536192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Defensive, sticky core</a:t>
            </a:r>
            <a:endParaRPr lang="en-US" sz="1450" dirty="0"/>
          </a:p>
        </ns0:txBody>
      </ns0:sp>
      <ns0:sp>
        <ns0:nvSpPr>
          <ns0:cNvPr id="10" name="Text 7"/>
          <ns0:cNvSpPr/>
          <ns0:nvPr/>
        </ns0:nvSpPr>
        <ns0:spPr>
          <a:xfrm>
            <a:off x="5623560" y="1508760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segment (surveying &amp; civil-engineering software for licensed land/house surveyors and government) is sticky and budget-linked, at a ~26% segment margin (recurring mix to verify) — a genuine cash cow underpinning downside protection.</a:t>
            </a:r>
            <a:endParaRPr lang="en-US" sz="1080" dirty="0"/>
          </a:p>
        </ns0:txBody>
      </ns0:sp>
      <ns0:sp>
        <ns0:nvSpPr>
          <ns0:cNvPr id="11" name="Shape 8"/>
          <ns0:cNvSpPr/>
          <ns0:nvPr/>
        </ns0:nvSpPr>
        <ns0:spPr>
          <a:xfrm>
            <a:off x="548640" y="2350008"/>
            <a:ext cx="11091672" cy="82296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14" name="Text 10"/>
          <ns0:cNvSpPr/>
          <ns0:nvPr/>
        </ns0:nvSpPr>
        <ns0:spPr>
          <a:xfrm>
            <a:off x="1481328" y="2459736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ns0:txBody>
      </ns0:sp>
      <ns0:sp>
        <ns0:nvSpPr>
          <ns0:cNvPr id="15" name="Text 11"/>
          <ns0:cNvSpPr/>
          <ns0:nvPr/>
        </ns0:nvSpPr>
        <ns0:spPr>
          <a:xfrm>
            <a:off x="2148840" y="2468880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Over-capitalised balance sheet</a:t>
            </a:r>
            <a:endParaRPr lang="en-US" sz="1450" dirty="0"/>
          </a:p>
        </ns0:txBody>
      </ns0:sp>
      <ns0:sp>
        <ns0:nvSpPr>
          <ns0:cNvPr id="16" name="Text 12"/>
          <ns0:cNvSpPr/>
          <ns0:nvPr/>
        </ns0:nvSpPr>
        <ns0:spPr>
          <a:xfrm>
            <a:off x="5623560" y="2441448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FY25A net cash of ~¥4.1bn (≈44% of market cap) plus an investment-securities portfolio sit idle. TSE capital-efficiency pressure makes balance-sheet optimisation a natural focus — though it is DD-gated, not yet underwritable.</a:t>
            </a:r>
            <a:endParaRPr lang="en-US" sz="1080" dirty="0"/>
          </a:p>
        </ns0:txBody>
      </ns0:sp>
      <ns0:sp>
        <ns0:nvSpPr>
          <ns0:cNvPr id="17" name="Shape 13"/>
          <ns0:cNvSpPr/>
          <ns0:nvPr/>
        </ns0:nvSpPr>
        <ns0:spPr>
          <a:xfrm>
            <a:off x="548640" y="3282696"/>
            <a:ext cx="11091672" cy="82296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20" name="Text 15"/>
          <ns0:cNvSpPr/>
          <ns0:nvPr/>
        </ns0:nvSpPr>
        <ns0:spPr>
          <a:xfrm>
            <a:off x="1481328" y="3392424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ns0:txBody>
      </ns0:sp>
      <ns0:sp>
        <ns0:nvSpPr>
          <ns0:cNvPr id="21" name="Text 16"/>
          <ns0:cNvSpPr/>
          <ns0:nvPr/>
        </ns0:nvSpPr>
        <ns0:spPr>
          <a:xfrm>
            <a:off x="2148840" y="3401568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Visible margin upside</a:t>
            </a:r>
            <a:endParaRPr lang="en-US" sz="1450" dirty="0"/>
          </a:p>
        </ns0:txBody>
      </ns0:sp>
      <ns0:sp>
        <ns0:nvSpPr>
          <ns0:cNvPr id="22" name="Text 17"/>
          <ns0:cNvSpPr/>
          <ns0:nvPr/>
        </ns0:nvSpPr>
        <ns0:spPr>
          <a:xfrm>
            <a:off x="5623560" y="3374136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margin of ~8% sits far below the software core. Overhead rationalisation and a turnaround / partnering of loss-making Mobility can lift blended margin toward 12%+.</a:t>
            </a:r>
            <a:endParaRPr lang="en-US" sz="1080" dirty="0"/>
          </a:p>
        </ns0:txBody>
      </ns0:sp>
      <ns0:sp>
        <ns0:nvSpPr>
          <ns0:cNvPr id="23" name="Shape 18"/>
          <ns0:cNvSpPr/>
          <ns0:nvPr/>
        </ns0:nvSpPr>
        <ns0:spPr>
          <a:xfrm>
            <a:off x="548640" y="4215384"/>
            <a:ext cx="11091672" cy="82296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26" name="Text 20"/>
          <ns0:cNvSpPr/>
          <ns0:nvPr/>
        </ns0:nvSpPr>
        <ns0:spPr>
          <a:xfrm>
            <a:off x="1481328" y="4325112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ns0:txBody>
      </ns0:sp>
      <ns0:sp>
        <ns0:nvSpPr>
          <ns0:cNvPr id="27" name="Text 21"/>
          <ns0:cNvSpPr/>
          <ns0:nvPr/>
        </ns0:nvSpPr>
        <ns0:spPr>
          <a:xfrm>
            <a:off x="2148840" y="4334256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Autonomous-driving optionality</a:t>
            </a:r>
            <a:endParaRPr lang="en-US" sz="1450" dirty="0"/>
          </a:p>
        </ns0:txBody>
      </ns0:sp>
      <ns0:sp>
        <ns0:nvSpPr>
          <ns0:cNvPr id="28" name="Text 22"/>
          <ns0:cNvSpPr/>
          <ns0:nvPr/>
        </ns0:nvSpPr>
        <ns0:spPr>
          <a:xfrm>
            <a:off x="5623560" y="4306824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MMS, high-precision 3D / HD ('dynamic') maps and Level-4 system integration give exposure to a structurally growing theme — and a credible strategic-exit angle to an OEM or geospatial consolidator.</a:t>
            </a:r>
            <a:endParaRPr lang="en-US" sz="1080" dirty="0"/>
          </a:p>
        </ns0:txBody>
      </ns0:sp>
      <ns0:sp>
        <ns0:nvSpPr>
          <ns0:cNvPr id="29" name="Shape 23"/>
          <ns0:cNvSpPr/>
          <ns0:nvPr/>
        </ns0:nvSpPr>
        <ns0:spPr>
          <a:xfrm>
            <a:off x="548640" y="5148072"/>
            <a:ext cx="11091672" cy="82296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2" name="Text 25"/>
          <ns0:cNvSpPr/>
          <ns0:nvPr/>
        </ns0:nvSpPr>
        <ns0:spPr>
          <a:xfrm>
            <a:off x="1481328" y="5257800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ns0:txBody>
      </ns0:sp>
      <ns0:sp>
        <ns0:nvSpPr>
          <ns0:cNvPr id="33" name="Text 26"/>
          <ns0:cNvSpPr/>
          <ns0:nvPr/>
        </ns0:nvSpPr>
        <ns0:spPr>
          <a:xfrm>
            <a:off x="2148840" y="5266944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Potential deal structure</a:t>
            </a:r>
            <a:endParaRPr lang="en-US" sz="145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5623560" y="5239512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(reported) may support a take-private if aligned; willingness and roll-over economics are confirmatory DD items. Low debt and FCF are structurally supportive, but a take-private is DD-gated and not yet actionable.</a:t>
            </a:r>
            <a:endParaRPr lang="en-US" sz="1080" dirty="0"/>
          </a:p>
        </ns0:txBody>
      </ns0:sp>
      <ns0:sp>
        <ns0:nvSpPr>
          <ns0:cNvPr id="35" name="Text 28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6" name="Text 29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ns0:txBody>
      </ns0:sp>
      <ns0:sp>
        <ns0:nvSpPr>
          <ns0:cNvPr id="9503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603" name="SourceLine"/>
          <ns0:cNvSpPr txBox="1"/>
          <ns0:nvPr/>
        </ns0:nvSpPr>
        <ns0:spPr>
          <a:xfrm>
            <a:off x="503000" y="6330000"/>
            <a:ext cx="9600000" cy="16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company IR and FY26 H1 results (TDnet); detail and URLs in Source Appendix (p.21).</a:t>
            </a:r>
          </a:p>
        </ns0:txBody>
      </ns0:sp>
    </ns0:spTree>
  </ns0:cSld>
  <ns0:clrMapOvr>
    <a:masterClrMapping/>
  </ns0:clrMapOvr>
</ns0:sld>
</file>

<file path=ppt/slides/slide4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4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Overview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55-year-old Nagoya geospatial specialist bridging traditional surveying and autonomous-driving infrastructure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583680" cy="4617720"/>
          </a:xfrm>
          <a:prstGeom prst="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94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050" dirty="0"/>
          </a:p>
        </ns0:txBody>
      </ns0:sp>
      <ns0:sp>
        <ns0:nvSpPr>
          <ns0:cNvPr id="7" name="Text 5"/>
          <ns0:cNvSpPr/>
          <ns0:nvPr/>
        </ns0:nvSpPr>
        <ns0:spPr>
          <a:xfrm>
            <a:off x="868680" y="1920240"/>
            <a:ext cx="5989320" cy="39776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TECHNOLOGY (TSE: 4667) is a Nagoya-headquartered software and geospatial-data company founded in 1970, operating through a parent and four subsidiaries.</a:t>
            </a:r>
            <a:endParaRPr lang="en-US" sz="1160" dirty="0"/>
          </a:p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heritage business equips Japan's licensed land &amp; house surveyors and public bodies with surveying / civil-engineering CAD and GIS software — products such as WingEarth, ANIST (point-cloud CAD) and GrandBase.</a:t>
            </a:r>
            <a:endParaRPr lang="en-US" sz="1160" dirty="0"/>
          </a:p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last decade it has reinvested into mobility: Mobile Mapping Systems, high-precision 3D 'dynamic' maps and integration / proving-ground testing for Level-4 autonomous driving — positioning it as a niche supplier into a fast-growing ecosystem.</a:t>
            </a:r>
            <a:endParaRPr lang="en-US" sz="116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highly seasonal: public projects close around the March fiscal year-end, concentrating sales and profit in Q4 and producing a working-capital cash draw earlier in the year.</a:t>
            </a:r>
            <a:endParaRPr lang="en-US" sz="1160" dirty="0"/>
          </a:p>
        </ns0:txBody>
      </ns0:sp>
      <ns0:sp>
        <ns0:nvSpPr>
          <ns0:cNvPr id="8" name="Shape 6"/>
          <ns0:cNvSpPr/>
          <ns0:nvPr/>
        </ns0:nvSpPr>
        <ns0:spPr>
          <a:xfrm>
            <a:off x="7315200" y="1417320"/>
            <a:ext cx="4325112" cy="2148840"/>
          </a:xfrm>
          <a:prstGeom prst="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9" name="Text 7"/>
          <ns0:cNvSpPr/>
          <ns0:nvPr/>
        </ns0:nvSpPr>
        <ns0:spPr>
          <a:xfrm>
            <a:off x="7589520" y="1572768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FACTS</a:t>
            </a:r>
            <a:endParaRPr lang="en-US" sz="105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7589520" y="1901952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 / market</a:t>
            </a:r>
            <a:endParaRPr lang="en-US" sz="103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9646920" y="1901952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 Standard · 4667</a:t>
            </a:r>
            <a:endParaRPr lang="en-US" sz="103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7589520" y="2171700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outstanding</a:t>
            </a:r>
            <a:endParaRPr lang="en-US" sz="103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646920" y="2171700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5.55m issued / 5.28m ex-treasury</a:t>
            </a:r>
            <a:endParaRPr lang="en-US" sz="103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7589520" y="2441448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cap (pre-bid reference)</a:t>
            </a:r>
            <a:endParaRPr lang="en-US" sz="103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646920" y="2441448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~¥9.3bn</a:t>
            </a:r>
            <a:endParaRPr lang="en-US" sz="103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7589520" y="2711196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 P/E · P/B</a:t>
            </a:r>
            <a:endParaRPr lang="en-US" sz="103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9646920" y="2711196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23.2x · 1.4x</a:t>
            </a:r>
            <a:endParaRPr lang="en-US" sz="103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7589520" y="2980944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 yield</a:t>
            </a:r>
            <a:endParaRPr lang="en-US" sz="103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646920" y="2980944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~2.1%</a:t>
            </a:r>
            <a:endParaRPr lang="en-US" sz="103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7589520" y="3250692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holders</a:t>
            </a:r>
            <a:endParaRPr lang="en-US" sz="103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646920" y="3250692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~18.5% (reported)</a:t>
            </a:r>
            <a:endParaRPr lang="en-US" sz="103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7315200" y="3703320"/>
            <a:ext cx="4325112" cy="2331720"/>
          </a:xfrm>
          <a:prstGeom prst="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23" name="Text 21"/>
          <ns0:cNvSpPr/>
          <ns0:nvPr/>
        </ns0:nvSpPr>
        <ns0:spPr>
          <a:xfrm>
            <a:off x="7589520" y="3840480"/>
            <a:ext cx="3840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(¥bn, consolidated)</a:t>
            </a:r>
            <a:endParaRPr lang="en-US" sz="1050" dirty="0"/>
          </a:p>
        </ns0:txBody>
      </ns0:sp>
      <ns0:graphicFrame>
        <ns0:nvGraphicFramePr>
          <ns0:cNvPr id="24" name="Chart 0" descr=""/>
          <ns0:cNvGraphicFramePr/>
          <ns0:nvPr/>
        </ns0:nvGraphicFramePr>
        <ns0:xfrm>
          <a:off x="7498080" y="4160520"/>
          <a:ext cx="3977640" cy="178308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25" name="Text 22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26" name="Text 23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ns0:txBody>
      </ns0:sp>
      <ns0:sp>
        <ns0:nvSpPr>
          <ns0:cNvPr id="9504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604" name="SourceLine"/>
          <ns0:cNvSpPr txBox="1"/>
          <ns0:nvPr/>
        </ns0:nvSpPr>
        <ns0:spPr>
          <a:xfrm>
            <a:off x="503000" y="6330000"/>
            <a:ext cx="9600000" cy="16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company IR, securities reports (EDINET), IRBANK; detail in Source Appendix (p.21).</a:t>
            </a:r>
          </a:p>
        </ns0:txBody>
      </ns0:sp>
    </ns0:spTree>
  </ns0:cSld>
  <ns0:clrMapOvr>
    <a:masterClrMapping/>
  </ns0:clrMapOvr>
</ns0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&amp; Segments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engines: a cash-generative software core and a growth-oriented mobility option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468112" cy="4617720"/>
          </a:xfrm>
          <a:prstGeom prst="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417320"/>
            <a:ext cx="5468112" cy="841248"/>
          </a:xfrm>
          <a:prstGeom prst="rect">
            <a:avLst>
              <a:gd name="adj" fmla="val 9783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874520"/>
            <a:ext cx="5468112" cy="38404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17320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41732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Surveying &amp; civil-engineering software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07992" y="1709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COW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68680" y="2496312"/>
            <a:ext cx="4873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Customers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land/house surveyors &amp; government bodies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Products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WingEarth · ANIST (point-cloud CAD) · GrandBase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Economics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sticky, ~26% segment margin (H1 FY26)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4114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DRIVERS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68680" y="4416552"/>
            <a:ext cx="2194560" cy="365760"/>
          </a:xfrm>
          <a:prstGeom prst="rect">
            <a:avLst>
              <a:gd name="adj" fmla="val 15000"/>
            </a:avLst>
          </a:prstGeom>
          <a:solidFill>
            <a:srgbClr val="F7F7F7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6868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i-Construction 2.0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3200400" y="4416552"/>
            <a:ext cx="2194560" cy="365760"/>
          </a:xfrm>
          <a:prstGeom prst="rect">
            <a:avLst>
              <a:gd name="adj" fmla="val 15000"/>
            </a:avLst>
          </a:prstGeom>
          <a:solidFill>
            <a:srgbClr val="F7F7F7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320040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Surveyor labour shortage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868680" y="4873752"/>
            <a:ext cx="2194560" cy="365760"/>
          </a:xfrm>
          <a:prstGeom prst="rect">
            <a:avLst>
              <a:gd name="adj" fmla="val 15000"/>
            </a:avLst>
          </a:prstGeom>
          <a:solidFill>
            <a:srgbClr val="F7F7F7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6868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3D / PLATEAU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3200400" y="4873752"/>
            <a:ext cx="2194560" cy="365760"/>
          </a:xfrm>
          <a:prstGeom prst="rect">
            <a:avLst>
              <a:gd name="adj" fmla="val 15000"/>
            </a:avLst>
          </a:prstGeom>
          <a:solidFill>
            <a:srgbClr val="F7F7F7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320040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resilience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868680" y="5440680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public-budget-linked — the segment funds the investment thesis and provides downside protection.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172200" y="1417320"/>
            <a:ext cx="5468112" cy="4617720"/>
          </a:xfrm>
          <a:prstGeom prst="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172200" y="1417320"/>
            <a:ext cx="5468112" cy="841248"/>
          </a:xfrm>
          <a:prstGeom prst="rect">
            <a:avLst>
              <a:gd name="adj" fmla="val 9783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6172200" y="1874520"/>
            <a:ext cx="5468112" cy="38404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7040880" y="15453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MOBILITY / DX</a:t>
            </a:r>
            <a:endParaRPr lang="en-US" sz="1700" dirty="0"/>
          </a:p>
        </p:txBody>
      </p:sp>
      <p:sp>
        <p:nvSpPr>
          <p:cNvPr id="30" name="Text 26"/>
          <p:cNvSpPr/>
          <p:nvPr/>
        </p:nvSpPr>
        <p:spPr>
          <a:xfrm>
            <a:off x="704088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maps &amp; autonomous-driving systems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131552" y="1709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6492240" y="2496312"/>
            <a:ext cx="4873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Offering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Mapping (MMS), high-precision 3D / dynamic maps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Services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Level-4 system integration, proving-ground tests, drones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Economics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Lumpy, Q4-weighted, currently low / negative margin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492240" y="4114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BACKDROP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6492240" y="4416552"/>
            <a:ext cx="2194560" cy="365760"/>
          </a:xfrm>
          <a:prstGeom prst="rect">
            <a:avLst>
              <a:gd name="adj" fmla="val 15000"/>
            </a:avLst>
          </a:prstGeom>
          <a:solidFill>
            <a:srgbClr val="F7F7F7"/>
          </a:solidFill>
          <a:ln/>
        </p:spPr>
        <p:txBody>
          <a:bodyPr/>
          <a:p/>
        </p:txBody>
      </p:sp>
      <p:sp>
        <p:nvSpPr>
          <p:cNvPr id="35" name="Text 31"/>
          <p:cNvSpPr/>
          <p:nvPr/>
        </p:nvSpPr>
        <p:spPr>
          <a:xfrm>
            <a:off x="649224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Level-4 legalised (2023)</a:t>
            </a:r>
            <a:endParaRPr lang="en-US" sz="980" dirty="0"/>
          </a:p>
        </p:txBody>
      </p:sp>
      <p:sp>
        <p:nvSpPr>
          <p:cNvPr id="36" name="Shape 32"/>
          <p:cNvSpPr/>
          <p:nvPr/>
        </p:nvSpPr>
        <p:spPr>
          <a:xfrm>
            <a:off x="8823960" y="4416552"/>
            <a:ext cx="2194560" cy="365760"/>
          </a:xfrm>
          <a:prstGeom prst="rect">
            <a:avLst>
              <a:gd name="adj" fmla="val 15000"/>
            </a:avLst>
          </a:prstGeom>
          <a:solidFill>
            <a:srgbClr val="F7F7F7"/>
          </a:solidFill>
          <a:ln/>
        </p:spPr>
        <p:txBody>
          <a:bodyPr/>
          <a:p/>
        </p:txBody>
      </p:sp>
      <p:sp>
        <p:nvSpPr>
          <p:cNvPr id="37" name="Text 33"/>
          <p:cNvSpPr/>
          <p:nvPr/>
        </p:nvSpPr>
        <p:spPr>
          <a:xfrm>
            <a:off x="882396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Robotaxi / bus pilots</a:t>
            </a:r>
            <a:endParaRPr lang="en-US" sz="980" dirty="0"/>
          </a:p>
        </p:txBody>
      </p:sp>
      <p:sp>
        <p:nvSpPr>
          <p:cNvPr id="38" name="Shape 34"/>
          <p:cNvSpPr/>
          <p:nvPr/>
        </p:nvSpPr>
        <p:spPr>
          <a:xfrm>
            <a:off x="6492240" y="4873752"/>
            <a:ext cx="2194560" cy="365760"/>
          </a:xfrm>
          <a:prstGeom prst="rect">
            <a:avLst>
              <a:gd name="adj" fmla="val 15000"/>
            </a:avLst>
          </a:prstGeom>
          <a:solidFill>
            <a:srgbClr val="F7F7F7"/>
          </a:solidFill>
          <a:ln/>
        </p:spPr>
        <p:txBody>
          <a:bodyPr/>
          <a:p/>
        </p:txBody>
      </p:sp>
      <p:sp>
        <p:nvSpPr>
          <p:cNvPr id="39" name="Text 35"/>
          <p:cNvSpPr/>
          <p:nvPr/>
        </p:nvSpPr>
        <p:spPr>
          <a:xfrm>
            <a:off x="649224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automation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8823960" y="4873752"/>
            <a:ext cx="2194560" cy="365760"/>
          </a:xfrm>
          <a:prstGeom prst="rect">
            <a:avLst>
              <a:gd name="adj" fmla="val 15000"/>
            </a:avLst>
          </a:prstGeom>
          <a:solidFill>
            <a:srgbClr val="F7F7F7"/>
          </a:solidFill>
          <a:ln/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882396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/ delivery</a:t>
            </a:r>
            <a:endParaRPr lang="en-US" sz="980" dirty="0"/>
          </a:p>
        </p:txBody>
      </p:sp>
      <p:sp>
        <p:nvSpPr>
          <p:cNvPr id="42" name="Text 38"/>
          <p:cNvSpPr/>
          <p:nvPr/>
        </p:nvSpPr>
        <p:spPr>
          <a:xfrm>
            <a:off x="6492240" y="5440680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and capital-hungry — the value-up plan rationalises losses while preserving strategic-exit optionality.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9505" name="HeaderRule"/>
          <p:cNvSpPr/>
          <p:nvPr/>
        </p:nvSpPr>
        <p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605" name="SourceLine"/>
          <p:cNvSpPr txBox="1"/>
          <p:nvPr/>
        </p:nvSpPr>
        <p:spPr>
          <a:xfrm>
            <a:off x="503000" y="6330000"/>
            <a:ext cx="9600000" cy="16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company FY26 H1 results (TDnet, 12-Nov-2025), company IR; segment economics reported / estimated.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&amp; Market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supportive structural backdrops — one stable and policy-driven, one high-growth and nascent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Surveying · Civil engineering · GIS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High-definition maps · Autonomous driving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68112" cy="1298448"/>
          </a:xfrm>
          <a:prstGeom prst="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60000" y="2011680"/>
            <a:ext cx="499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i-Construction 2.0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0000" y="2377440"/>
            <a:ext cx="5035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MLIT's construction-DX programme mandates 3D data across the public works lifecycle.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3246120"/>
            <a:ext cx="5468112" cy="1298448"/>
          </a:xfrm>
          <a:prstGeom prst="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860000" y="3429000"/>
            <a:ext cx="499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Labour shortage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860000" y="3794760"/>
            <a:ext cx="5035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ageing, shrinking pool of licensed surveyors forces automation and software adoption.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5468112" cy="1298448"/>
          </a:xfrm>
          <a:prstGeom prst="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860000" y="4846320"/>
            <a:ext cx="499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PLATEAU &amp; national 3D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860000" y="5212080"/>
            <a:ext cx="5035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3D city-model and digital-twin initiatives expand the addressable data market.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172200" y="1828800"/>
            <a:ext cx="5468112" cy="1298448"/>
          </a:xfrm>
          <a:prstGeom prst="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6480000" y="2011680"/>
            <a:ext cx="499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Level-4 legalised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6480000" y="2377440"/>
            <a:ext cx="5035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legal framework enables driverless operation; pilots scaling in transport &amp; logistics.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6172200" y="3246120"/>
            <a:ext cx="5468112" cy="1298448"/>
          </a:xfrm>
          <a:prstGeom prst="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30" name="Text 23"/>
          <p:cNvSpPr/>
          <p:nvPr/>
        </p:nvSpPr>
        <p:spPr>
          <a:xfrm>
            <a:off x="6480000" y="3429000"/>
            <a:ext cx="499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HD-map demand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6480000" y="3794760"/>
            <a:ext cx="5035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fleets require continuously-maintained high-precision maps — a potential recurring data need.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172200" y="4663440"/>
            <a:ext cx="5468112" cy="1298448"/>
          </a:xfrm>
          <a:prstGeom prst="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35" name="Text 27"/>
          <p:cNvSpPr/>
          <p:nvPr/>
        </p:nvSpPr>
        <p:spPr>
          <a:xfrm>
            <a:off x="6480000" y="4846320"/>
            <a:ext cx="499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Consolidation angle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6480000" y="5212080"/>
            <a:ext cx="5035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concentrated HD-map landscape (e.g. Dynamic Map Platform) creates strategic-buyer interest.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548640" y="6144768"/>
            <a:ext cx="11091672" cy="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8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9" name="Text 31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9506" name="HeaderRule"/>
          <p:cNvSpPr/>
          <p:nvPr/>
        </p:nvSpPr>
        <p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606" name="SourceLine"/>
          <p:cNvSpPr txBox="1"/>
          <p:nvPr/>
        </p:nvSpPr>
        <p:spPr>
          <a:xfrm>
            <a:off x="503000" y="6330000"/>
            <a:ext cx="9600000" cy="16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company disclosure and public industry materials; detail in Source Appendix (p.21).</a:t>
            </a:r>
          </a:p>
        </p:txBody>
      </p:sp>
    </p:spTree>
  </p:cSld>
  <p:clrMapOvr>
    <a:masterClrMapping/>
  </p:clrMapOvr>
</p:sld>
</file>

<file path=ppt/slides/slide7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7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Track Record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top-line growth and a structurally light balance sheet; profitability is the lever, not the revenue line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583680" cy="4617720"/>
          </a:xfrm>
          <a:prstGeom prst="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94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OPERATING PROFIT (¥mm)</a:t>
            </a:r>
            <a:endParaRPr lang="en-US" sz="1050" dirty="0"/>
          </a:p>
        </ns0:txBody>
      </ns0:sp>
      <ns0:graphicFrame>
        <ns0:nvGraphicFramePr>
          <ns0:cNvPr id="7" name="Chart 0" descr=""/>
          <ns0:cNvGraphicFramePr/>
          <ns0:nvPr/>
        </ns0:nvGraphicFramePr>
        <ns0:xfrm>
          <a:off x="640080" y="1965960"/>
          <a:ext cx="6355080" cy="278892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4892040"/>
            <a:ext cx="5989320" cy="10058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compounded at ~8.6% over FY17–FY25; FY26E guidance ¥7.2bn (+16%). Operating margin has held in a ~7–8% band — well below the software core's potential.</a:t>
            </a:r>
            <a:endParaRPr lang="en-US" sz="105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7315200" y="1417320"/>
            <a:ext cx="2103120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7315200" y="1417320"/>
            <a:ext cx="82296" cy="1078992"/>
          </a:xfrm>
          <a:prstGeom prst="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7516368" y="1536192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REVENUE</a:t>
            </a:r>
            <a:endParaRPr lang="en-US" sz="83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7498080" y="1764792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¥7.20bn</a:t>
            </a:r>
            <a:endParaRPr lang="en-US" sz="200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516368" y="2176272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 YoY</a:t>
            </a:r>
            <a:endParaRPr lang="en-US" sz="880" dirty="0"/>
          </a:p>
        </ns0:txBody>
      </ns0:sp>
      <ns0:sp>
        <ns0:nvSpPr>
          <ns0:cNvPr id="14" name="Shape 11"/>
          <ns0:cNvSpPr/>
          <ns0:nvPr/>
        </ns0:nvSpPr>
        <ns0:spPr>
          <a:xfrm>
            <a:off x="9537192" y="1417320"/>
            <a:ext cx="2103120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15" name="Shape 12"/>
          <ns0:cNvSpPr/>
          <ns0:nvPr/>
        </ns0:nvSpPr>
        <ns0:spPr>
          <a:xfrm>
            <a:off x="9537192" y="1417320"/>
            <a:ext cx="82296" cy="1078992"/>
          </a:xfrm>
          <a:prstGeom prst="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6" name="Text 13"/>
          <ns0:cNvSpPr/>
          <ns0:nvPr/>
        </ns0:nvSpPr>
        <ns0:spPr>
          <a:xfrm>
            <a:off x="9738360" y="1536192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OP. PROFIT</a:t>
            </a:r>
            <a:endParaRPr lang="en-US" sz="83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9720072" y="1764792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¥600m</a:t>
            </a:r>
            <a:endParaRPr lang="en-US" sz="200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9738360" y="2176272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8.3% margin</a:t>
            </a:r>
            <a:endParaRPr lang="en-US" sz="880" dirty="0"/>
          </a:p>
        </ns0:txBody>
      </ns0:sp>
      <ns0:sp>
        <ns0:nvSpPr>
          <ns0:cNvPr id="19" name="Shape 16"/>
          <ns0:cNvSpPr/>
          <ns0:nvPr/>
        </ns0:nvSpPr>
        <ns0:spPr>
          <a:xfrm>
            <a:off x="7315200" y="2642616"/>
            <a:ext cx="2103120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20" name="Shape 17"/>
          <ns0:cNvSpPr/>
          <ns0:nvPr/>
        </ns0:nvSpPr>
        <ns0:spPr>
          <a:xfrm>
            <a:off x="7315200" y="2642616"/>
            <a:ext cx="82296" cy="1078992"/>
          </a:xfrm>
          <a:prstGeom prst="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21" name="Text 18"/>
          <ns0:cNvSpPr/>
          <ns0:nvPr/>
        </ns0:nvSpPr>
        <ns0:spPr>
          <a:xfrm>
            <a:off x="7516368" y="2761488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FY25A NET CASH</a:t>
            </a:r>
            <a:endParaRPr lang="en-US" sz="83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7498080" y="2990088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¥4.13bn</a:t>
            </a:r>
            <a:endParaRPr lang="en-US" sz="200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7516368" y="3401568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71.8% equity ratio</a:t>
            </a:r>
            <a:endParaRPr lang="en-US" sz="880" dirty="0"/>
          </a:p>
        </ns0:txBody>
      </ns0:sp>
      <ns0:sp>
        <ns0:nvSpPr>
          <ns0:cNvPr id="24" name="Shape 21"/>
          <ns0:cNvSpPr/>
          <ns0:nvPr/>
        </ns0:nvSpPr>
        <ns0:spPr>
          <a:xfrm>
            <a:off x="9537192" y="2642616"/>
            <a:ext cx="2103120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25" name="Shape 22"/>
          <ns0:cNvSpPr/>
          <ns0:nvPr/>
        </ns0:nvSpPr>
        <ns0:spPr>
          <a:xfrm>
            <a:off x="9537192" y="2642616"/>
            <a:ext cx="82296" cy="1078992"/>
          </a:xfrm>
          <a:prstGeom prst="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26" name="Text 23"/>
          <ns0:cNvSpPr/>
          <ns0:nvPr/>
        </ns0:nvSpPr>
        <ns0:spPr>
          <a:xfrm>
            <a:off x="9738360" y="2761488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INTEREST-BEARING DEBT</a:t>
            </a:r>
            <a:endParaRPr lang="en-US" sz="830" dirty="0"/>
          </a:p>
        </ns0:txBody>
      </ns0:sp>
      <ns0:sp>
        <ns0:nvSpPr>
          <ns0:cNvPr id="27" name="Text 24"/>
          <ns0:cNvSpPr/>
          <ns0:nvPr/>
        </ns0:nvSpPr>
        <ns0:spPr>
          <a:xfrm>
            <a:off x="9720072" y="2990088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~¥0.05bn</a:t>
            </a:r>
            <a:endParaRPr lang="en-US" sz="20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9738360" y="3401568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effectively unlevered</a:t>
            </a:r>
            <a:endParaRPr lang="en-US" sz="88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7315200" y="3867912"/>
            <a:ext cx="2103120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0" name="Shape 27"/>
          <ns0:cNvSpPr/>
          <ns0:nvPr/>
        </ns0:nvSpPr>
        <ns0:spPr>
          <a:xfrm>
            <a:off x="7315200" y="3867912"/>
            <a:ext cx="82296" cy="1078992"/>
          </a:xfrm>
          <a:prstGeom prst="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1" name="Text 28"/>
          <ns0:cNvSpPr/>
          <ns0:nvPr/>
        </ns0:nvSpPr>
        <ns0:spPr>
          <a:xfrm>
            <a:off x="7516368" y="3986784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EPS</a:t>
            </a:r>
            <a:endParaRPr lang="en-US" sz="83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7498080" y="4215384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¥72.3</a:t>
            </a:r>
            <a:endParaRPr lang="en-US" sz="2000" dirty="0"/>
          </a:p>
        </ns0:txBody>
      </ns0:sp>
      <ns0:sp>
        <ns0:nvSpPr>
          <ns0:cNvPr id="33" name="Text 30"/>
          <ns0:cNvSpPr/>
          <ns0:nvPr/>
        </ns0:nvSpPr>
        <ns0:spPr>
          <a:xfrm>
            <a:off x="7516368" y="4626864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 P/E 23.2x</a:t>
            </a:r>
            <a:endParaRPr lang="en-US" sz="880" dirty="0"/>
          </a:p>
        </ns0:txBody>
      </ns0:sp>
      <ns0:sp>
        <ns0:nvSpPr>
          <ns0:cNvPr id="34" name="Shape 31"/>
          <ns0:cNvSpPr/>
          <ns0:nvPr/>
        </ns0:nvSpPr>
        <ns0:spPr>
          <a:xfrm>
            <a:off x="9537192" y="3867912"/>
            <a:ext cx="2103120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5" name="Shape 32"/>
          <ns0:cNvSpPr/>
          <ns0:nvPr/>
        </ns0:nvSpPr>
        <ns0:spPr>
          <a:xfrm>
            <a:off x="9537192" y="3867912"/>
            <a:ext cx="82296" cy="1078992"/>
          </a:xfrm>
          <a:prstGeom prst="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6" name="Text 33"/>
          <ns0:cNvSpPr/>
          <ns0:nvPr/>
        </ns0:nvSpPr>
        <ns0:spPr>
          <a:xfrm>
            <a:off x="9738360" y="3986784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830" dirty="0"/>
          </a:p>
        </ns0:txBody>
      </ns0:sp>
      <ns0:sp>
        <ns0:nvSpPr>
          <ns0:cNvPr id="37" name="Text 34"/>
          <ns0:cNvSpPr/>
          <ns0:nvPr/>
        </ns0:nvSpPr>
        <ns0:spPr>
          <a:xfrm>
            <a:off x="9720072" y="4215384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~¥0.16bn/yr</a:t>
            </a:r>
            <a:endParaRPr lang="en-US" sz="2000" dirty="0"/>
          </a:p>
        </ns0:txBody>
      </ns0:sp>
      <ns0:sp>
        <ns0:nvSpPr>
          <ns0:cNvPr id="38" name="Text 35"/>
          <ns0:cNvSpPr/>
          <ns0:nvPr/>
        </ns0:nvSpPr>
        <ns0:spPr>
          <a:xfrm>
            <a:off x="9738360" y="4626864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asset-light model</a:t>
            </a:r>
            <a:endParaRPr lang="en-US" sz="880" dirty="0"/>
          </a:p>
        </ns0:txBody>
      </ns0:sp>
      <ns0:sp>
        <ns0:nvSpPr>
          <ns0:cNvPr id="39" name="Text 36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0" name="Text 37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ns0:txBody>
      </ns0:sp>
      <ns0:sp>
        <ns0:nvSpPr>
          <ns0:cNvPr id="41" name="TextBox 40"/>
          <ns0:cNvSpPr txBox="1"/>
          <ns0:nvPr/>
        </ns0:nvSpPr>
        <ns0:spPr>
          <a:xfrm>
            <a:off x="457200" y="5989320"/>
            <a:ext cx="11277295" cy="274320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r>
              <a:rPr sz="900" i="1">
                <a:solidFill>
                  <a:srgbClr val="666666"/>
                </a:solidFill>
              </a:rPr>
              <a:t>Note: the model conservatively assumes capex at 2.5% of revenue (¥0.19-0.24bn p.a.) vs ~¥0.16bn historical.</a:t>
            </a:r>
          </a:p>
        </ns0:txBody>
      </ns0:sp>
      <ns0:sp>
        <ns0:nvSpPr>
          <ns0:cNvPr id="9507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607" name="SourceLine"/>
          <ns0:cNvSpPr txBox="1"/>
          <ns0:nvPr/>
        </ns0:nvSpPr>
        <ns0:spPr>
          <a:xfrm>
            <a:off x="503000" y="6330000"/>
            <a:ext cx="9600000" cy="16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securities reports (EDINET), FY26 guidance (TDnet, 27-Jan-2026), IRBANK.</a:t>
            </a:r>
          </a:p>
        </ns0:txBody>
      </ns0:sp>
    </ns0:spTree>
  </ns0:cSld>
  <ns0:clrMapOvr>
    <a:masterClrMapping/>
  </ns0:clrMapOvr>
</ns0:sld>
</file>

<file path=ppt/slides/slide8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8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Take-Private Feasibility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ownership and low leverage make a take-private structurally feasible — but only DD-gated, post-investigation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5029200" cy="4617720"/>
          </a:xfrm>
          <a:prstGeom prst="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4572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&amp; PREMIUM</a:t>
            </a:r>
            <a:endParaRPr lang="en-US" sz="105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868680" y="1965960"/>
            <a:ext cx="4389120" cy="786384"/>
          </a:xfrm>
          <a:prstGeom prst="rect">
            <a:avLst>
              <a:gd name="adj" fmla="val 8140"/>
            </a:avLst>
          </a:prstGeom>
          <a:solidFill>
            <a:srgbClr val="F7F7F7"/>
          </a:solidFill>
          <a:ln/>
        </ns0:spPr>
        <ns0:txBody>
          <a:bodyPr/>
          <a:p/>
        </ns0:txBody>
      </ns0:sp>
      <ns0:sp>
        <ns0:nvSpPr>
          <ns0:cNvPr id="8" name="Text 6"/>
          <ns0:cNvSpPr/>
          <ns0:nvPr/>
        </ns0:nvSpPr>
        <ns0:spPr>
          <a:xfrm>
            <a:off x="1097280" y="2057400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price</a:t>
            </a:r>
            <a:endParaRPr lang="en-US" sz="11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1097280" y="2368296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post-news ref; re-base needed</a:t>
            </a:r>
            <a:endParaRPr lang="en-US" sz="9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3291840" y="2112264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¥1,680</a:t>
            </a:r>
            <a:endParaRPr lang="en-US" sz="19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868680" y="2871216"/>
            <a:ext cx="4389120" cy="786384"/>
          </a:xfrm>
          <a:prstGeom prst="rect">
            <a:avLst>
              <a:gd name="adj" fmla="val 814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1097280" y="2962656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offer</a:t>
            </a:r>
            <a:endParaRPr lang="en-US" sz="11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1097280" y="3273552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+37% premium</a:t>
            </a:r>
            <a:endParaRPr lang="en-US" sz="9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3291840" y="3017520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¥2,302</a:t>
            </a:r>
            <a:endParaRPr lang="en-US" sz="19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868680" y="3776472"/>
            <a:ext cx="4389120" cy="786384"/>
          </a:xfrm>
          <a:prstGeom prst="rect">
            <a:avLst>
              <a:gd name="adj" fmla="val 8140"/>
            </a:avLst>
          </a:prstGeom>
          <a:solidFill>
            <a:srgbClr val="F7F7F7"/>
          </a:solidFill>
          <a:ln/>
        </ns0:spPr>
        <ns0:txBody>
          <a:bodyPr/>
          <a:p/>
        </ns0:txBody>
      </ns0:sp>
      <ns0:sp>
        <ns0:nvSpPr>
          <ns0:cNvPr id="16" name="Text 14"/>
          <ns0:cNvSpPr/>
          <ns0:nvPr/>
        </ns0:nvSpPr>
        <ns0:spPr>
          <a:xfrm>
            <a:off x="1097280" y="3867912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value</a:t>
            </a:r>
            <a:endParaRPr lang="en-US" sz="11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1097280" y="4178808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ex-treasury shares</a:t>
            </a:r>
            <a:endParaRPr lang="en-US" sz="9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3291840" y="3922776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¥12.2bn</a:t>
            </a:r>
            <a:endParaRPr lang="en-US" sz="190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868680" y="4681728"/>
            <a:ext cx="4389120" cy="786384"/>
          </a:xfrm>
          <a:prstGeom prst="rect">
            <a:avLst>
              <a:gd name="adj" fmla="val 8140"/>
            </a:avLst>
          </a:prstGeom>
          <a:solidFill>
            <a:srgbClr val="F7F7F7"/>
          </a:solidFill>
          <a:ln/>
        </ns0:spPr>
        <ns0:txBody>
          <a:bodyPr/>
          <a:p/>
        </ns0:txBody>
      </ns0:sp>
      <ns0:sp>
        <ns0:nvSpPr>
          <ns0:cNvPr id="20" name="Text 18"/>
          <ns0:cNvSpPr/>
          <ns0:nvPr/>
        </ns0:nvSpPr>
        <ns0:spPr>
          <a:xfrm>
            <a:off x="1097280" y="4773168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EV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1097280" y="5084064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¥4.1bn cash</a:t>
            </a:r>
            <a:endParaRPr lang="en-US" sz="90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3291840" y="4828032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¥8.1bn</a:t>
            </a:r>
            <a:endParaRPr lang="en-US" sz="19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868680" y="5650992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¥1,680 = 5-Jun close (post-investigation news); re-base vs ¥1,780 pre-news / ~¥1,740 3m / ~¥1,929 6m VWAP. 9-10 Jun Tier IV listing news → ¥1,951 / ¥1,847.</a:t>
            </a:r>
            <a:endParaRPr lang="en-US" sz="900" dirty="0"/>
          </a:p>
        </ns0:txBody>
      </ns0:sp>
      <ns0:sp>
        <ns0:nvSpPr>
          <ns0:cNvPr id="24" name="Shape 22"/>
          <ns0:cNvSpPr/>
          <ns0:nvPr/>
        </ns0:nvSpPr>
        <ns0:spPr>
          <a:xfrm>
            <a:off x="5897880" y="1417320"/>
            <a:ext cx="5742432" cy="2240280"/>
          </a:xfrm>
          <a:prstGeom prst="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25" name="Text 23"/>
          <ns0:cNvSpPr/>
          <ns0:nvPr/>
        </ns0:nvSpPr>
        <ns0:spPr>
          <a:xfrm>
            <a:off x="6172200" y="1572768"/>
            <a:ext cx="4572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 BASE</a:t>
            </a:r>
            <a:endParaRPr lang="en-US" sz="1050" dirty="0"/>
          </a:p>
        </ns0:txBody>
      </ns0:sp>
      <ns0:graphicFrame>
        <ns0:nvGraphicFramePr>
          <ns0:cNvPr id="26" name="Chart 0" descr=""/>
          <ns0:cNvGraphicFramePr/>
          <ns0:nvPr/>
        </ns0:nvGraphicFramePr>
        <ns0:xfrm>
          <a:off x="6035040" y="1874520"/>
          <a:ext cx="2286000" cy="169164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27" name="Text 24"/>
          <ns0:cNvSpPr/>
          <ns0:nvPr/>
        </ns0:nvSpPr>
        <ns0:spPr>
          <a:xfrm>
            <a:off x="6464808" y="2395728"/>
            <a:ext cx="146304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~18.5%</a:t>
            </a:r>
            <a:endParaRPr lang="en-US" sz="17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family</a:t>
            </a:r>
            <a:endParaRPr lang="en-US" sz="17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8595360" y="2011680"/>
            <a:ext cx="2834640" cy="1508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may support a take-private if aligned (willingness = DD item)</a:t>
            </a:r>
            <a:endParaRPr lang="en-US" sz="103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Electric (6.3%) and KDDI (5.0%) are strategic holders — intentions to map in DD; rest of float dispersed</a:t>
            </a:r>
            <a:endParaRPr lang="en-US" sz="103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engagement and a special committee would be required</a:t>
            </a:r>
            <a:endParaRPr lang="en-US" sz="103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5897880" y="3794760"/>
            <a:ext cx="2798064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2" name="Text 28"/>
          <ns0:cNvSpPr/>
          <ns0:nvPr/>
        </ns0:nvSpPr>
        <ns0:spPr>
          <a:xfrm>
            <a:off x="6702552" y="392277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TODAY</a:t>
            </a:r>
            <a:endParaRPr lang="en-US" sz="830" dirty="0"/>
          </a:p>
        </ns0:txBody>
      </ns0:sp>
      <ns0:sp>
        <ns0:nvSpPr>
          <ns0:cNvPr id="33" name="Text 29"/>
          <ns0:cNvSpPr/>
          <ns0:nvPr/>
        </ns0:nvSpPr>
        <ns0:spPr>
          <a:xfrm>
            <a:off x="6702552" y="412394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~0.0x</a:t>
            </a:r>
            <a:endParaRPr lang="en-US" sz="1600" dirty="0"/>
          </a:p>
        </ns0:txBody>
      </ns0:sp>
      <ns0:sp>
        <ns0:nvSpPr>
          <ns0:cNvPr id="34" name="Text 30"/>
          <ns0:cNvSpPr/>
          <ns0:nvPr/>
        </ns0:nvSpPr>
        <ns0:spPr>
          <a:xfrm>
            <a:off x="6080760" y="454456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exists; keep constrained pre-DD</a:t>
            </a:r>
            <a:endParaRPr lang="en-US" sz="840" dirty="0"/>
          </a:p>
        </ns0:txBody>
      </ns0:sp>
      <ns0:sp>
        <ns0:nvSpPr>
          <ns0:cNvPr id="35" name="Shape 31"/>
          <ns0:cNvSpPr/>
          <ns0:nvPr/>
        </ns0:nvSpPr>
        <ns0:spPr>
          <a:xfrm>
            <a:off x="8842248" y="3794760"/>
            <a:ext cx="2798064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8" name="Text 33"/>
          <ns0:cNvSpPr/>
          <ns0:nvPr/>
        </ns0:nvSpPr>
        <ns0:spPr>
          <a:xfrm>
            <a:off x="9646920" y="392277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GENERATION</a:t>
            </a:r>
            <a:endParaRPr lang="en-US" sz="830" dirty="0"/>
          </a:p>
        </ns0:txBody>
      </ns0:sp>
      <ns0:sp>
        <ns0:nvSpPr>
          <ns0:cNvPr id="39" name="Text 34"/>
          <ns0:cNvSpPr/>
          <ns0:nvPr/>
        </ns0:nvSpPr>
        <ns0:spPr>
          <a:xfrm>
            <a:off x="9646920" y="412394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¥0.2–0.8bn</a:t>
            </a:r>
            <a:endParaRPr lang="en-US" sz="1600" dirty="0"/>
          </a:p>
        </ns0:txBody>
      </ns0:sp>
      <ns0:sp>
        <ns0:nvSpPr>
          <ns0:cNvPr id="40" name="Text 35"/>
          <ns0:cNvSpPr/>
          <ns0:nvPr/>
        </ns0:nvSpPr>
        <ns0:spPr>
          <a:xfrm>
            <a:off x="9025128" y="454456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debt service</a:t>
            </a:r>
            <a:endParaRPr lang="en-US" sz="840" dirty="0"/>
          </a:p>
        </ns0:txBody>
      </ns0:sp>
      <ns0:sp>
        <ns0:nvSpPr>
          <ns0:cNvPr id="41" name="Shape 36"/>
          <ns0:cNvSpPr/>
          <ns0:nvPr/>
        </ns0:nvSpPr>
        <ns0:spPr>
          <a:xfrm>
            <a:off x="5897880" y="4983480"/>
            <a:ext cx="2798064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44" name="Text 38"/>
          <ns0:cNvSpPr/>
          <ns0:nvPr/>
        </ns0:nvSpPr>
        <ns0:spPr>
          <a:xfrm>
            <a:off x="6702552" y="511149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</a:t>
            </a:r>
            <a:endParaRPr lang="en-US" sz="830" dirty="0"/>
          </a:p>
        </ns0:txBody>
      </ns0:sp>
      <ns0:sp>
        <ns0:nvSpPr>
          <ns0:cNvPr id="45" name="Text 39"/>
          <ns0:cNvSpPr/>
          <ns0:nvPr/>
        </ns0:nvSpPr>
        <ns0:spPr>
          <a:xfrm>
            <a:off x="6702552" y="531266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TSE Standard</a:t>
            </a:r>
            <a:endParaRPr lang="en-US" sz="1600" dirty="0"/>
          </a:p>
        </ns0:txBody>
      </ns0:sp>
      <ns0:sp>
        <ns0:nvSpPr>
          <ns0:cNvPr id="46" name="Text 40"/>
          <ns0:cNvSpPr/>
          <ns0:nvPr/>
        </ns0:nvSpPr>
        <ns0:spPr>
          <a:xfrm>
            <a:off x="6080760" y="573328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float; 2-step squeeze-out (≥2/3) feasible</a:t>
            </a:r>
            <a:endParaRPr lang="en-US" sz="840" dirty="0"/>
          </a:p>
        </ns0:txBody>
      </ns0:sp>
      <ns0:sp>
        <ns0:nvSpPr>
          <ns0:cNvPr id="47" name="Shape 41"/>
          <ns0:cNvSpPr/>
          <ns0:nvPr/>
        </ns0:nvSpPr>
        <ns0:spPr>
          <a:xfrm>
            <a:off x="8842248" y="4983480"/>
            <a:ext cx="2798064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50" name="Text 43"/>
          <ns0:cNvSpPr/>
          <ns0:nvPr/>
        </ns0:nvSpPr>
        <ns0:spPr>
          <a:xfrm>
            <a:off x="9646920" y="511149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830" dirty="0"/>
          </a:p>
        </ns0:txBody>
      </ns0:sp>
      <ns0:sp>
        <ns0:nvSpPr>
          <ns0:cNvPr id="51" name="Text 44"/>
          <ns0:cNvSpPr/>
          <ns0:nvPr/>
        </ns0:nvSpPr>
        <ns0:spPr>
          <a:xfrm>
            <a:off x="9646920" y="531266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Sponsor-led / MBO</a:t>
            </a:r>
            <a:endParaRPr lang="en-US" sz="1600" dirty="0"/>
          </a:p>
        </ns0:txBody>
      </ns0:sp>
      <ns0:sp>
        <ns0:nvSpPr>
          <ns0:cNvPr id="52" name="Text 45"/>
          <ns0:cNvSpPr/>
          <ns0:nvPr/>
        </ns0:nvSpPr>
        <ns0:spPr>
          <a:xfrm>
            <a:off x="9025128" y="573328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founder-aligned; roll-over = DD item</a:t>
            </a:r>
            <a:endParaRPr lang="en-US" sz="840" dirty="0"/>
          </a:p>
        </ns0:txBody>
      </ns0:sp>
      <ns0:sp>
        <ns0:nvSpPr>
          <ns0:cNvPr id="53" name="Text 46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54" name="Text 47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ns0:txBody>
      </ns0:sp>
      <ns0:sp>
        <ns0:nvSpPr>
          <ns0:cNvPr id="9508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608" name="SourceLine"/>
          <ns0:cNvSpPr txBox="1"/>
          <ns0:nvPr/>
        </ns0:nvSpPr>
        <ns0:spPr>
          <a:xfrm>
            <a:off x="503000" y="6330000"/>
            <a:ext cx="9600000" cy="16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company IR (stock status), market data as of 5-Jun-2026; premium bases per FACT_CHECK log; structure illustrative.</a:t>
            </a:r>
          </a:p>
        </ns0:txBody>
      </ns0:sp>
    </ns0:spTree>
  </ns0:cSld>
  <ns0:clrMapOvr>
    <a:masterClrMapping/>
  </ns0:clrMapOvr>
</ns0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noAutofit/>
          </a:bodyPr>
          <a:lstStyle/>
          <a:p>
            <a:pPr algn="l"/>
            <a:r>
              <a:rPr sz="1500" b="1">
                <a:solidFill>
                  <a:srgbClr val="C8A951"/>
                </a:solidFill>
                <a:latin typeface="Georgia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74320"/>
            <a:ext cx="87782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Georgia"/>
              </a:rPr>
              <a:t>Valuation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104241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Strategic scarcity supports a premium, but sponsor returns do not clear at full precedent-style premia.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0363"/>
            <a:ext cx="5303520" cy="9525"/>
          </a:xfrm>
          <a:prstGeom prst="rect">
            <a:avLst/>
          </a:prstGeom>
          <a:solidFill>
            <a:srgbClr val="1E2761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29284"/>
            <a:ext cx="523036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ptos"/>
              </a:rPr>
              <a:t>AISAN entry valuation and peer frame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ENTRY EV / EBITDA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10.1x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FY26E EBITDA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9152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ENTRY EV / EBIT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9152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13.4x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FY26E EBIT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OFFER P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05072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31.8x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5072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ex-treasury EPS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94360" y="2834640"/>
          <a:ext cx="5074920" cy="17373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34440"/>
                <a:gridCol w="18288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1E2761"/>
                          </a:solidFill>
                          <a:latin typeface="Aptos"/>
                        </a:rPr>
                        <a:t>Reference set (LTM EV/EBITDA)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1E2761"/>
                          </a:solidFill>
                          <a:latin typeface="Aptos"/>
                        </a:rPr>
                        <a:t>Why relevant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1E2761"/>
                          </a:solidFill>
                          <a:latin typeface="Aptos"/>
                        </a:rPr>
                        <a:t>Limitation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Fukui (5.3x) / Zenrin (4.0x)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JP software / map data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Different mix and scale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Topcon (n/a) / Trimble (15.9x)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Positioning / survey stack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Hardware-heavy profile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Autodesk (22.6x) / Bentley (25.6x)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Construction software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Much higher quality / scale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TomTom (10.2x) / HD maps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Mobility / map exposure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Different end-market maturity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94360" y="4736592"/>
            <a:ext cx="50749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/>
              <a:t>LTM EV/EBITDA via yfinance, 7-Jun-26; Topcon/PASCO inactive; Hexagon excluded (currency mismatch). AISAN's 10.1x entry sits above domestic peers (4-5x), below global software (16-26x).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380363"/>
            <a:ext cx="5349240" cy="9525"/>
          </a:xfrm>
          <a:prstGeom prst="rect">
            <a:avLst/>
          </a:prstGeom>
          <a:solidFill>
            <a:srgbClr val="1E2761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17336" y="1129284"/>
            <a:ext cx="527608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ptos"/>
              </a:rPr>
              <a:t>Japan take-private precedent context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72200" y="1554480"/>
          <a:ext cx="5166359" cy="27889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097280"/>
                <a:gridCol w="1143000"/>
                <a:gridCol w="1051560"/>
                <a:gridCol w="1874519"/>
              </a:tblGrid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1E2761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1E2761"/>
                          </a:solidFill>
                          <a:latin typeface="Aptos"/>
                        </a:rPr>
                        <a:t>Buyer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1E2761"/>
                          </a:solidFill>
                          <a:latin typeface="Aptos"/>
                        </a:rPr>
                        <a:t>Premium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1E2761"/>
                          </a:solidFill>
                          <a:latin typeface="Aptos"/>
                        </a:rPr>
                        <a:t>Relevance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Tecnos Japan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Ant Capital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+39%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Small-cap IT / software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Kaonavi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Carlyle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+121%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Growth SaaS buyout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Topcon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KKR-led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+17% / +58%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Survey / positioning adjacencies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PASCO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SECOM / ITOCHU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+31% / +17% 6m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Closest JP geospatial precedent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172200" y="4526280"/>
            <a:ext cx="516636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Reported precedent premia commonly start above 30%, but AISAN's 20% hurdle walk-to-price is only approx. JPY2,116/share.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0927080" cy="566928"/>
          </a:xfrm>
          <a:prstGeom prst="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495544"/>
            <a:ext cx="10561320" cy="283464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840" b="1">
                <a:solidFill>
                  <a:srgbClr val="1E2226"/>
                </a:solidFill>
                <a:latin typeface="Aptos"/>
              </a:rPr>
              <a:t>Takeaway: AISAN may be strategically attractive, but a financial sponsor needs price discipline, governance clearance and DD-backed value-up rather than relying on market-premium comparables.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35040"/>
            <a:ext cx="1092708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00"/>
              <a:t>Sources: yfinance snapshots (7-Jun-2026); SECOM/ITOCHU and Topcon tender disclosures; M&amp;A Online; accompanying Excel model. All multiples require final verification in a market-data terminal.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457200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Project Measure  ·  Strictly Private &amp;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73952"/>
            <a:ext cx="41148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r"/>
            <a:r>
              <a:rPr sz="750" b="0">
                <a:solidFill>
                  <a:srgbClr val="5F697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9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Illustrative LBO Structure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and excess balance-sheet cash fund most of the price; new leverage kept moderate (2.0x gross / ~1.0x net) given lumpy EBITDA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126480" cy="4617720"/>
          </a:xfrm>
          <a:prstGeom prst="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4864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USES (¥bn)</a:t>
            </a:r>
            <a:endParaRPr lang="en-US" sz="1050" dirty="0"/>
          </a:p>
        </ns0:txBody>
      </ns0:sp>
      <ns0:graphicFrame>
        <ns0:nvGraphicFramePr>
          <ns0:cNvPr id="7" name="Chart 0" descr=""/>
          <ns0:cNvGraphicFramePr/>
          <ns0:nvPr/>
        </ns0:nvGraphicFramePr>
        <ns0:xfrm>
          <a:off x="731520" y="2011680"/>
          <a:ext cx="5760720" cy="324612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5532120"/>
            <a:ext cx="5486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deal size ¥12.7bn balances exactly on both sides.</a:t>
            </a:r>
            <a:endParaRPr lang="en-US" sz="95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6903720" y="1417320"/>
            <a:ext cx="4736592" cy="2240280"/>
          </a:xfrm>
          <a:prstGeom prst="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10" name="Text 7"/>
          <ns0:cNvSpPr/>
          <ns0:nvPr/>
        </ns0:nvSpPr>
        <ns0:spPr>
          <a:xfrm>
            <a:off x="7178040" y="1572768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CAPITALISATION</a:t>
            </a:r>
            <a:endParaRPr lang="en-US" sz="1050" dirty="0"/>
          </a:p>
        </ns0:txBody>
      </ns0:sp>
      <ns0:sp>
        <ns0:nvSpPr>
          <ns0:cNvPr id="11" name="Text 8"/>
          <ns0:cNvSpPr/>
          <ns0:nvPr/>
        </ns0:nvSpPr>
        <ns0:spPr>
          <a:xfrm>
            <a:off x="7178040" y="1901952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senior term loan</a:t>
            </a:r>
            <a:endParaRPr lang="en-US" sz="103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9829800" y="1901952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¥1.6bn</a:t>
            </a:r>
            <a:endParaRPr lang="en-US" sz="103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178040" y="2180844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operating cash</a:t>
            </a:r>
            <a:endParaRPr lang="en-US" sz="103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9829800" y="2180844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¥0.8bn</a:t>
            </a:r>
            <a:endParaRPr lang="en-US" sz="103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7178040" y="2441448"/>
            <a:ext cx="4160520" cy="0"/>
          </a:xfrm>
          <a:prstGeom prst="line">
            <a:avLst/>
          </a:prstGeom>
          <a:noFill/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6" name="Text 13"/>
          <ns0:cNvSpPr/>
          <ns0:nvPr/>
        </ns0:nvSpPr>
        <ns0:spPr>
          <a:xfrm>
            <a:off x="7178040" y="2459736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at close</a:t>
            </a:r>
            <a:endParaRPr lang="en-US" sz="103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9829800" y="2459736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¥0.8bn</a:t>
            </a:r>
            <a:endParaRPr lang="en-US" sz="103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7178040" y="2738628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/ FY26E EBITDA</a:t>
            </a:r>
            <a:endParaRPr lang="en-US" sz="103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9829800" y="2738628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~1.0x</a:t>
            </a:r>
            <a:endParaRPr lang="en-US" sz="1030" dirty="0"/>
          </a:p>
        </ns0:txBody>
      </ns0:sp>
      <ns0:sp>
        <ns0:nvSpPr>
          <ns0:cNvPr id="20" name="Shape 17"/>
          <ns0:cNvSpPr/>
          <ns0:nvPr/>
        </ns0:nvSpPr>
        <ns0:spPr>
          <a:xfrm>
            <a:off x="7178040" y="2999232"/>
            <a:ext cx="4160520" cy="0"/>
          </a:xfrm>
          <a:prstGeom prst="line">
            <a:avLst/>
          </a:prstGeom>
          <a:noFill/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1" name="Text 18"/>
          <ns0:cNvSpPr/>
          <ns0:nvPr/>
        </ns0:nvSpPr>
        <ns0:spPr>
          <a:xfrm>
            <a:off x="7178040" y="3017520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</a:t>
            </a:r>
            <a:endParaRPr lang="en-US" sz="103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9829800" y="3017520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¥7.7bn</a:t>
            </a:r>
            <a:endParaRPr lang="en-US" sz="103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7178040" y="3296412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% of capitalisation</a:t>
            </a:r>
            <a:endParaRPr lang="en-US" sz="1030" dirty="0"/>
          </a:p>
        </ns0:txBody>
      </ns0:sp>
      <ns0:sp>
        <ns0:nvSpPr>
          <ns0:cNvPr id="24" name="Text 21"/>
          <ns0:cNvSpPr/>
          <ns0:nvPr/>
        </ns0:nvSpPr>
        <ns0:spPr>
          <a:xfrm>
            <a:off x="9829800" y="3296412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103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6903720" y="3794760"/>
            <a:ext cx="2295144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26" name="Shape 23"/>
          <ns0:cNvSpPr/>
          <ns0:nvPr/>
        </ns0:nvSpPr>
        <ns0:spPr>
          <a:xfrm>
            <a:off x="6903720" y="3794760"/>
            <a:ext cx="82296" cy="1078992"/>
          </a:xfrm>
          <a:prstGeom prst="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27" name="Text 24"/>
          <ns0:cNvSpPr/>
          <ns0:nvPr/>
        </ns0:nvSpPr>
        <ns0:spPr>
          <a:xfrm>
            <a:off x="7132320" y="394106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EV / EBITDA</a:t>
            </a:r>
            <a:endParaRPr lang="en-US" sz="86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7132320" y="421538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10.1x</a:t>
            </a:r>
            <a:endParaRPr lang="en-US" sz="250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9345168" y="3794760"/>
            <a:ext cx="2295144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0" name="Shape 27"/>
          <ns0:cNvSpPr/>
          <ns0:nvPr/>
        </ns0:nvSpPr>
        <ns0:spPr>
          <a:xfrm>
            <a:off x="9345168" y="3794760"/>
            <a:ext cx="82296" cy="1078992"/>
          </a:xfrm>
          <a:prstGeom prst="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1" name="Text 28"/>
          <ns0:cNvSpPr/>
          <ns0:nvPr/>
        </ns0:nvSpPr>
        <ns0:spPr>
          <a:xfrm>
            <a:off x="9573768" y="394106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EV / EBIT</a:t>
            </a:r>
            <a:endParaRPr lang="en-US" sz="86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9573768" y="421538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13.4x</a:t>
            </a:r>
            <a:endParaRPr lang="en-US" sz="2500" dirty="0"/>
          </a:p>
        </ns0:txBody>
      </ns0:sp>
      <ns0:sp>
        <ns0:nvSpPr>
          <ns0:cNvPr id="33" name="Shape 30"/>
          <ns0:cNvSpPr/>
          <ns0:nvPr/>
        </ns0:nvSpPr>
        <ns0:spPr>
          <a:xfrm>
            <a:off x="6903720" y="4983480"/>
            <a:ext cx="2295144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4" name="Shape 31"/>
          <ns0:cNvSpPr/>
          <ns0:nvPr/>
        </ns0:nvSpPr>
        <ns0:spPr>
          <a:xfrm>
            <a:off x="6903720" y="4983480"/>
            <a:ext cx="82296" cy="1078992"/>
          </a:xfrm>
          <a:prstGeom prst="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5" name="Text 32"/>
          <ns0:cNvSpPr/>
          <ns0:nvPr/>
        </ns0:nvSpPr>
        <ns0:spPr>
          <a:xfrm>
            <a:off x="7132320" y="512978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P / E</a:t>
            </a:r>
            <a:endParaRPr lang="en-US" sz="860" dirty="0"/>
          </a:p>
        </ns0:txBody>
      </ns0:sp>
      <ns0:sp>
        <ns0:nvSpPr>
          <ns0:cNvPr id="36" name="Text 33"/>
          <ns0:cNvSpPr/>
          <ns0:nvPr/>
        </ns0:nvSpPr>
        <ns0:spPr>
          <a:xfrm>
            <a:off x="7132320" y="540410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31.8x</a:t>
            </a:r>
            <a:endParaRPr lang="en-US" sz="2500" dirty="0"/>
          </a:p>
        </ns0:txBody>
      </ns0:sp>
      <ns0:sp>
        <ns0:nvSpPr>
          <ns0:cNvPr id="37" name="Shape 34"/>
          <ns0:cNvSpPr/>
          <ns0:nvPr/>
        </ns0:nvSpPr>
        <ns0:spPr>
          <a:xfrm>
            <a:off x="9345168" y="4983480"/>
            <a:ext cx="2295144" cy="1078992"/>
          </a:xfrm>
          <a:prstGeom prst="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8" name="Shape 35"/>
          <ns0:cNvSpPr/>
          <ns0:nvPr/>
        </ns0:nvSpPr>
        <ns0:spPr>
          <a:xfrm>
            <a:off x="9345168" y="4983480"/>
            <a:ext cx="82296" cy="1078992"/>
          </a:xfrm>
          <a:prstGeom prst="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9" name="Text 36"/>
          <ns0:cNvSpPr/>
          <ns0:nvPr/>
        </ns0:nvSpPr>
        <ns0:spPr>
          <a:xfrm>
            <a:off x="9573768" y="512978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TERM-LOAN PRICING</a:t>
            </a:r>
            <a:endParaRPr lang="en-US" sz="860" dirty="0"/>
          </a:p>
        </ns0:txBody>
      </ns0:sp>
      <ns0:sp>
        <ns0:nvSpPr>
          <ns0:cNvPr id="40" name="Text 37"/>
          <ns0:cNvSpPr/>
          <ns0:nvPr/>
        </ns0:nvSpPr>
        <ns0:spPr>
          <a:xfrm>
            <a:off x="9573768" y="540410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~3.5%</a:t>
            </a:r>
            <a:endParaRPr lang="en-US" sz="2500" dirty="0"/>
          </a:p>
        </ns0:txBody>
      </ns0:sp>
      <ns0:sp>
        <ns0:nvSpPr>
          <ns0:cNvPr id="41" name="Text 38"/>
          <ns0:cNvSpPr/>
          <ns0:nvPr/>
        </ns0:nvSpPr>
        <ns0:spPr>
          <a:xfrm>
            <a:off x="6922008" y="6053328"/>
            <a:ext cx="4709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P/E is optically high — depressed by Mobility losses; normalised on the software core it is far lower.</a:t>
            </a:r>
            <a:endParaRPr lang="en-US" sz="860" dirty="0"/>
          </a:p>
        </ns0:txBody>
      </ns0:sp>
      <ns0:sp>
        <ns0:nvSpPr>
          <ns0:cNvPr id="42" name="Text 39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3" name="Text 40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ns0:txBody>
      </ns0:sp>
      <ns0:sp>
        <ns0:nvSpPr>
          <ns0:cNvPr id="9510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750" name="KeyAssumptionsSource"/>
          <ns0:cNvSpPr txBox="1"/>
          <ns0:nvPr/>
        </ns0:nvSpPr>
        <ns0:spPr>
          <a:xfrm>
            <a:off x="503000" y="6330000"/>
            <a:ext cx="11180000" cy="16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Key assumptions (LBO model, Assumptions notes 1-8): 2.0x gross senior debt on FY26E EBITDA · 80% FCF cash sweep · 3.5% all-in rate · min. cash ¥0.8bn · exit 10.0x · 5-yr hold — deal-team estimates pending lender soundings.</a:t>
            </a:r>
          </a:p>
        </ns0:txBody>
      </ns0:sp>
    </ns0:spTree>
  </ns0:cSld>
  <ns0:clrMapOvr>
    <a:masterClrMapping/>
  </ns0:clrMapOvr>
</ns0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Projections — Base Case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Mid-single-digit growth with gradual margin expansion toward the software core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6949440" cy="4617720"/>
          </a:xfrm>
          <a:prstGeom prst="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5910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EBITDA (¥mm)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965960"/>
          <a:ext cx="676656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68680" y="5074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~6% CAGR (FY26E→FY31E); EBITDA margin expands ~11% → ~15% as overhead is rationalised and Mobility losses narrow.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680960" y="1417320"/>
            <a:ext cx="3959352" cy="4617720"/>
          </a:xfrm>
          <a:prstGeom prst="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955280" y="1591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OPERATING ASSUMPTIONS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01000" y="19933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0012680" y="1993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 → +7% p.a.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863840" y="2423160"/>
            <a:ext cx="3593592" cy="420624"/>
          </a:xfrm>
          <a:prstGeom prst="rect">
            <a:avLst>
              <a:gd name="adj" fmla="val 130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001000" y="2450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margin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0012680" y="2450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 → 12.0%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01000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(FY31E)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0012680" y="2907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¥1.43bn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863840" y="3337560"/>
            <a:ext cx="3593592" cy="420624"/>
          </a:xfrm>
          <a:prstGeom prst="rect">
            <a:avLst>
              <a:gd name="adj" fmla="val 130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001000" y="33649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01268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2.5% of revenue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001000" y="38221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net working capital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012680" y="38221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 of Δ revenue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863840" y="4251960"/>
            <a:ext cx="3593592" cy="420624"/>
          </a:xfrm>
          <a:prstGeom prst="rect">
            <a:avLst>
              <a:gd name="adj" fmla="val 130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001000" y="42793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tax rate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0012680" y="4279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001000" y="4736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D&amp;A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0012680" y="4736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¥0.21–0.27bn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863840" y="5166360"/>
            <a:ext cx="3593592" cy="420624"/>
          </a:xfrm>
          <a:prstGeom prst="rect">
            <a:avLst>
              <a:gd name="adj" fmla="val 130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8001000" y="5193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sweep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0012680" y="5193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FCF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7973568" y="56990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conservative: growth in line with history, margin gains phased — not a hockey stick.</a:t>
            </a:r>
            <a:endParaRPr lang="en-US" sz="880" dirty="0"/>
          </a:p>
        </p:txBody>
      </p:sp>
      <p:sp>
        <p:nvSpPr>
          <p:cNvPr id="32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9511" name="HeaderRule"/>
          <p:cNvSpPr/>
          <p:nvPr/>
        </p:nvSpPr>
        <p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611" name="SourceLine"/>
          <p:cNvSpPr txBox="1"/>
          <p:nvPr/>
        </p:nvSpPr>
        <p:spPr>
          <a:xfrm>
            <a:off x="503000" y="6330000"/>
            <a:ext cx="9600000" cy="16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accompanying LBO model (Model / Debt_FCF tabs); FY27E+ are deal-team projections, drivers per Assumptions.</a:t>
            </a:r>
          </a:p>
        </p:txBody>
      </p:sp>
    </p:spTree>
  </p:cSld>
  <p:clrMapOvr>
    <a:masterClrMapping/>
  </p:clrMapOvr>
</p:sld>
</file>

<file path=ppt/slides/slide12.xml><?xml version="1.0" encoding="utf-8"?>
<ns0:sld xmlns:a="http://schemas.openxmlformats.org/drawingml/2006/main" xmlns:ns0="http://schemas.openxmlformats.org/presentationml/2006/main">
  <ns0:cSld name="Slide 11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Returns — Base Case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case: 2.2x MOIC / ~16.8% IRR (below a clean 20% hurdle) — figures pending any restatement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7772400" cy="4617720"/>
          </a:xfrm>
          <a:prstGeom prst="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64008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VALUE CREATION BRIDGE (¥bn)</a:t>
            </a:r>
            <a:endParaRPr lang="en-US" sz="105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2075688" y="369808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8" name="Shape 6"/>
          <ns0:cNvSpPr/>
          <ns0:nvPr/>
        </ns0:nvSpPr>
        <ns0:spPr>
          <a:xfrm>
            <a:off x="3557016" y="252009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9" name="Shape 7"/>
          <ns0:cNvSpPr/>
          <ns0:nvPr/>
        </ns0:nvSpPr>
        <ns0:spPr>
          <a:xfrm>
            <a:off x="5038344" y="252009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10" name="Shape 8"/>
          <ns0:cNvSpPr/>
          <ns0:nvPr/>
        </ns0:nvSpPr>
        <ns0:spPr>
          <a:xfrm>
            <a:off x="6519672" y="2240280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11" name="Shape 9"/>
          <ns0:cNvSpPr/>
          <ns0:nvPr/>
        </ns0:nvSpPr>
        <ns0:spPr>
          <a:xfrm>
            <a:off x="1143000" y="3698086"/>
            <a:ext cx="932688" cy="1559714"/>
          </a:xfrm>
          <a:prstGeom prst="rect">
            <a:avLst/>
          </a:prstGeom>
          <a:solidFill>
            <a:srgbClr val="1E2761"/>
          </a:solidFill>
          <a:ln/>
          <a:effectLst/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1005840" y="338719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7.65</a:t>
            </a:r>
            <a:endParaRPr lang="en-US" sz="115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60120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95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2624328" y="2520096"/>
            <a:ext cx="932688" cy="1177990"/>
          </a:xfrm>
          <a:prstGeom prst="rect">
            <a:avLst/>
          </a:prstGeom>
          <a:solidFill>
            <a:srgbClr val="2E7D52"/>
          </a:solidFill>
          <a:ln/>
          <a:effectLst/>
        </ns0:spPr>
        <ns0:txBody>
          <a:bodyPr/>
          <a:p/>
        </ns0:txBody>
      </ns0:sp>
      <ns0:sp>
        <ns0:nvSpPr>
          <ns0:cNvPr id="15" name="Text 13"/>
          <ns0:cNvSpPr/>
          <ns0:nvPr/>
        </ns0:nvSpPr>
        <ns0:spPr>
          <a:xfrm>
            <a:off x="2487168" y="220920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+6.36</a:t>
            </a:r>
            <a:endParaRPr lang="en-US" sz="115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2441448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4105656" y="2520096"/>
            <a:ext cx="932688" cy="195180"/>
          </a:xfrm>
          <a:prstGeom prst="rect">
            <a:avLst/>
          </a:prstGeom>
          <a:solidFill>
            <a:srgbClr val="B5462F"/>
          </a:solidFill>
          <a:ln/>
          <a:effectLst/>
        </ns0:spPr>
        <ns0:txBody>
          <a:bodyPr/>
          <a:p/>
        </ns0:txBody>
      </ns0:sp>
      <ns0:sp>
        <ns0:nvSpPr>
          <ns0:cNvPr id="18" name="Text 16"/>
          <ns0:cNvSpPr/>
          <ns0:nvPr/>
        </ns0:nvSpPr>
        <ns0:spPr>
          <a:xfrm>
            <a:off x="3968496" y="220920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–0.09</a:t>
            </a:r>
            <a:endParaRPr lang="en-US" sz="115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3922776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95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5586984" y="2240280"/>
            <a:ext cx="932688" cy="474996"/>
          </a:xfrm>
          <a:prstGeom prst="rect">
            <a:avLst/>
          </a:prstGeom>
          <a:solidFill>
            <a:srgbClr val="2E7D52"/>
          </a:solidFill>
          <a:ln/>
          <a:effectLst/>
        </ns0:spPr>
        <ns0:txBody>
          <a:bodyPr/>
          <a:p/>
        </ns0:txBody>
      </ns0:sp>
      <ns0:sp>
        <ns0:nvSpPr>
          <ns0:cNvPr id="21" name="Text 19"/>
          <ns0:cNvSpPr/>
          <ns0:nvPr/>
        </ns0:nvSpPr>
        <ns0:spPr>
          <a:xfrm>
            <a:off x="5449824" y="1929384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+2.68</a:t>
            </a:r>
            <a:endParaRPr lang="en-US" sz="115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5404104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Deleverage,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&amp; fees</a:t>
            </a:r>
            <a:endParaRPr lang="en-US" sz="95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7068312" y="2240280"/>
            <a:ext cx="932688" cy="3017520"/>
          </a:xfrm>
          <a:prstGeom prst="rect">
            <a:avLst/>
          </a:prstGeom>
          <a:solidFill>
            <a:srgbClr val="C8A951"/>
          </a:solidFill>
          <a:ln/>
          <a:effectLst/>
        </ns0:spPr>
        <ns0:txBody>
          <a:bodyPr/>
          <a:p/>
        </ns0:txBody>
      </ns0:sp>
      <ns0:sp>
        <ns0:nvSpPr>
          <ns0:cNvPr id="24" name="Text 22"/>
          <ns0:cNvSpPr/>
          <ns0:nvPr/>
        </ns0:nvSpPr>
        <ns0:spPr>
          <a:xfrm>
            <a:off x="6931152" y="1929384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16.60</a:t>
            </a:r>
            <a:endParaRPr lang="en-US" sz="115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6885432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95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822960" y="5257800"/>
            <a:ext cx="7315200" cy="0"/>
          </a:xfrm>
          <a:prstGeom prst="line">
            <a:avLst/>
          </a:prstGeom>
          <a:noFill/>
          <a:ln w="12700">
            <a:solidFill>
              <a:srgbClr val="C7CEE0"/>
            </a:solidFill>
            <a:prstDash val="solid"/>
          </a:ln>
        </ns0:spPr>
        <ns0:txBody>
          <a:bodyPr/>
          <a:p/>
        </ns0:txBody>
      </ns0:sp>
      <ns0:sp>
        <ns0:nvSpPr>
          <ns0:cNvPr id="27" name="Text 25"/>
          <ns0:cNvSpPr/>
          <ns0:nvPr/>
        </ns0:nvSpPr>
        <ns0:spPr>
          <a:xfrm>
            <a:off x="868680" y="5779008"/>
            <a:ext cx="6858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reconciles exactly to exit equity; 'Deleverage, FCF &amp; fees' is net of ~¥0.4bn transaction costs. Returns are gross of fees, carry and MIP dilution; IRR assumes a single exit cash flow (no interim dividends).</a:t>
            </a:r>
            <a:endParaRPr lang="en-US" sz="860" dirty="0"/>
          </a:p>
        </ns0:txBody>
      </ns0:sp>
      <ns0:sp>
        <ns0:nvSpPr>
          <ns0:cNvPr id="28" name="Shape 26"/>
          <ns0:cNvSpPr/>
          <ns0:nvPr/>
        </ns0:nvSpPr>
        <ns0:spPr>
          <a:xfrm>
            <a:off x="8549640" y="1417320"/>
            <a:ext cx="3090672" cy="2240280"/>
          </a:xfrm>
          <a:prstGeom prst="rect">
            <a:avLst>
              <a:gd name="adj" fmla="val 4082"/>
            </a:avLst>
          </a:prstGeom>
          <a:solidFill>
            <a:srgbClr val="FFFFFF"/>
          </a:solidFill>
          <a:ln/>
          <a:effectLst/>
        </ns0:spPr>
        <ns0:txBody>
          <a:bodyPr/>
          <a:p/>
        </ns0:txBody>
      </ns0:sp>
      <ns0:sp>
        <ns0:nvSpPr>
          <ns0:cNvPr id="29" name="Text 27"/>
          <ns0:cNvSpPr/>
          <ns0:nvPr/>
        </ns0:nvSpPr>
        <ns0:spPr>
          <a:xfrm>
            <a:off x="8823960" y="1591056"/>
            <a:ext cx="2651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RETURNS</a:t>
            </a:r>
            <a:endParaRPr lang="en-US" sz="1000" dirty="0"/>
          </a:p>
        </ns0:txBody>
      </ns0:sp>
      <ns0:sp>
        <ns0:nvSpPr>
          <ns0:cNvPr id="30" name="Text 28"/>
          <ns0:cNvSpPr/>
          <ns0:nvPr/>
        </ns0:nvSpPr>
        <ns0:spPr>
          <a:xfrm>
            <a:off x="8823960" y="1965960"/>
            <a:ext cx="265176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2.17x</a:t>
            </a:r>
            <a:endParaRPr lang="en-US" sz="4200" dirty="0"/>
          </a:p>
          <a:p>
            <a:pPr indent="0" marL="0">
              <a:buNone/>
            </a:pPr>
            <a:r>
              <a:rPr lang="en-US" sz="1000" spc="2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MOIC</a:t>
            </a:r>
            <a:endParaRPr lang="en-US" sz="4200" dirty="0"/>
          </a:p>
        </ns0:txBody>
      </ns0:sp>
      <ns0:sp>
        <ns0:nvSpPr>
          <ns0:cNvPr id="31" name="Shape 29"/>
          <ns0:cNvSpPr/>
          <ns0:nvPr/>
        </ns0:nvSpPr>
        <ns0:spPr>
          <a:xfrm>
            <a:off x="8823960" y="2944368"/>
            <a:ext cx="2542032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32" name="Text 30"/>
          <ns0:cNvSpPr/>
          <ns0:nvPr/>
        </ns0:nvSpPr>
        <ns0:spPr>
          <a:xfrm>
            <a:off x="8823960" y="3063240"/>
            <a:ext cx="269748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16.8%</a:t>
            </a:r>
            <a:pPr indent="0" marL="0">
              <a:buNone/>
            </a:pPr>
            <a:r>
              <a:rPr lang="en-US" sz="10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gross IRR · 5-yr hold</a:t>
            </a:r>
            <a:endParaRPr lang="en-US" sz="3000" dirty="0"/>
          </a:p>
        </ns0:txBody>
      </ns0:sp>
      <ns0:sp>
        <ns0:nvSpPr>
          <ns0:cNvPr id="33" name="Shape 31"/>
          <ns0:cNvSpPr/>
          <ns0:nvPr/>
        </ns0:nvSpPr>
        <ns0:spPr>
          <a:xfrm>
            <a:off x="8549640" y="3822192"/>
            <a:ext cx="3090672" cy="365760"/>
          </a:xfrm>
          <a:prstGeom prst="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4" name="Text 32"/>
          <ns0:cNvSpPr/>
          <ns0:nvPr/>
        </ns0:nvSpPr>
        <ns0:spPr>
          <a:xfrm>
            <a:off x="8732520" y="3822192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EBITDA (FY31E)</a:t>
            </a:r>
            <a:endParaRPr lang="en-US" sz="980" dirty="0"/>
          </a:p>
        </ns0:txBody>
      </ns0:sp>
      <ns0:sp>
        <ns0:nvSpPr>
          <ns0:cNvPr id="35" name="Text 33"/>
          <ns0:cNvSpPr/>
          <ns0:nvPr/>
        </ns0:nvSpPr>
        <ns0:spPr>
          <a:xfrm>
            <a:off x="10561320" y="3822192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¥1.43bn</a:t>
            </a:r>
            <a:endParaRPr lang="en-US" sz="980" dirty="0"/>
          </a:p>
        </ns0:txBody>
      </ns0:sp>
      <ns0:sp>
        <ns0:nvSpPr>
          <ns0:cNvPr id="36" name="Shape 34"/>
          <ns0:cNvSpPr/>
          <ns0:nvPr/>
        </ns0:nvSpPr>
        <ns0:spPr>
          <a:xfrm>
            <a:off x="8549640" y="4201668"/>
            <a:ext cx="3090672" cy="365760"/>
          </a:xfrm>
          <a:prstGeom prst="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7" name="Text 35"/>
          <ns0:cNvSpPr/>
          <ns0:nvPr/>
        </ns0:nvSpPr>
        <ns0:spPr>
          <a:xfrm>
            <a:off x="8732520" y="4201668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EV / EBITDA</a:t>
            </a:r>
            <a:endParaRPr lang="en-US" sz="980" dirty="0"/>
          </a:p>
        </ns0:txBody>
      </ns0:sp>
      <ns0:sp>
        <ns0:nvSpPr>
          <ns0:cNvPr id="38" name="Text 36"/>
          <ns0:cNvSpPr/>
          <ns0:nvPr/>
        </ns0:nvSpPr>
        <ns0:spPr>
          <a:xfrm>
            <a:off x="10561320" y="4201668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10.0x</a:t>
            </a:r>
            <a:endParaRPr lang="en-US" sz="980" dirty="0"/>
          </a:p>
        </ns0:txBody>
      </ns0:sp>
      <ns0:sp>
        <ns0:nvSpPr>
          <ns0:cNvPr id="39" name="Shape 37"/>
          <ns0:cNvSpPr/>
          <ns0:nvPr/>
        </ns0:nvSpPr>
        <ns0:spPr>
          <a:xfrm>
            <a:off x="8549640" y="4581144"/>
            <a:ext cx="3090672" cy="365760"/>
          </a:xfrm>
          <a:prstGeom prst="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40" name="Text 38"/>
          <ns0:cNvSpPr/>
          <ns0:nvPr/>
        </ns0:nvSpPr>
        <ns0:spPr>
          <a:xfrm>
            <a:off x="8732520" y="4581144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enterprise value</a:t>
            </a:r>
            <a:endParaRPr lang="en-US" sz="980" dirty="0"/>
          </a:p>
        </ns0:txBody>
      </ns0:sp>
      <ns0:sp>
        <ns0:nvSpPr>
          <ns0:cNvPr id="41" name="Text 39"/>
          <ns0:cNvSpPr/>
          <ns0:nvPr/>
        </ns0:nvSpPr>
        <ns0:spPr>
          <a:xfrm>
            <a:off x="10561320" y="4581144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¥14.3bn</a:t>
            </a:r>
            <a:endParaRPr lang="en-US" sz="980" dirty="0"/>
          </a:p>
        </ns0:txBody>
      </ns0:sp>
      <ns0:sp>
        <ns0:nvSpPr>
          <ns0:cNvPr id="42" name="Shape 40"/>
          <ns0:cNvSpPr/>
          <ns0:nvPr/>
        </ns0:nvSpPr>
        <ns0:spPr>
          <a:xfrm>
            <a:off x="8549640" y="4960620"/>
            <a:ext cx="3090672" cy="365760"/>
          </a:xfrm>
          <a:prstGeom prst="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43" name="Text 41"/>
          <ns0:cNvSpPr/>
          <ns0:nvPr/>
        </ns0:nvSpPr>
        <ns0:spPr>
          <a:xfrm>
            <a:off x="8732520" y="4960620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at exit</a:t>
            </a:r>
            <a:endParaRPr lang="en-US" sz="980" dirty="0"/>
          </a:p>
        </ns0:txBody>
      </ns0:sp>
      <ns0:sp>
        <ns0:nvSpPr>
          <ns0:cNvPr id="44" name="Text 42"/>
          <ns0:cNvSpPr/>
          <ns0:nvPr/>
        </ns0:nvSpPr>
        <ns0:spPr>
          <a:xfrm>
            <a:off x="10561320" y="496062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¥2.28bn</a:t>
            </a:r>
            <a:endParaRPr lang="en-US" sz="980" dirty="0"/>
          </a:p>
        </ns0:txBody>
      </ns0:sp>
      <ns0:sp>
        <ns0:nvSpPr>
          <ns0:cNvPr id="45" name="Shape 43"/>
          <ns0:cNvSpPr/>
          <ns0:nvPr/>
        </ns0:nvSpPr>
        <ns0:spPr>
          <a:xfrm>
            <a:off x="8549640" y="5340096"/>
            <a:ext cx="3090672" cy="365760"/>
          </a:xfrm>
          <a:prstGeom prst="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46" name="Text 44"/>
          <ns0:cNvSpPr/>
          <ns0:nvPr/>
        </ns0:nvSpPr>
        <ns0:spPr>
          <a:xfrm>
            <a:off x="8732520" y="5340096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equity value</a:t>
            </a:r>
            <a:endParaRPr lang="en-US" sz="980" dirty="0"/>
          </a:p>
        </ns0:txBody>
      </ns0:sp>
      <ns0:sp>
        <ns0:nvSpPr>
          <ns0:cNvPr id="47" name="Text 45"/>
          <ns0:cNvSpPr/>
          <ns0:nvPr/>
        </ns0:nvSpPr>
        <ns0:spPr>
          <a:xfrm>
            <a:off x="10561320" y="5340096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¥16.6bn</a:t>
            </a:r>
            <a:endParaRPr lang="en-US" sz="980" dirty="0"/>
          </a:p>
        </ns0:txBody>
      </ns0:sp>
      <ns0:sp>
        <ns0:nvSpPr>
          <ns0:cNvPr id="48" name="Shape 46"/>
          <ns0:cNvSpPr/>
          <ns0:nvPr/>
        </ns0:nvSpPr>
        <ns0:spPr>
          <a:xfrm>
            <a:off x="8549640" y="5719572"/>
            <a:ext cx="3090672" cy="365760"/>
          </a:xfrm>
          <a:prstGeom prst="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49" name="Text 47"/>
          <ns0:cNvSpPr/>
          <ns0:nvPr/>
        </ns0:nvSpPr>
        <ns0:spPr>
          <a:xfrm>
            <a:off x="8732520" y="5719572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 in</a:t>
            </a:r>
            <a:endParaRPr lang="en-US" sz="980" dirty="0"/>
          </a:p>
        </ns0:txBody>
      </ns0:sp>
      <ns0:sp>
        <ns0:nvSpPr>
          <ns0:cNvPr id="50" name="Text 48"/>
          <ns0:cNvSpPr/>
          <ns0:nvPr/>
        </ns0:nvSpPr>
        <ns0:spPr>
          <a:xfrm>
            <a:off x="10561320" y="5719572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¥7.65bn</a:t>
            </a:r>
            <a:endParaRPr lang="en-US" sz="980" dirty="0"/>
          </a:p>
        </ns0:txBody>
      </ns0:sp>
      <ns0:sp>
        <ns0:nvSpPr>
          <ns0:cNvPr id="51" name="Text 49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52" name="Text 50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ns0:txBody>
      </ns0:sp>
      <ns0:sp>
        <ns0:nvSpPr>
          <ns0:cNvPr id="9512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612" name="SourceLine"/>
          <ns0:cNvSpPr txBox="1"/>
          <ns0:nvPr/>
        </ns0:nvSpPr>
        <ns0:spPr>
          <a:xfrm>
            <a:off x="503000" y="6330000"/>
            <a:ext cx="9600000" cy="16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accompanying LBO model (Returns tab — value-creation bridge).</a:t>
            </a:r>
          </a:p>
        </ns0:txBody>
      </ns0:sp>
    </ns0:spTree>
  </ns0:cSld>
  <ns0:clrMapOvr>
    <a:masterClrMapping/>
  </ns0:clrMapOvr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powerpoint/2010/main">
  <ns0:cSld name="Slide 12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 &amp; Scenarios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sit below a clean 20% hurdle at the base premium; the downside is a capital impairment, the upside clears only if DD clears.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400800" cy="3063240"/>
          </a:xfrm>
          <a:prstGeom prst="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72768"/>
            <a:ext cx="5852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IRR  —  offer premium × exit EV/EBITDA</a:t>
            </a:r>
            <a:endParaRPr lang="en-US" sz="1050" dirty="0"/>
          </a:p>
        </ns0:txBody>
      </ns0:sp>
      <ns0:graphicFrame>
        <ns0:nvGraphicFramePr>
          <ns0:cNvPr id="13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868680" y="1993392"/>
          <a:ext cx="5760720" cy="2148840"/>
        </ns0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＼ Exit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b="1"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b="1"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C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b="1"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9C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4160520"/>
            <a:ext cx="58521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(37% premium, 10.0x exit) ≈ 16.8% IRR. Returns remain below a clean 20% hurdle at the base premium; low-premium / high-exit cases can exceed it.</a:t>
            </a:r>
            <a:endParaRPr lang="en-US" sz="9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7178040" y="1417320"/>
            <a:ext cx="4462272" cy="146304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7178040" y="1417320"/>
            <a:ext cx="109728" cy="1463040"/>
          </a:xfrm>
          <a:prstGeom prst="rect">
            <a:avLst>
              <a:gd name="adj" fmla="val 50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7470648" y="156362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DOWNSIDE</a:t>
            </a:r>
            <a:endParaRPr lang="en-US" sz="140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7470648" y="189280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impairment</a:t>
            </a:r>
            <a:endParaRPr lang="en-US" sz="95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470648" y="219456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+3% · margin ~8.5% · exit 8.0x · restatement drag</a:t>
            </a:r>
            <a:endParaRPr lang="en-US" sz="9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104120" y="161848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0.94x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10104120" y="233172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-1.3%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7178040" y="2971800"/>
            <a:ext cx="4462272" cy="146304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17" name="Shape 14"/>
          <ns0:cNvSpPr/>
          <ns0:nvPr/>
        </ns0:nvSpPr>
        <ns0:spPr>
          <a:xfrm>
            <a:off x="7178040" y="2971800"/>
            <a:ext cx="109728" cy="1463040"/>
          </a:xfrm>
          <a:prstGeom prst="rect">
            <a:avLst>
              <a:gd name="adj" fmla="val 50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8" name="Text 15"/>
          <ns0:cNvSpPr/>
          <ns0:nvPr/>
        </ns0:nvSpPr>
        <ns0:spPr>
          <a:xfrm>
            <a:off x="7470648" y="311810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</a:t>
            </a:r>
            <a:endParaRPr lang="en-US" sz="140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7470648" y="344728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hurdle</a:t>
            </a:r>
            <a:endParaRPr lang="en-US" sz="95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7470648" y="374904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+6% · margin →12% · exit 10.0x · 2.0x leverage</a:t>
            </a:r>
            <a:endParaRPr lang="en-US" sz="900" dirty="0"/>
          </a:p>
        </ns0:txBody>
      </ns0:sp>
      <ns0:sp>
        <ns0:nvSpPr>
          <ns0:cNvPr id="21" name="Text 18"/>
          <ns0:cNvSpPr/>
          <ns0:nvPr/>
        </ns0:nvSpPr>
        <ns0:spPr>
          <a:xfrm>
            <a:off x="10104120" y="317296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2.17x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10104120" y="388620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16.8%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23" name="Shape 20"/>
          <ns0:cNvSpPr/>
          <ns0:nvPr/>
        </ns0:nvSpPr>
        <ns0:spPr>
          <a:xfrm>
            <a:off x="7178040" y="4526280"/>
            <a:ext cx="4462272" cy="146304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24" name="Shape 21"/>
          <ns0:cNvSpPr/>
          <ns0:nvPr/>
        </ns0:nvSpPr>
        <ns0:spPr>
          <a:xfrm>
            <a:off x="7178040" y="4526280"/>
            <a:ext cx="109728" cy="1463040"/>
          </a:xfrm>
          <a:prstGeom prst="rect">
            <a:avLst>
              <a:gd name="adj" fmla="val 50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25" name="Text 22"/>
          <ns0:cNvSpPr/>
          <ns0:nvPr/>
        </ns0:nvSpPr>
        <ns0:spPr>
          <a:xfrm>
            <a:off x="7470648" y="467258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UPSIDE</a:t>
            </a:r>
            <a:endParaRPr lang="en-US" sz="1400" dirty="0"/>
          </a:p>
        </ns0:txBody>
      </ns0:sp>
      <ns0:sp>
        <ns0:nvSpPr>
          <ns0:cNvPr id="26" name="Text 23"/>
          <ns0:cNvSpPr/>
          <ns0:nvPr/>
        </ns0:nvSpPr>
        <ns0:spPr>
          <a:xfrm>
            <a:off x="7470648" y="500176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 if DD clears</a:t>
            </a:r>
            <a:endParaRPr lang="en-US" sz="950" dirty="0"/>
          </a:p>
        </ns0:txBody>
      </ns0:sp>
      <ns0:sp>
        <ns0:nvSpPr>
          <ns0:cNvPr id="27" name="Text 24"/>
          <ns0:cNvSpPr/>
          <ns0:nvPr/>
        </ns0:nvSpPr>
        <ns0:spPr>
          <a:xfrm>
            <a:off x="7470648" y="530352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+8% · margin →16% · exit 11.5x · securities monetised</a:t>
            </a:r>
            <a:endParaRPr lang="en-US" sz="9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10104120" y="472744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2.80x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10104120" y="544068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22.9%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30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1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ns0:txBody>
      </ns0:sp>
      <ns0:sp>
        <ns0:nvSpPr>
          <ns0:cNvPr id="9513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613" name="SourceLine"/>
          <ns0:cNvSpPr txBox="1"/>
          <ns0:nvPr/>
        </ns0:nvSpPr>
        <ns0:spPr>
          <a:xfrm>
            <a:off x="503000" y="6330000"/>
            <a:ext cx="9600000" cy="16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accompanying LBO model (Returns sensitivity grid; Scenarios tab).</a:t>
            </a:r>
          </a:p>
        </ns0:txBody>
      </ns0:sp>
    </ns0:spTree>
  </ns0:cSld>
  <ns0:clrMapOvr>
    <a:masterClrMapping/>
  </ns0:clrMapOvr>
</ns0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noAutofit/>
          </a:bodyPr>
          <a:lstStyle/>
          <a:p>
            <a:pPr algn="l"/>
            <a:r>
              <a:rPr sz="1500" b="1">
                <a:solidFill>
                  <a:srgbClr val="C8A951"/>
                </a:solidFill>
                <a:latin typeface="Georgia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74320"/>
            <a:ext cx="87782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Georgia"/>
              </a:rPr>
              <a:t>Walk-to-Price &amp; Leverage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104241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Price discipline: the maximum offer clearing a 20% hurdle sits well below precedent-style premia.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0363"/>
            <a:ext cx="5349240" cy="9525"/>
          </a:xfrm>
          <a:prstGeom prst="rect">
            <a:avLst/>
          </a:prstGeom>
          <a:solidFill>
            <a:srgbClr val="1E2761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29284"/>
            <a:ext cx="527608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ptos"/>
              </a:rPr>
              <a:t>20% hurdle walk-to-price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MAX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JPY2,116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20% gross IRR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7712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40864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VS 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0864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+25.9%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0864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JPY1,680 ref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22776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VS 6M VWAP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6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+9.7%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2776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JPY1,929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" y="2788920"/>
          <a:ext cx="5029200" cy="15544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28800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Bid metric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Current case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20% hurdle cap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Offer / share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JPY2,302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JPY2,116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Premium vs spot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+37.0%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+25.9%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Premium vs 6m VWAP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+19.3%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+9.7%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Base gross IRR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16.8%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20.0%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080" y="4526280"/>
            <a:ext cx="502920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Implication: do not bid above the walk-to-price unless investigation findings are clean and incremental value-up is explicitly underwritten.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380363"/>
            <a:ext cx="5303520" cy="9525"/>
          </a:xfrm>
          <a:prstGeom prst="rect">
            <a:avLst/>
          </a:prstGeom>
          <a:solidFill>
            <a:srgbClr val="1E2761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3056" y="1129284"/>
            <a:ext cx="523036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ptos"/>
              </a:rPr>
              <a:t>Illustrative leverage sensitivity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36208" y="1554480"/>
          <a:ext cx="5074920" cy="235915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868680"/>
                <a:gridCol w="1005840"/>
              </a:tblGrid>
              <a:tr h="471830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Debt / EBITDA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Debt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Sponsor eq.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MOIC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IRR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1.0x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JPY0.8bn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JPY8.5bn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2.0x (base)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JPY1.6bn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JPY7.7bn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2.17x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16.8%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2.5x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JPY2.0bn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JPY7.3bn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2.23x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17.4%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832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3.0x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JPY2.4bn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JPY6.9bn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2.29x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18.0%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36208" y="4160520"/>
            <a:ext cx="5074920" cy="58521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Even 3.0x gross debt does not clear 20% and would be imprudent before QoE, cash seasonality, investigation impact and lender appetite are confirmed.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10927080" cy="658368"/>
          </a:xfrm>
          <a:prstGeom prst="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68112"/>
            <a:ext cx="10561320" cy="32004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860" b="1">
                <a:solidFill>
                  <a:srgbClr val="1E2226"/>
                </a:solidFill>
                <a:latin typeface="Aptos"/>
              </a:rPr>
              <a:t>Takeaway: this is not a classic leverage-driven LBO. Returns are driven by entry price, cash availability, EBITDA growth, margin expansion and exit multiple.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8"/>
            <a:ext cx="1092708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00" b="0">
                <a:solidFill>
                  <a:srgbClr val="5F6970"/>
                </a:solidFill>
                <a:latin typeface="Aptos"/>
              </a:rPr>
              <a:t>Source: accompanying Excel model (Returns / Lev_Sensitivity tabs); market data as of 5-Jun-2026.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457200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Project Measure  ·  Strictly Private &amp;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73952"/>
            <a:ext cx="41148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r"/>
            <a:r>
              <a:rPr sz="750" b="0">
                <a:solidFill>
                  <a:srgbClr val="5F6970"/>
                </a:solidFill>
                <a:latin typeface="Aptos"/>
              </a:rPr>
              <a:t>14</a:t>
            </a:r>
          </a:p>
        </p:txBody>
      </p:sp>
      <p:sp>
        <p:nvSpPr>
          <p:cNvPr id="9760" name="ExitRoutes"/>
          <p:cNvSpPr txBox="1"/>
          <p:nvPr/>
        </p:nvSpPr>
        <p:spPr>
          <a:xfrm>
            <a:off x="503000" y="4980000"/>
            <a:ext cx="11180000" cy="37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0" indent="0">
              <a:buNone/>
            </a:pPr>
            <a:r>
              <a:rPr lang="en-US" sz="800" b="1" i="0" dirty="0">
                <a:solidFill>
                  <a:srgbClr val="1E2761"/>
                </a:solidFill>
                <a:latin typeface="Calibri" pitchFamily="34" charset="0"/>
              </a:rPr>
              <a:t xml:space="preserve">Exit routes (illustrative; no contact made): </a:t>
            </a:r>
            <a:r>
              <a:rPr lang="en-US" sz="800" b="0" i="0" dirty="0">
                <a:solidFill>
                  <a:srgbClr val="5B6485"/>
                </a:solidFill>
                <a:latin typeface="Calibri" pitchFamily="34" charset="0"/>
              </a:rPr>
              <a:t>① auto OEM / Tier-1 / AV platforms (HD-map &amp; Level-4 stack) · ② geospatial / map consolidators (map-data scale) · ③ construction-software strategics (public-works adjacency) · ④ sponsor secondary (defensive core post value-up). Buyer appetite unverified — exit underwritten at 10.0x; strategic premium treated as upside only.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noAutofit/>
          </a:bodyPr>
          <a:lstStyle/>
          <a:p>
            <a:pPr algn="l"/>
            <a:r>
              <a:rPr sz="1500" b="1">
                <a:solidFill>
                  <a:srgbClr val="C8A951"/>
                </a:solidFill>
                <a:latin typeface="Georgia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74320"/>
            <a:ext cx="87782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Georgia"/>
              </a:rPr>
              <a:t>Excess Cash Is Central to Returns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104241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Base case assumes extraction; returns fall sharply if cash is retained or trapped — a DD item, not underwritten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0363"/>
            <a:ext cx="5349240" cy="9525"/>
          </a:xfrm>
          <a:prstGeom prst="rect">
            <a:avLst/>
          </a:prstGeom>
          <a:solidFill>
            <a:srgbClr val="1E2761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29284"/>
            <a:ext cx="527608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ptos"/>
              </a:rPr>
              <a:t>Cash availability cases &amp; MIP dilution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FULL EXTRACTION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16.8%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base case · 2.17x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7712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40864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CASH RETAINED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0864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12.6%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0864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sponsor funds cash · 1.81x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22776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TRAPPED CASH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6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E2761"/>
                </a:solidFill>
                <a:latin typeface="Aptos"/>
              </a:rPr>
              <a:t>8.5%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2776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unavailable · 1.50x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" y="2788920"/>
          <a:ext cx="5029200" cy="15544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28800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MIP dilution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MOIC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Gross IRR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2.17x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16.8%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2.06x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10%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14.3%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080" y="4526280"/>
            <a:ext cx="502920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Returns are gross of fees &amp; carry. Illustrative net to LPs after a 2% fee / 20-over-8 carry / 5% MIP ≈ 1.84x / ~13.0% — widening the gap to a clean 20% hurdle (model: Scenarios net-returns panel).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380363"/>
            <a:ext cx="5303520" cy="9525"/>
          </a:xfrm>
          <a:prstGeom prst="rect">
            <a:avLst/>
          </a:prstGeom>
          <a:solidFill>
            <a:srgbClr val="1E2761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3056" y="1129284"/>
            <a:ext cx="523036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ptos"/>
              </a:rPr>
              <a:t>Cash availability — mechanics (¥bn)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36208" y="1554480"/>
          <a:ext cx="5074920" cy="235915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868680"/>
                <a:gridCol w="1005840"/>
              </a:tblGrid>
              <a:tr h="471830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Sponsor eq.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Exit eq.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MOIC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E2761"/>
                          </a:solidFill>
                          <a:latin typeface="Aptos"/>
                        </a:rPr>
                        <a:t>IRR</a:t>
                      </a:r>
                    </a:p>
                  </a:txBody>
                  <a:tcPr>
                    <a:lnT w="9525" cap="flat" cmpd="sng" algn="ctr">
                      <a:solidFill>
                        <a:srgbClr val="1E2761"/>
                      </a:solidFill>
                      <a:prstDash val="solid"/>
                    </a:lnT>
                    <a:lnB w="9525" cap="flat" cmpd="sng" algn="ctr">
                      <a:solidFill>
                        <a:srgbClr val="1E276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Full extraction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7.7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16.6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2.17x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16.8%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Cash retained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11.1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20.0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1.81x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12.6%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Trapped cash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11.1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16.6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1.50x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8.5%</a:t>
                      </a:r>
                    </a:p>
                  </a:txBody>
                  <a:tcPr marL="36576" marR="36576" marT="18288" marB="18288"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36208" y="4160520"/>
            <a:ext cx="5074920" cy="58521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Extraction needs distributable reserves, lender consent, clean accounts &amp; time — none assured pre-DD.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10927080" cy="658368"/>
          </a:xfrm>
          <a:prstGeom prst="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68112"/>
            <a:ext cx="10561320" cy="32004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860" b="1">
                <a:solidFill>
                  <a:srgbClr val="1E2226"/>
                </a:solidFill>
                <a:latin typeface="Aptos"/>
              </a:rPr>
              <a:t>Takeaway: AISAN screens cheaply partly on excess cash, but returns hinge on whether that cash is legally and practically extractable. Treat as a confirmatory DD item, not a base-case assumption.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8"/>
            <a:ext cx="1092708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00" b="0">
                <a:solidFill>
                  <a:srgbClr val="5F6970"/>
                </a:solidFill>
                <a:latin typeface="Aptos"/>
              </a:rPr>
              <a:t>Source: accompanying Excel model (Returns — cash availability &amp; MIP sensitivity). Illustrative; ¥bn, 5-yr hold.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457200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Project Measure  ·  Strictly Private &amp;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73952"/>
            <a:ext cx="41148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r"/>
            <a:r>
              <a:rPr sz="750" b="0">
                <a:solidFill>
                  <a:srgbClr val="5F6970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3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Value-Up Theses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levers that could lift returns if the investigation clears — none is fully underwritable pre-DD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5468112" cy="2212848"/>
          </a:xfrm>
          <a:prstGeom prst="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8" name="Text 5"/>
          <ns0:cNvSpPr/>
          <ns0:nvPr/>
        </ns0:nvSpPr>
        <ns0:spPr>
          <a:xfrm>
            <a:off x="841248" y="1655064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Balance-sheet optimisation</a:t>
            </a:r>
            <a:endParaRPr lang="en-US" sz="1450" dirty="0"/>
          </a:p>
        </ns0:txBody>
      </ns0:sp>
      <ns0:sp>
        <ns0:nvSpPr>
          <ns0:cNvPr id="9" name="Text 6"/>
          <ns0:cNvSpPr/>
          <ns0:nvPr/>
        </ns0:nvSpPr>
        <ns0:spPr>
          <a:xfrm>
            <a:off x="841248" y="2230000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~¥4.1bn net cash and monetise investment securities. Excess cash reduces headline EV but does not make this a classic leverage-driven LBO — sponsor equity stays high at ~¥7.7bn because debt capacity is constrained. Cash extraction is subject to legal, operating, lender and investigation-related DD.</a:t>
            </a:r>
            <a:endParaRPr lang="en-US" sz="1060" dirty="0"/>
          </a:p>
        </ns0:txBody>
      </ns0:sp>
      <ns0:sp>
        <ns0:nvSpPr>
          <ns0:cNvPr id="11" name="Text 8"/>
          <ns0:cNvSpPr/>
          <ns0:nvPr/>
        </ns0:nvSpPr>
        <ns0:spPr>
          <a:xfrm>
            <a:off x="1078992" y="2870000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but DD-dependent lever</a:t>
            </a:r>
            <a:endParaRPr lang="en-US" sz="950" dirty="0"/>
          </a:p>
        </ns0:txBody>
      </ns0:sp>
      <ns0:sp>
        <ns0:nvSpPr>
          <ns0:cNvPr id="12" name="Shape 9"/>
          <ns0:cNvSpPr/>
          <ns0:nvPr/>
        </ns0:nvSpPr>
        <ns0:spPr>
          <a:xfrm>
            <a:off x="6172200" y="1417320"/>
            <a:ext cx="5468112" cy="2212848"/>
          </a:xfrm>
          <a:prstGeom prst="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15" name="Text 11"/>
          <ns0:cNvSpPr/>
          <ns0:nvPr/>
        </ns0:nvSpPr>
        <ns0:spPr>
          <a:xfrm>
            <a:off x="6464808" y="1655064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expansion</a:t>
            </a:r>
            <a:endParaRPr lang="en-US" sz="1450" dirty="0"/>
          </a:p>
        </ns0:txBody>
      </ns0:sp>
      <ns0:sp>
        <ns0:nvSpPr>
          <ns0:cNvPr id="16" name="Text 12"/>
          <ns0:cNvSpPr/>
          <ns0:nvPr/>
        </ns0:nvSpPr>
        <ns0:spPr>
          <a:xfrm>
            <a:off x="6464808" y="2230000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group overhead and lift the software mix; turn around or partner the loss-making Mobility unit to move blended operating margin from ~8% toward 12%+.</a:t>
            </a:r>
            <a:endParaRPr lang="en-US" sz="1060" dirty="0"/>
          </a:p>
        </ns0:txBody>
      </ns0:sp>
      <ns0:sp>
        <ns0:nvSpPr>
          <ns0:cNvPr id="18" name="Text 14"/>
          <ns0:cNvSpPr/>
          <ns0:nvPr/>
        </ns0:nvSpPr>
        <ns0:spPr>
          <a:xfrm>
            <a:off x="6702552" y="2870000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control, phased</a:t>
            </a:r>
            <a:endParaRPr lang="en-US" sz="950" dirty="0"/>
          </a:p>
        </ns0:txBody>
      </ns0:sp>
      <ns0:sp>
        <ns0:nvSpPr>
          <ns0:cNvPr id="19" name="Shape 15"/>
          <ns0:cNvSpPr/>
          <ns0:nvPr/>
        </ns0:nvSpPr>
        <ns0:spPr>
          <a:xfrm>
            <a:off x="548640" y="3767328"/>
            <a:ext cx="5468112" cy="2212848"/>
          </a:xfrm>
          <a:prstGeom prst="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22" name="Text 17"/>
          <ns0:cNvSpPr/>
          <ns0:nvPr/>
        </ns0:nvSpPr>
        <ns0:spPr>
          <a:xfrm>
            <a:off x="841248" y="4005072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re-rating of optionality</a:t>
            </a:r>
            <a:endParaRPr lang="en-US" sz="1450" dirty="0"/>
          </a:p>
        </ns0:txBody>
      </ns0:sp>
      <ns0:sp>
        <ns0:nvSpPr>
          <ns0:cNvPr id="23" name="Text 18"/>
          <ns0:cNvSpPr/>
          <ns0:nvPr/>
        </ns0:nvSpPr>
        <ns0:spPr>
          <a:xfrm>
            <a:off x="841248" y="4580000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Professionalise and scale the HD-map / Level-4 franchise into a separately valuable asset, supporting an exit to an auto OEM, map consolidator or geospatial buyer at a premium multiple.</a:t>
            </a:r>
            <a:endParaRPr lang="en-US" sz="1060" dirty="0"/>
          </a:p>
        </ns0:txBody>
      </ns0:sp>
      <ns0:sp>
        <ns0:nvSpPr>
          <ns0:cNvPr id="25" name="Text 20"/>
          <ns0:cNvSpPr/>
          <ns0:nvPr/>
        </ns0:nvSpPr>
        <ns0:spPr>
          <a:xfrm>
            <a:off x="1078992" y="5220000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risk, higher reward</a:t>
            </a:r>
            <a:endParaRPr lang="en-US" sz="950" dirty="0"/>
          </a:p>
        </ns0:txBody>
      </ns0:sp>
      <ns0:sp>
        <ns0:nvSpPr>
          <ns0:cNvPr id="26" name="Shape 21"/>
          <ns0:cNvSpPr/>
          <ns0:nvPr/>
        </ns0:nvSpPr>
        <ns0:spPr>
          <a:xfrm>
            <a:off x="6172200" y="3767328"/>
            <a:ext cx="5468112" cy="2212848"/>
          </a:xfrm>
          <a:prstGeom prst="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29" name="Text 23"/>
          <ns0:cNvSpPr/>
          <ns0:nvPr/>
        </ns0:nvSpPr>
        <ns0:spPr>
          <a:xfrm>
            <a:off x="6464808" y="4005072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Defensive compounding</a:t>
            </a:r>
            <a:endParaRPr lang="en-US" sz="1450" dirty="0"/>
          </a:p>
        </ns0:txBody>
      </ns0:sp>
      <ns0:sp>
        <ns0:nvSpPr>
          <ns0:cNvPr id="30" name="Text 24"/>
          <ns0:cNvSpPr/>
          <ns0:nvPr/>
        </ns0:nvSpPr>
        <ns0:spPr>
          <a:xfrm>
            <a:off x="6464808" y="4580000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and grow the recurring public-sector software base through i-Construction and national 3D-data tailwinds — the floor under every scenario.</a:t>
            </a:r>
            <a:endParaRPr lang="en-US" sz="1060" dirty="0"/>
          </a:p>
        </ns0:txBody>
      </ns0:sp>
      <ns0:sp>
        <ns0:nvSpPr>
          <ns0:cNvPr id="32" name="Text 26"/>
          <ns0:cNvSpPr/>
          <ns0:nvPr/>
        </ns0:nvSpPr>
        <ns0:spPr>
          <a:xfrm>
            <a:off x="6702552" y="5220000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protection</a:t>
            </a:r>
            <a:endParaRPr lang="en-US" sz="950" dirty="0"/>
          </a:p>
        </ns0:txBody>
      </ns0:sp>
      <ns0:sp>
        <ns0:nvSpPr>
          <ns0:cNvPr id="33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4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ns0:txBody>
      </ns0:sp>
      <ns0:sp>
        <ns0:nvSpPr>
          <ns0:cNvPr id="9516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1E276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616" name="SourceLine"/>
          <ns0:cNvSpPr txBox="1"/>
          <ns0:nvPr/>
        </ns0:nvSpPr>
        <ns0:spPr>
          <a:xfrm>
            <a:off x="503000" y="6330000"/>
            <a:ext cx="9600000" cy="16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deal-team assessment; segment data per company FY26 H1 results (TDnet).</a:t>
            </a:r>
          </a:p>
        </ns0:txBody>
      </ns0:sp>
    </ns0:spTree>
  </ns0:cSld>
  <ns0:clrMapOvr>
    <a:masterClrMapping/>
  </ns0:clrMapOvr>
</ns0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Risks &amp; Diligence Checklist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be verified before committing capital in the next phase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468112" cy="4617720"/>
          </a:xfrm>
          <a:prstGeom prst="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974723"/>
            <a:ext cx="5468112" cy="9525"/>
          </a:xfrm>
          <a:prstGeom prst="rect">
            <a:avLst>
              <a:gd name="adj" fmla="val 14516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325880" y="148132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RISKS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115568" y="21579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Subsidiary investigation (GATING)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15568" y="24323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committee at 100%-sub Akisoku — suspected forgery, concealment &amp; unpaid debt; FY26 impact undetermined and financials may be restated.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15568" y="29352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/ cash burn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15568" y="32095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Q4-loaded revenue and a Q1–Q3 working-capital draw complicate debt service timing; illustrative quarterly phasing puts the intra-year trough slightly below the ¥0.8bn cash floor — size a ~¥0.5bn RCF (model seasonality panel).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115568" y="37124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losses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1115568" y="398678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growth segment is not yet profitable; turnaround timing and capital needs are uncertain.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15568" y="448970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Public-budget reliance &amp; float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15568" y="47640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tied to government budgets; thin TSE Standard float and minority protections.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15568" y="52669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Sub-hurdle returns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115568" y="554126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pre-restatement, base IRR ~16.8% (upside ~23%) is below a clean 20% PE hurdle.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72200" y="1417320"/>
            <a:ext cx="5468112" cy="4617720"/>
          </a:xfrm>
          <a:prstGeom prst="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6172200" y="1974723"/>
            <a:ext cx="5468112" cy="9525"/>
          </a:xfrm>
          <a:prstGeom prst="rect">
            <a:avLst>
              <a:gd name="adj" fmla="val 14516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1" name="Text 27"/>
          <p:cNvSpPr/>
          <p:nvPr/>
        </p:nvSpPr>
        <p:spPr>
          <a:xfrm>
            <a:off x="6949440" y="148132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DD ITEMS</a:t>
            </a:r>
            <a:endParaRPr lang="en-US" sz="1500" dirty="0"/>
          </a:p>
        </p:txBody>
      </p:sp>
      <p:sp>
        <p:nvSpPr>
          <p:cNvPr id="33" name="Text 28"/>
          <p:cNvSpPr/>
          <p:nvPr/>
        </p:nvSpPr>
        <p:spPr>
          <a:xfrm>
            <a:off x="6739128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Special-investigation findings, scope &amp; quantified FY26 impact / restatement</a:t>
            </a:r>
            <a:endParaRPr lang="en-US" sz="1060" dirty="0"/>
          </a:p>
        </p:txBody>
      </p:sp>
      <p:sp>
        <p:nvSpPr>
          <p:cNvPr id="35" name="Text 29"/>
          <p:cNvSpPr/>
          <p:nvPr/>
        </p:nvSpPr>
        <p:spPr>
          <a:xfrm>
            <a:off x="6739128" y="261061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issues extend beyond Akisoku — group-wide internal controls</a:t>
            </a:r>
            <a:endParaRPr lang="en-US" sz="1060" dirty="0"/>
          </a:p>
        </p:txBody>
      </p:sp>
      <p:sp>
        <p:nvSpPr>
          <p:cNvPr id="37" name="Text 30"/>
          <p:cNvSpPr/>
          <p:nvPr/>
        </p:nvSpPr>
        <p:spPr>
          <a:xfrm>
            <a:off x="6739128" y="3090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current cap table &amp; founder-family intent on an MBO / roll-over</a:t>
            </a:r>
            <a:endParaRPr lang="en-US" sz="1060" dirty="0"/>
          </a:p>
        </p:txBody>
      </p:sp>
      <p:sp>
        <p:nvSpPr>
          <p:cNvPr id="39" name="Text 31"/>
          <p:cNvSpPr/>
          <p:nvPr/>
        </p:nvSpPr>
        <p:spPr>
          <a:xfrm>
            <a:off x="6739128" y="35707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&amp; investment-securities mark at close; distributable reserves</a:t>
            </a:r>
            <a:endParaRPr lang="en-US" sz="1060" dirty="0"/>
          </a:p>
        </p:txBody>
      </p:sp>
      <p:sp>
        <p:nvSpPr>
          <p:cNvPr id="41" name="Text 32"/>
          <p:cNvSpPr/>
          <p:nvPr/>
        </p:nvSpPr>
        <p:spPr>
          <a:xfrm>
            <a:off x="6739128" y="405079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/ DX standalone P&amp;L and a credible path to breakeven</a:t>
            </a:r>
            <a:endParaRPr lang="en-US" sz="1060" dirty="0"/>
          </a:p>
        </p:txBody>
      </p:sp>
      <p:sp>
        <p:nvSpPr>
          <p:cNvPr id="43" name="Text 33"/>
          <p:cNvSpPr/>
          <p:nvPr/>
        </p:nvSpPr>
        <p:spPr>
          <a:xfrm>
            <a:off x="6739128" y="45308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Public-revenue backlog, contract terms and budget sensitivity</a:t>
            </a:r>
            <a:endParaRPr lang="en-US" sz="1060" dirty="0"/>
          </a:p>
        </p:txBody>
      </p:sp>
      <p:sp>
        <p:nvSpPr>
          <p:cNvPr id="45" name="Text 34"/>
          <p:cNvSpPr/>
          <p:nvPr/>
        </p:nvSpPr>
        <p:spPr>
          <a:xfrm>
            <a:off x="6739128" y="501091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earnings on Q4-loaded revenue recognition; software cap. policy</a:t>
            </a:r>
            <a:endParaRPr lang="en-US" sz="1060" dirty="0"/>
          </a:p>
        </p:txBody>
      </p:sp>
      <p:sp>
        <p:nvSpPr>
          <p:cNvPr id="47" name="Text 35"/>
          <p:cNvSpPr/>
          <p:nvPr/>
        </p:nvSpPr>
        <p:spPr>
          <a:xfrm>
            <a:off x="6739128" y="54909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appetite &amp; debt capacity given the seasonal cash profile</a:t>
            </a:r>
            <a:endParaRPr lang="en-US" sz="1060" dirty="0"/>
          </a:p>
        </p:txBody>
      </p:sp>
      <p:sp>
        <p:nvSpPr>
          <p:cNvPr id="48" name="Text 3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9" name="Text 37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9517" name="HeaderRule"/>
          <p:cNvSpPr/>
          <p:nvPr/>
        </p:nvSpPr>
        <p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617" name="SourceLine"/>
          <p:cNvSpPr txBox="1"/>
          <p:nvPr/>
        </p:nvSpPr>
        <p:spPr>
          <a:xfrm>
            <a:off x="503000" y="6330000"/>
            <a:ext cx="9600000" cy="160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0" indent="0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deal-team risk assessment based on company disclosure (TDnet / IR); see Gating (p.19) and Source Appendix (p.21).</a:t>
            </a:r>
          </a:p>
        </p:txBody>
      </p:sp>
    </p:spTree>
  </p:cSld>
  <p:clrMapOvr>
    <a:masterClrMapping/>
  </p:clrMapOvr>
</p:sld>
</file>

<file path=ppt/slides/slide18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5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Gating Item — Subsidiary Probe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investigation at a 100%-owned subsidiary overrides the investment case until cleared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126480" cy="4617720"/>
          </a:xfrm>
          <a:prstGeom prst="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8" name="Text 5"/>
          <ns0:cNvSpPr/>
          <ns0:nvPr/>
        </ns0:nvSpPr>
        <ns0:spPr>
          <a:xfrm>
            <a:off x="700000" y="1664208"/>
            <a:ext cx="5212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— AKISOKU (有限会社秋測)</a:t>
            </a:r>
            <a:endParaRPr lang="en-US" sz="11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886968" y="2276856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960120" y="2423160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1143000" y="2203704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2024</a:t>
            </a:r>
            <a:endParaRPr lang="en-US" sz="100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2880360" y="2203704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acquires 100% of Akisoku, an Akita-based survey-instrument sales / repair firm.</a:t>
            </a:r>
            <a:endParaRPr lang="en-US" sz="970" dirty="0"/>
          </a:p>
        </ns0:txBody>
      </ns0:sp>
      <ns0:sp>
        <ns0:nvSpPr>
          <ns0:cNvPr id="13" name="Shape 10"/>
          <ns0:cNvSpPr/>
          <ns0:nvPr/>
        </ns0:nvSpPr>
        <ns0:spPr>
          <a:xfrm>
            <a:off x="886968" y="2907792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4" name="Shape 11"/>
          <ns0:cNvSpPr/>
          <ns0:nvPr/>
        </ns0:nvSpPr>
        <ns0:spPr>
          <a:xfrm>
            <a:off x="960120" y="3054096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5" name="Text 12"/>
          <ns0:cNvSpPr/>
          <ns0:nvPr/>
        </ns0:nvSpPr>
        <ns0:spPr>
          <a:xfrm>
            <a:off x="1143000" y="2834640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Mar 2026</a:t>
            </a:r>
            <a:endParaRPr lang="en-US" sz="1000" dirty="0"/>
          </a:p>
        </ns0:txBody>
      </ns0:sp>
      <ns0:sp>
        <ns0:nvSpPr>
          <ns0:cNvPr id="16" name="Text 13"/>
          <ns0:cNvSpPr/>
          <ns0:nvPr/>
        </ns0:nvSpPr>
        <ns0:spPr>
          <a:xfrm>
            <a:off x="2880360" y="2834640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supplier queries unpaid debt at the subsidiary's marketing centre (Ueda, Nagano) — the trigger.</a:t>
            </a:r>
            <a:endParaRPr lang="en-US" sz="970" dirty="0"/>
          </a:p>
        </ns0:txBody>
      </ns0:sp>
      <ns0:sp>
        <ns0:nvSpPr>
          <ns0:cNvPr id="17" name="Shape 14"/>
          <ns0:cNvSpPr/>
          <ns0:nvPr/>
        </ns0:nvSpPr>
        <ns0:spPr>
          <a:xfrm>
            <a:off x="886968" y="3538728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8" name="Shape 15"/>
          <ns0:cNvSpPr/>
          <ns0:nvPr/>
        </ns0:nvSpPr>
        <ns0:spPr>
          <a:xfrm>
            <a:off x="960120" y="3685032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9" name="Text 16"/>
          <ns0:cNvSpPr/>
          <ns0:nvPr/>
        </ns0:nvSpPr>
        <ns0:spPr>
          <a:xfrm>
            <a:off x="1143000" y="3465576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</a:t>
            </a:r>
            <a:endParaRPr lang="en-US" sz="100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2880360" y="3465576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improper transactions by a subsidiary director; forgery &amp; concealment of documents.</a:t>
            </a:r>
            <a:endParaRPr lang="en-US" sz="970" dirty="0"/>
          </a:p>
        </ns0:txBody>
      </ns0:sp>
      <ns0:sp>
        <ns0:nvSpPr>
          <ns0:cNvPr id="21" name="Shape 18"/>
          <ns0:cNvSpPr/>
          <ns0:nvPr/>
        </ns0:nvSpPr>
        <ns0:spPr>
          <a:xfrm>
            <a:off x="886968" y="4169664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22" name="Shape 19"/>
          <ns0:cNvSpPr/>
          <ns0:nvPr/>
        </ns0:nvSpPr>
        <ns0:spPr>
          <a:xfrm>
            <a:off x="960120" y="4315968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3" name="Text 20"/>
          <ns0:cNvSpPr/>
          <ns0:nvPr/>
        </ns0:nvSpPr>
        <ns0:spPr>
          <a:xfrm>
            <a:off x="1143000" y="4096512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Widening</a:t>
            </a:r>
            <a:endParaRPr lang="en-US" sz="1000" dirty="0"/>
          </a:p>
        </ns0:txBody>
      </ns0:sp>
      <ns0:sp>
        <ns0:nvSpPr>
          <ns0:cNvPr id="24" name="Text 21"/>
          <ns0:cNvSpPr/>
          <ns0:nvPr/>
        </ns0:nvSpPr>
        <ns0:spPr>
          <a:xfrm>
            <a:off x="2880360" y="4096512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suspected forged documents and concealment of inventory losses / unpaid debts.</a:t>
            </a:r>
            <a:endParaRPr lang="en-US" sz="97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886968" y="4800600"/>
            <a:ext cx="146304" cy="146304"/>
          </a:xfrm>
          <a:prstGeom prst="ellipse">
            <a:avLst/>
          </a:prstGeom>
          <a:solidFill>
            <a:srgbClr val="B5462F"/>
          </a:solidFill>
          <a:ln/>
        </ns0:spPr>
        <ns0:txBody>
          <a:bodyPr/>
          <a:p/>
        </ns0:txBody>
      </ns0:sp>
      <ns0:sp>
        <ns0:nvSpPr>
          <ns0:cNvPr id="26" name="Shape 23"/>
          <ns0:cNvSpPr/>
          <ns0:nvPr/>
        </ns0:nvSpPr>
        <ns0:spPr>
          <a:xfrm>
            <a:off x="960120" y="4946904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7" name="Text 24"/>
          <ns0:cNvSpPr/>
          <ns0:nvPr/>
        </ns0:nvSpPr>
        <ns0:spPr>
          <a:xfrm>
            <a:off x="1143000" y="4727448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Apr 2026</a:t>
            </a:r>
            <a:endParaRPr lang="en-US" sz="10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2880360" y="4727448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Investigation Committee established (external lawyer + CPAs, outside directors / auditors).</a:t>
            </a:r>
            <a:endParaRPr lang="en-US" sz="97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886968" y="5431536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30" name="Text 27"/>
          <ns0:cNvSpPr/>
          <ns0:nvPr/>
        </ns0:nvSpPr>
        <ns0:spPr>
          <a:xfrm>
            <a:off x="1143000" y="5358384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ns0:txBody>
      </ns0:sp>
      <ns0:sp>
        <ns0:nvSpPr>
          <ns0:cNvPr id="31" name="Text 28"/>
          <ns0:cNvSpPr/>
          <ns0:nvPr/>
        </ns0:nvSpPr>
        <ns0:spPr>
          <a:xfrm>
            <a:off x="2880360" y="5358384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fell sharply to ~¥1,643 intraday on disclosure and drifted to ~¥1,490s by May; FY26 impact undetermined.</a:t>
            </a:r>
            <a:endParaRPr lang="en-US" sz="970" dirty="0"/>
          </a:p>
        </ns0:txBody>
      </ns0:sp>
      <ns0:sp>
        <ns0:nvSpPr>
          <ns0:cNvPr id="32" name="Shape 29"/>
          <ns0:cNvSpPr/>
          <ns0:nvPr/>
        </ns0:nvSpPr>
        <ns0:spPr>
          <a:xfrm>
            <a:off x="6903720" y="1417320"/>
            <a:ext cx="4736592" cy="2240280"/>
          </a:xfrm>
          <a:prstGeom prst="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3" name="Text 30"/>
          <ns0:cNvSpPr/>
          <ns0:nvPr/>
        </ns0:nvSpPr>
        <ns0:spPr>
          <a:xfrm>
            <a:off x="7178040" y="1572768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A GATING ITEM</a:t>
            </a:r>
            <a:endParaRPr lang="en-US" sz="1050" dirty="0"/>
          </a:p>
        </ns0:txBody>
      </ns0:sp>
      <ns0:sp>
        <ns0:nvSpPr>
          <ns0:cNvPr id="34" name="Text 31"/>
          <ns0:cNvSpPr/>
          <ns0:nvPr/>
        </ns0:nvSpPr>
        <ns0:spPr>
          <a:xfrm>
            <a:off x="7196328" y="1920240"/>
            <a:ext cx="429768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consolidated impact undetermined — guidance and entry EBITDA may be restated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post-news reference price is already investigation-depressed — premium must re-base on a clean price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forgery at a recently-bought subsidiary signals weak group controls &amp; integration DD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and scope unknown; FY26 results announcement formally delayed (30-Apr-26 notice)</a:t>
            </a:r>
            <a:endParaRPr lang="en-US" sz="1000" dirty="0"/>
          </a:p>
        </ns0:txBody>
      </ns0:sp>
      <ns0:sp>
        <ns0:nvSpPr>
          <ns0:cNvPr id="35" name="Shape 32"/>
          <ns0:cNvSpPr/>
          <ns0:nvPr/>
        </ns0:nvSpPr>
        <ns0:spPr>
          <a:xfrm>
            <a:off x="6903720" y="3794760"/>
            <a:ext cx="4736592" cy="2240280"/>
          </a:xfrm>
          <a:prstGeom prst="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/>
        </ns0:spPr>
        <ns0:txBody>
          <a:bodyPr/>
          <a:p/>
        </ns0:txBody>
      </ns0:sp>
      <ns0:sp>
        <ns0:nvSpPr>
          <ns0:cNvPr id="36" name="Shape 33"/>
          <ns0:cNvSpPr/>
          <ns0:nvPr/>
        </ns0:nvSpPr>
        <ns0:spPr>
          <a:xfrm>
            <a:off x="6903720" y="4242435"/>
            <a:ext cx="4736592" cy="9525"/>
          </a:xfrm>
          <a:prstGeom prst="rect">
            <a:avLst>
              <a:gd name="adj" fmla="val 18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8" name="Text 35"/>
          <ns0:cNvSpPr/>
          <ns0:nvPr/>
        </ns0:nvSpPr>
        <ns0:spPr>
          <a:xfrm>
            <a:off x="7178040" y="3813048"/>
            <a:ext cx="4389120" cy="42062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 — REQUIRED BEFORE ANY BID</a:t>
            </a:r>
            <a:endParaRPr lang="en-US" sz="1250" dirty="0"/>
          </a:p>
        </ns0:txBody>
      </ns0:sp>
      <ns0:sp>
        <ns0:nvSpPr>
          <ns0:cNvPr id="40" name="Text 36"/>
          <ns0:cNvSpPr/>
          <ns0:nvPr/>
        </ns0:nvSpPr>
        <ns0:spPr>
          <a:xfrm>
            <a:off x="7470648" y="4398264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investigation report &amp; quantified financial impact</a:t>
            </a:r>
            <a:endParaRPr lang="en-US" sz="1000" dirty="0"/>
          </a:p>
        </ns0:txBody>
      </ns0:sp>
      <ns0:sp>
        <ns0:nvSpPr>
          <ns0:cNvPr id="42" name="Text 37"/>
          <ns0:cNvSpPr/>
          <ns0:nvPr/>
        </ns0:nvSpPr>
        <ns0:spPr>
          <a:xfrm>
            <a:off x="7470648" y="4782312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Restated / audited financial statements</a:t>
            </a:r>
            <a:endParaRPr lang="en-US" sz="1000" dirty="0"/>
          </a:p>
        </ns0:txBody>
      </ns0:sp>
      <ns0:sp>
        <ns0:nvSpPr>
          <ns0:cNvPr id="44" name="Text 38"/>
          <ns0:cNvSpPr/>
          <ns0:nvPr/>
        </ns0:nvSpPr>
        <ns0:spPr>
          <a:xfrm>
            <a:off x="7470648" y="5166360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the issues are contained to Akisoku</a:t>
            </a:r>
            <a:endParaRPr lang="en-US" sz="1000" dirty="0"/>
          </a:p>
        </ns0:txBody>
      </ns0:sp>
      <ns0:sp>
        <ns0:nvSpPr>
          <ns0:cNvPr id="46" name="Text 39"/>
          <ns0:cNvSpPr/>
          <ns0:nvPr/>
        </ns0:nvSpPr>
        <ns0:spPr>
          <a:xfrm>
            <a:off x="7470648" y="5550408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of group-wide internal controls</a:t>
            </a:r>
            <a:endParaRPr lang="en-US" sz="1000" dirty="0"/>
          </a:p>
        </ns0:txBody>
      </ns0:sp>
      <ns0:sp>
        <ns0:nvSpPr>
          <ns0:cNvPr id="47" name="Text 40"/>
          <ns0:cNvSpPr/>
          <ns0:nvPr/>
        </ns0:nvSpPr>
        <ns0:spPr>
          <a:xfrm>
            <a:off x="548640" y="6163056"/>
            <a:ext cx="8229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AISAN IR (3 Apr 2026); Nikkei; Yahoo Finance JP (Apr 2026). See source appendix.</a:t>
            </a:r>
            <a:endParaRPr lang="en-US" sz="800" dirty="0"/>
          </a:p>
        </ns0:txBody>
      </ns0:sp>
      <ns0:sp>
        <ns0:nvSpPr>
          <ns0:cNvPr id="48" name="Text 41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9" name="Text 42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ns0:txBody>
      </ns0:sp>
      <ns0:sp>
        <ns0:nvSpPr>
          <ns0:cNvPr id="9518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</ns0:spTree>
  </ns0:cSld>
  <ns0:clrMapOvr>
    <a:masterClrMapping/>
  </ns0:clrMapOvr>
</ns0:sld>
</file>

<file path=ppt/slides/slide19.xml><?xml version="1.0" encoding="utf-8"?>
<ns0:sld xmlns:a="http://schemas.openxmlformats.org/drawingml/2006/main" xmlns:ns0="http://schemas.openxmlformats.org/presentationml/2006/main">
  <ns0:cSld name="Slide 16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4" name="Shape 2"/>
          <ns0:cNvSpPr/>
          <ns0:nvPr/>
        </ns0:nvSpPr>
        <ns0:spPr>
          <a:xfrm>
            <a:off x="822960" y="777240"/>
            <a:ext cx="1828800" cy="64008"/>
          </a:xfrm>
          <a:prstGeom prst="rect">
            <a:avLst>
              <a:gd name="adj" fmla="val 85714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5" name="Text 3"/>
          <ns0:cNvSpPr/>
          <ns0:nvPr/>
        </ns0:nvSpPr>
        <ns0:spPr>
          <a:xfrm>
            <a:off x="777240" y="960120"/>
            <a:ext cx="82296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ns0:txBody>
      </ns0:sp>
      <ns0:sp>
        <ns0:nvSpPr>
          <ns0:cNvPr id="6" name="Text 4"/>
          <ns0:cNvSpPr/>
          <ns0:nvPr/>
        </ns0:nvSpPr>
        <ns0:spPr>
          <a:xfrm>
            <a:off x="777240" y="1417320"/>
            <a:ext cx="7863840" cy="13716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A fundamentally interesting, cash-rich target — </a:t>
            </a:r>
            <a:pPr indent="0" marL="0">
              <a:lnSpc>
                <a:spcPct val="105000"/>
              </a:lnSpc>
              <a:buNone/>
            </a:pPr>
            <a:r>
              <a:rPr lang="en-US" sz="2500" b="1" i="1" dirty="0">
                <a:solidFill>
                  <a:srgbClr val="5B64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a live investigation and sub-hurdle returns mean we should not bid now.</a:t>
            </a:r>
            <a:endParaRPr lang="en-US" sz="250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777240" y="2971800"/>
            <a:ext cx="2514600" cy="1234440"/>
          </a:xfrm>
          <a:prstGeom prst="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ns0:spPr>
        <ns0:txBody>
          <a:bodyPr/>
          <a:p/>
        </ns0:txBody>
      </ns0:sp>
      <ns0:sp>
        <ns0:nvSpPr>
          <ns0:cNvPr id="8" name="Text 6"/>
          <ns0:cNvSpPr/>
          <ns0:nvPr/>
        </ns0:nvSpPr>
        <ns0:spPr>
          <a:xfrm>
            <a:off x="1005840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9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1005840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Too early; </a:t>
            </a:r>
            <a:endParaRPr lang="en-US" sz="19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1005840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 to confirmatory DD only</a:t>
            </a:r>
            <a:endParaRPr lang="en-US" sz="9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3447288" y="2971800"/>
            <a:ext cx="2514600" cy="1234440"/>
          </a:xfrm>
          <a:prstGeom prst="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3675888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9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3675888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2.17x / 16.8%</a:t>
            </a:r>
            <a:endParaRPr lang="en-US" sz="19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3675888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hurdle</a:t>
            </a:r>
            <a:endParaRPr lang="en-US" sz="9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6117336" y="2971800"/>
            <a:ext cx="2514600" cy="1234440"/>
          </a:xfrm>
          <a:prstGeom prst="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ns0:spPr>
        <ns0:txBody>
          <a:bodyPr/>
          <a:p/>
        </ns0:txBody>
      </ns0:sp>
      <ns0:sp>
        <ns0:nvSpPr>
          <ns0:cNvPr id="16" name="Text 14"/>
          <ns0:cNvSpPr/>
          <ns0:nvPr/>
        </ns0:nvSpPr>
        <ns0:spPr>
          <a:xfrm>
            <a:off x="6345936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9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6345936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2.80x / 22.9%</a:t>
            </a:r>
            <a:endParaRPr lang="en-US" sz="19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6345936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cleared</a:t>
            </a:r>
            <a:endParaRPr lang="en-US" sz="90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098280" y="1417320"/>
            <a:ext cx="2743200" cy="3200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9098280" y="1783080"/>
            <a:ext cx="2697480" cy="2651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the special-investigation report &amp; any restatement before any bid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Re-underwrite on restated financials; re-base the offer off a clean price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 diligence per the priority checklist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 outreach plan subject to explicit authorization (no contact under current data policy)</a:t>
            </a:r>
            <a:endParaRPr lang="en-US" sz="105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on watchlist; bid only after the probe clears, financials are re-underwritten, excess-cash availability is verified, and walk-to-price (~¥2,116/share) supports a clean 20%+ gross IRR</a:t>
            </a:r>
            <a:endParaRPr lang="en-US" sz="105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777240" y="5440680"/>
            <a:ext cx="1101852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ns0:spPr>
        <ns0:txBody>
          <a:bodyPr/>
          <a:p/>
        </ns0:txBody>
      </ns0:sp>
      <ns0:sp>
        <ns0:nvSpPr>
          <ns0:cNvPr id="22" name="Text 20"/>
          <ns0:cNvSpPr/>
          <ns0:nvPr/>
        </ns0:nvSpPr>
        <ns0:spPr>
          <a:xfrm>
            <a:off x="777240" y="5577840"/>
            <a:ext cx="822960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case study for internal discussion only — not investment advice, a valuation opinion or an offer. No contact has been made with the company, its shareholders or management; analysis uses public information only, which requires verification. Figures are pre-restatement and may change with the investigation outcome.</a:t>
            </a:r>
            <a:endParaRPr lang="en-US" sz="85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9144000" y="5943600"/>
            <a:ext cx="2651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June 2026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0.xml><?xml version="1.0" encoding="utf-8"?>
<ns0:sld xmlns:a="http://schemas.openxmlformats.org/drawingml/2006/main" xmlns:ns0="http://schemas.openxmlformats.org/presentationml/2006/main">
  <ns0:cSld name="Slide 17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r>
              <a:rPr sz="1500" b="1">
                <a:solidFill>
                  <a:srgbClr val="C8A951"/>
                </a:solidFill>
                <a:latin typeface="Georgia"/>
              </a:rPr>
              <a:t>A</a:t>
            </a:r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Appendix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public sources — every factual claim is to be verified in confirmatory diligence</a:t>
            </a:r>
            <a:endParaRPr lang="en-US" sz="1250" dirty="0"/>
          </a:p>
        </ns0:txBody>
      </ns0:sp>
      <ns0:sp>
        <ns0:nvSpPr>
          <ns0:cNvPr id="5" name="Text 3"/>
          <ns0:cNvSpPr/>
          <ns0:nvPr/>
        </ns0:nvSpPr>
        <ns0:spPr>
          <a:xfrm>
            <a:off x="548640" y="137160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6" name="Text 4"/>
          <ns0:cNvSpPr/>
          <ns0:nvPr/>
        </ns0:nvSpPr>
        <ns0:spPr>
          <a:xfrm>
            <a:off x="932688" y="137160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Special Investigation Committee notice (3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—  subsidiary investigation (suspected misconduct): scope, trigger, committee composition</a:t>
            </a:r>
            <a:endParaRPr lang="en-US" sz="970" dirty="0"/>
          </a:p>
        </ns0:txBody>
      </ns0:sp>
      <ns0:sp>
        <ns0:nvSpPr>
          <ns0:cNvPr id="7" name="Text 5"/>
          <ns0:cNvSpPr/>
          <ns0:nvPr/>
        </ns0:nvSpPr>
        <ns0:spPr>
          <a:xfrm>
            <a:off x="932688" y="161848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https://www.aisantec.co.jp/information/4167/   ·   retrieved 7 Jun 2026</a:t>
            </a:r>
            <a:endParaRPr lang="en-US" sz="8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48640" y="192024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932688" y="192024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share status / major shareholders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—  issued shares 5,548,979; treasury shares 268,816; top holders</a:t>
            </a:r>
            <a:endParaRPr lang="en-US" sz="97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932688" y="216712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https://www.aisantec.co.jp/ir/stock/status/   ·   retrieved 7 Jun 2026</a:t>
            </a:r>
            <a:endParaRPr lang="en-US" sz="80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548640" y="246888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32688" y="246888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FY2025 results &amp; FY2026 guidance (決算短信; results normally announced May)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—  FY25A rev ¥6.22bn / OP ¥0.44bn; FY26E guidance ¥7.2bn / ¥0.6bn; FY26 results delayed (30-Apr-26 notice)</a:t>
            </a:r>
            <a:endParaRPr lang="en-US" sz="97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32688" y="271576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https://www.aisantec.co.jp/ir/investors/   ·   FY26 delay notice: https://irbank.net/4667/140120260430514374   ·   retrieved 7 Jun 2026</a:t>
            </a:r>
            <a:endParaRPr lang="en-US" sz="8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48640" y="301752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32688" y="301752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Nikkei — “アイサン、特別調査委設置 子会社で不適切取引の疑い” (3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—  independent confirmation of the investigation</a:t>
            </a:r>
            <a:endParaRPr lang="en-US" sz="97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932688" y="326440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https://www.nikkei.com/nkd/industry/article/?DisplayType=1&amp;n_m_code=146&amp;ng=DGXZQOFD03A3V0T00C26A4000000   ·   retrieved 7 Jun 2026</a:t>
            </a:r>
            <a:endParaRPr lang="en-US" sz="8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548640" y="356616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32688" y="356616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JP — market news &amp; quote (4667;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—  market reaction; ~¥1,643 intraday on disclosure; ~¥1,490s close in May; share price reference</a:t>
            </a:r>
            <a:endParaRPr lang="en-US" sz="97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32688" y="381304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https://finance.yahoo.co.jp/news/detail/5c27f0e1919b1e7001799004888f00d95af6ee3d   ·   retrieved 7 Jun 2026</a:t>
            </a:r>
            <a:endParaRPr lang="en-US" sz="8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548640" y="411480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32688" y="411480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IRBANK — 4667 / E04980 (P&amp;L, balance sheet, cash flow, segment)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—  financial history &amp; multiples (FY24–FY26E)</a:t>
            </a:r>
            <a:endParaRPr lang="en-US" sz="97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932688" y="436168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https://irbank.net/E04980/pl  (also /bs, /cf)   ·   retrieved 7 Jun 2026</a:t>
            </a:r>
            <a:endParaRPr lang="en-US" sz="8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548640" y="466344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32688" y="466344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Online — Akisoku acquisition (Oct 2023; executed Jan 2024)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—  subsidiary acquisition; corporate history</a:t>
            </a:r>
            <a:endParaRPr lang="en-US" sz="97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932688" y="491032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https://maonline.jp/news/20231013b   ·   retrieved 7 Jun 2026</a:t>
            </a:r>
            <a:endParaRPr lang="en-US" sz="80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548640" y="5285232"/>
            <a:ext cx="11091672" cy="1078992"/>
          </a:xfrm>
          <a:prstGeom prst="rect">
            <a:avLst>
              <a:gd name="adj" fmla="val 6780"/>
            </a:avLst>
          </a:prstGeom>
          <a:solidFill>
            <a:srgbClr val="F7F7F7"/>
          </a:solidFill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7" name="Shape 25"/>
          <ns0:cNvSpPr/>
          <ns0:nvPr/>
        </ns0:nvSpPr>
        <ns0:spPr>
          <a:xfrm>
            <a:off x="548640" y="5285232"/>
            <a:ext cx="91440" cy="1078992"/>
          </a:xfrm>
          <a:prstGeom prst="rect">
            <a:avLst>
              <a:gd name="adj" fmla="val 60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28" name="Text 26"/>
          <ns0:cNvSpPr/>
          <ns0:nvPr/>
        </ns0:nvSpPr>
        <ns0:spPr>
          <a:xfrm>
            <a:off x="868680" y="5376672"/>
            <a:ext cx="1051560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r>
              <a:rPr sz="850"/>
              <a:t>Reported / estimated / to be verified in DD: founder / related-holder stake, segment margins, peer multiples, investment-securities mark, FY2026E guidance and Akisoku impact. Peer multiples: yfinance snapshots, 7-Jun-2026. Precedent premia — SECOM/ITOCHU notice (5-Sep-2024): secom.co.jp/english/ir/lib_2024/notice20240905-1.pdf · Topcon disclosure (29-Jul-2025): global.topcon.com/invest/wp-content/uploads/library/financial/2025/release_20250729_01_EN.pdf · M&amp;A Online (Tecnos 4-Feb-2025; Kaonavi 13-Feb-2025).</a:t>
            </a:r>
          </a:p>
        </ns0:txBody>
      </ns0:sp>
      <ns0:sp>
        <ns0:nvSpPr>
          <ns0:cNvPr id="29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0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r>
              <a:rPr sz="750"/>
              <a:t>21</a:t>
            </a:r>
          </a:p>
        </ns0:txBody>
      </ns0:sp>
      <ns0:sp>
        <ns0:nvSpPr>
          <ns0:cNvPr id="9520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C8A95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</ns0:spTree>
  </ns0:cSld>
  <ns0:clrMapOvr>
    <a:masterClrMapping/>
  </ns0:clrMapOvr>
</ns0:sld>
</file>

<file path=ppt/slides/slide21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trategic Fit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Fit — Mobility-Platform Lens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Synergies, not leverage, close the hurdle gap — what the case looks like to a strategic platform owner</a:t>
            </a:r>
            <a:endParaRPr lang="en-US" sz="1250" dirty="0"/>
          </a:p>
        </ns0:txBody>
      </ns0:sp>
      <ns0:sp>
        <ns0:nvSpPr>
          <ns0:cNvPr id="9516" name="HeaderRule"/>
          <ns0:cNvSpPr/>
          <ns0:nvPr/>
        </ns0:nvSpPr>
        <ns0:spPr>
          <a:xfrm>
            <a:off x="503000" y="1255000"/>
            <a:ext cx="11180000" cy="9525"/>
          </a:xfrm>
          <a:prstGeom prst="rect">
            <a:avLst/>
          </a:prstGeom>
          <a:solidFill>
            <a:srgbClr val="1E276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901" name="rc1"/>
          <ns0:cNvSpPr/>
          <ns0:nvPr/>
        </ns0:nvSpPr>
        <ns0:spPr>
          <a:xfrm>
            <a:off x="548640" y="1400000"/>
            <a:ext cx="5468112" cy="43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902" name="rc2"/>
          <ns0:cNvSpPr/>
          <ns0:nvPr/>
        </ns0:nvSpPr>
        <ns0:spPr>
          <a:xfrm>
            <a:off x="6172200" y="1400000"/>
            <a:ext cx="5468112" cy="43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903" name="tb3"/>
          <ns0:cNvSpPr txBox="1"/>
          <ns0:nvPr/>
        </ns0:nvSpPr>
        <ns0:spPr>
          <a:xfrm>
            <a:off x="822960" y="1570000"/>
            <a:ext cx="4919472" cy="28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1E2761"/>
                </a:solidFill>
                <a:latin typeface="Georgia" pitchFamily="34" charset="0"/>
              </a:rPr>
              <a:t>WHY AISAN FITS A MOBILITY PLATFORM</a:t>
            </a:r>
          </a:p>
        </ns0:txBody>
      </ns0:sp>
      <ns0:sp>
        <ns0:nvSpPr>
          <ns0:cNvPr id="9904" name="rc4"/>
          <ns0:cNvSpPr/>
          <ns0:nvPr/>
        </ns0:nvSpPr>
        <ns0:spPr>
          <a:xfrm>
            <a:off x="548640" y="1960000"/>
            <a:ext cx="5468112" cy="9525"/>
          </a:xfrm>
          <a:prstGeom prst="rect">
            <a:avLst/>
          </a:prstGeom>
          <a:solidFill>
            <a:srgbClr val="1E276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905" name="tb5"/>
          <ns0:cNvSpPr txBox="1"/>
          <ns0:nvPr/>
        </ns0:nvSpPr>
        <ns0:spPr>
          <a:xfrm>
            <a:off x="6446520" y="1570000"/>
            <a:ext cx="4919472" cy="28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1E2761"/>
                </a:solidFill>
                <a:latin typeface="Georgia" pitchFamily="34" charset="0"/>
              </a:rPr>
              <a:t>SYNERGY WALK TO THE 20% HURDLE</a:t>
            </a:r>
          </a:p>
        </ns0:txBody>
      </ns0:sp>
      <ns0:sp>
        <ns0:nvSpPr>
          <ns0:cNvPr id="9906" name="rc6"/>
          <ns0:cNvSpPr/>
          <ns0:nvPr/>
        </ns0:nvSpPr>
        <ns0:spPr>
          <a:xfrm>
            <a:off x="6172200" y="1960000"/>
            <a:ext cx="5468112" cy="9525"/>
          </a:xfrm>
          <a:prstGeom prst="rect">
            <a:avLst/>
          </a:prstGeom>
          <a:solidFill>
            <a:srgbClr val="1E276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907" name="tb7"/>
          <ns0:cNvSpPr txBox="1"/>
          <ns0:nvPr/>
        </ns0:nvSpPr>
        <ns0:spPr>
          <a:xfrm>
            <a:off x="822960" y="2120000"/>
            <a:ext cx="4919472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1000" b="1" i="0" dirty="0">
                <a:solidFill>
                  <a:srgbClr val="1E2761"/>
                </a:solidFill>
                <a:latin typeface="Calibri" pitchFamily="34" charset="0"/>
              </a:rPr>
              <a:t>Certified HD maps &amp; MMS operations</a:t>
            </a:r>
          </a:p>
        </ns0:txBody>
      </ns0:sp>
      <ns0:sp>
        <ns0:nvSpPr>
          <ns0:cNvPr id="9908" name="tb8"/>
          <ns0:cNvSpPr txBox="1"/>
          <ns0:nvPr/>
        </ns0:nvSpPr>
        <ns0:spPr>
          <a:xfrm>
            <a:off x="822960" y="2370000"/>
            <a:ext cx="4919472" cy="5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00" b="0" i="0" dirty="0">
                <a:solidFill>
                  <a:srgbClr val="2A2A2A"/>
                </a:solidFill>
                <a:latin typeface="Calibri" pitchFamily="34" charset="0"/>
              </a:rPr>
              <a:t>Autoware-compatible high-precision 3D maps (AutowareMaps, co-developed 2018) and a national mobile-mapping fleet — the map layer a robotaxi ODD needs in Japan.</a:t>
            </a:r>
          </a:p>
        </ns0:txBody>
      </ns0:sp>
      <ns0:sp>
        <ns0:nvSpPr>
          <ns0:cNvPr id="9909" name="tb9"/>
          <ns0:cNvSpPr txBox="1"/>
          <ns0:nvPr/>
        </ns0:nvSpPr>
        <ns0:spPr>
          <a:xfrm>
            <a:off x="822960" y="3000000"/>
            <a:ext cx="4919472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1000" b="1" i="0" dirty="0">
                <a:solidFill>
                  <a:srgbClr val="1E2761"/>
                </a:solidFill>
                <a:latin typeface="Calibri" pitchFamily="34" charset="0"/>
              </a:rPr>
              <a:t>Level-4 systems-integration track record</a:t>
            </a:r>
          </a:p>
        </ns0:txBody>
      </ns0:sp>
      <ns0:sp>
        <ns0:nvSpPr>
          <ns0:cNvPr id="9910" name="tb10"/>
          <ns0:cNvSpPr txBox="1"/>
          <ns0:nvPr/>
        </ns0:nvSpPr>
        <ns0:spPr>
          <a:xfrm>
            <a:off x="822960" y="3250000"/>
            <a:ext cx="4919472" cy="5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00" b="0" i="0" dirty="0">
                <a:solidFill>
                  <a:srgbClr val="2A2A2A"/>
                </a:solidFill>
                <a:latin typeface="Calibri" pitchFamily="34" charset="0"/>
              </a:rPr>
              <a:t>Public-road remote-operation pilots (2017), AV-taxi pilot on JapanTaxi vehicles (2019) and nationwide AV-bus rollouts with Tier IV.</a:t>
            </a:r>
          </a:p>
        </ns0:txBody>
      </ns0:sp>
      <ns0:sp>
        <ns0:nvSpPr>
          <ns0:cNvPr id="9911" name="tb11"/>
          <ns0:cNvSpPr txBox="1"/>
          <ns0:nvPr/>
        </ns0:nvSpPr>
        <ns0:spPr>
          <a:xfrm>
            <a:off x="822960" y="3880000"/>
            <a:ext cx="4919472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1000" b="1" i="0" dirty="0">
                <a:solidFill>
                  <a:srgbClr val="1E2761"/>
                </a:solidFill>
                <a:latin typeface="Calibri" pitchFamily="34" charset="0"/>
              </a:rPr>
              <a:t>Public-sector &amp; municipal relationships</a:t>
            </a:r>
          </a:p>
        </ns0:txBody>
      </ns0:sp>
      <ns0:sp>
        <ns0:nvSpPr>
          <ns0:cNvPr id="9912" name="tb12"/>
          <ns0:cNvSpPr txBox="1"/>
          <ns0:nvPr/>
        </ns0:nvSpPr>
        <ns0:spPr>
          <a:xfrm>
            <a:off x="822960" y="4130000"/>
            <a:ext cx="4919472" cy="5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00" b="0" i="0" dirty="0">
                <a:solidFill>
                  <a:srgbClr val="2A2A2A"/>
                </a:solidFill>
                <a:latin typeface="Calibri" pitchFamily="34" charset="0"/>
              </a:rPr>
              <a:t>Surveying / GIS franchise across government bodies — the counterparties for Japan AV-transport deployments and rideshare regulation.</a:t>
            </a:r>
          </a:p>
        </ns0:txBody>
      </ns0:sp>
      <ns0:sp>
        <ns0:nvSpPr>
          <ns0:cNvPr id="9913" name="tb13"/>
          <ns0:cNvSpPr txBox="1"/>
          <ns0:nvPr/>
        </ns0:nvSpPr>
        <ns0:spPr>
          <a:xfrm>
            <a:off x="822960" y="4760000"/>
            <a:ext cx="4919472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1000" b="1" i="0" dirty="0">
                <a:solidFill>
                  <a:srgbClr val="1E2761"/>
                </a:solidFill>
                <a:latin typeface="Calibri" pitchFamily="34" charset="0"/>
              </a:rPr>
              <a:t>Tier IV / Autoware ecosystem alignment</a:t>
            </a:r>
          </a:p>
        </ns0:txBody>
      </ns0:sp>
      <ns0:sp>
        <ns0:nvSpPr>
          <ns0:cNvPr id="9914" name="tb14"/>
          <ns0:cNvSpPr txBox="1"/>
          <ns0:nvPr/>
        </ns0:nvSpPr>
        <ns0:spPr>
          <a:xfrm>
            <a:off x="822960" y="5010000"/>
            <a:ext cx="4919472" cy="5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00" b="0" i="0" dirty="0">
                <a:solidFill>
                  <a:srgbClr val="2A2A2A"/>
                </a:solidFill>
                <a:latin typeface="Calibri" pitchFamily="34" charset="0"/>
              </a:rPr>
              <a:t>Tier IV shareholder since 2017; the 9-10 Jun Tier IV listing-application news re-rated AISAN — the market already prices this linkage.</a:t>
            </a:r>
          </a:p>
        </ns0:txBody>
      </ns0:sp>
      <ns0:sp>
        <ns0:nvSpPr>
          <ns0:cNvPr id="9915" name="tb15"/>
          <ns0:cNvSpPr txBox="1"/>
          <ns0:nvPr/>
        </ns0:nvSpPr>
        <ns0:spPr>
          <a:xfrm>
            <a:off x="6446520" y="2120000"/>
            <a:ext cx="22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1E2761"/>
                </a:solidFill>
                <a:latin typeface="Calibri" pitchFamily="34" charset="0"/>
              </a:rPr>
              <a:t>Synergy EBITDA at exit</a:t>
            </a:r>
          </a:p>
        </ns0:txBody>
      </ns0:sp>
      <ns0:sp>
        <ns0:nvSpPr>
          <ns0:cNvPr id="9916" name="tb16"/>
          <ns0:cNvSpPr txBox="1"/>
          <ns0:nvPr/>
        </ns0:nvSpPr>
        <ns0:spPr>
          <a:xfrm>
            <a:off x="8746520" y="2120000"/>
            <a:ext cx="13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1E2761"/>
                </a:solidFill>
                <a:latin typeface="Calibri" pitchFamily="34" charset="0"/>
              </a:rPr>
              <a:t>Supportable offer</a:t>
            </a:r>
          </a:p>
        </ns0:txBody>
      </ns0:sp>
      <ns0:sp>
        <ns0:nvSpPr>
          <ns0:cNvPr id="9917" name="tb17"/>
          <ns0:cNvSpPr txBox="1"/>
          <ns0:nvPr/>
        </ns0:nvSpPr>
        <ns0:spPr>
          <a:xfrm>
            <a:off x="10146520" y="2120000"/>
            <a:ext cx="13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1E2761"/>
                </a:solidFill>
                <a:latin typeface="Calibri" pitchFamily="34" charset="0"/>
              </a:rPr>
              <a:t>Premium vs ¥1,680</a:t>
            </a:r>
          </a:p>
        </ns0:txBody>
      </ns0:sp>
      <ns0:sp>
        <ns0:nvSpPr>
          <ns0:cNvPr id="9918" name="rc18"/>
          <ns0:cNvSpPr/>
          <ns0:nvPr/>
        </ns0:nvSpPr>
        <ns0:spPr>
          <a:xfrm>
            <a:off x="6446520" y="2380000"/>
            <a:ext cx="4919472" cy="9525"/>
          </a:xfrm>
          <a:prstGeom prst="rect">
            <a:avLst/>
          </a:prstGeom>
          <a:solidFill>
            <a:srgbClr val="1E2761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919" name="tb19"/>
          <ns0:cNvSpPr txBox="1"/>
          <ns0:nvPr/>
        </ns0:nvSpPr>
        <ns0:spPr>
          <a:xfrm>
            <a:off x="6446520" y="2450000"/>
            <a:ext cx="22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2A2A2A"/>
                </a:solidFill>
                <a:latin typeface="Calibri" pitchFamily="34" charset="0"/>
              </a:rPr>
              <a:t>None (financial sponsor)</a:t>
            </a:r>
          </a:p>
        </ns0:txBody>
      </ns0:sp>
      <ns0:sp>
        <ns0:nvSpPr>
          <ns0:cNvPr id="9920" name="tb20"/>
          <ns0:cNvSpPr txBox="1"/>
          <ns0:nvPr/>
        </ns0:nvSpPr>
        <ns0:spPr>
          <a:xfrm>
            <a:off x="8746520" y="2450000"/>
            <a:ext cx="13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2A2A2A"/>
                </a:solidFill>
                <a:latin typeface="Calibri" pitchFamily="34" charset="0"/>
              </a:rPr>
              <a:t>¥2,116</a:t>
            </a:r>
          </a:p>
        </ns0:txBody>
      </ns0:sp>
      <ns0:sp>
        <ns0:nvSpPr>
          <ns0:cNvPr id="9921" name="tb21"/>
          <ns0:cNvSpPr txBox="1"/>
          <ns0:nvPr/>
        </ns0:nvSpPr>
        <ns0:spPr>
          <a:xfrm>
            <a:off x="10146520" y="2450000"/>
            <a:ext cx="13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2A2A2A"/>
                </a:solidFill>
                <a:latin typeface="Calibri" pitchFamily="34" charset="0"/>
              </a:rPr>
              <a:t>+25.9%</a:t>
            </a:r>
          </a:p>
        </ns0:txBody>
      </ns0:sp>
      <ns0:sp>
        <ns0:nvSpPr>
          <ns0:cNvPr id="9922" name="rc22"/>
          <ns0:cNvSpPr/>
          <ns0:nvPr/>
        </ns0:nvSpPr>
        <ns0:spPr>
          <a:xfrm>
            <a:off x="6446520" y="2700000"/>
            <a:ext cx="4919472" cy="6350"/>
          </a:xfrm>
          <a:prstGeom prst="rect">
            <a:avLst/>
          </a:prstGeom>
          <a:solidFill>
            <a:srgbClr val="D9D9D9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923" name="tb23"/>
          <ns0:cNvSpPr txBox="1"/>
          <ns0:nvPr/>
        </ns0:nvSpPr>
        <ns0:spPr>
          <a:xfrm>
            <a:off x="6446520" y="2780000"/>
            <a:ext cx="22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1E2761"/>
                </a:solidFill>
                <a:latin typeface="Calibri" pitchFamily="34" charset="0"/>
              </a:rPr>
              <a:t>~¥0.24bn — required</a:t>
            </a:r>
          </a:p>
        </ns0:txBody>
      </ns0:sp>
      <ns0:sp>
        <ns0:nvSpPr>
          <ns0:cNvPr id="9924" name="tb24"/>
          <ns0:cNvSpPr txBox="1"/>
          <ns0:nvPr/>
        </ns0:nvSpPr>
        <ns0:spPr>
          <a:xfrm>
            <a:off x="8746520" y="2780000"/>
            <a:ext cx="13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1E2761"/>
                </a:solidFill>
                <a:latin typeface="Calibri" pitchFamily="34" charset="0"/>
              </a:rPr>
              <a:t>¥2,302</a:t>
            </a:r>
          </a:p>
        </ns0:txBody>
      </ns0:sp>
      <ns0:sp>
        <ns0:nvSpPr>
          <ns0:cNvPr id="9925" name="tb25"/>
          <ns0:cNvSpPr txBox="1"/>
          <ns0:nvPr/>
        </ns0:nvSpPr>
        <ns0:spPr>
          <a:xfrm>
            <a:off x="10146520" y="2780000"/>
            <a:ext cx="13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1" i="0" dirty="0">
                <a:solidFill>
                  <a:srgbClr val="1E2761"/>
                </a:solidFill>
                <a:latin typeface="Calibri" pitchFamily="34" charset="0"/>
              </a:rPr>
              <a:t>+37.0%</a:t>
            </a:r>
          </a:p>
        </ns0:txBody>
      </ns0:sp>
      <ns0:sp>
        <ns0:nvSpPr>
          <ns0:cNvPr id="9926" name="rc26"/>
          <ns0:cNvSpPr/>
          <ns0:nvPr/>
        </ns0:nvSpPr>
        <ns0:spPr>
          <a:xfrm>
            <a:off x="6446520" y="3030000"/>
            <a:ext cx="4919472" cy="6350"/>
          </a:xfrm>
          <a:prstGeom prst="rect">
            <a:avLst/>
          </a:prstGeom>
          <a:solidFill>
            <a:srgbClr val="D9D9D9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927" name="tb27"/>
          <ns0:cNvSpPr txBox="1"/>
          <ns0:nvPr/>
        </ns0:nvSpPr>
        <ns0:spPr>
          <a:xfrm>
            <a:off x="6446520" y="3110000"/>
            <a:ext cx="22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2A2A2A"/>
                </a:solidFill>
                <a:latin typeface="Calibri" pitchFamily="34" charset="0"/>
              </a:rPr>
              <a:t>~¥0.5bn — stretch</a:t>
            </a:r>
          </a:p>
        </ns0:txBody>
      </ns0:sp>
      <ns0:sp>
        <ns0:nvSpPr>
          <ns0:cNvPr id="9928" name="tb28"/>
          <ns0:cNvSpPr txBox="1"/>
          <ns0:nvPr/>
        </ns0:nvSpPr>
        <ns0:spPr>
          <a:xfrm>
            <a:off x="8746520" y="3110000"/>
            <a:ext cx="13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2A2A2A"/>
                </a:solidFill>
                <a:latin typeface="Calibri" pitchFamily="34" charset="0"/>
              </a:rPr>
              <a:t>¥2,496</a:t>
            </a:r>
          </a:p>
        </ns0:txBody>
      </ns0:sp>
      <ns0:sp>
        <ns0:nvSpPr>
          <ns0:cNvPr id="9929" name="tb29"/>
          <ns0:cNvSpPr txBox="1"/>
          <ns0:nvPr/>
        </ns0:nvSpPr>
        <ns0:spPr>
          <a:xfrm>
            <a:off x="10146520" y="3110000"/>
            <a:ext cx="1300000" cy="24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50" b="0" i="0" dirty="0">
                <a:solidFill>
                  <a:srgbClr val="2A2A2A"/>
                </a:solidFill>
                <a:latin typeface="Calibri" pitchFamily="34" charset="0"/>
              </a:rPr>
              <a:t>+48.6%</a:t>
            </a:r>
          </a:p>
        </ns0:txBody>
      </ns0:sp>
      <ns0:sp>
        <ns0:nvSpPr>
          <ns0:cNvPr id="9930" name="rc30"/>
          <ns0:cNvSpPr/>
          <ns0:nvPr/>
        </ns0:nvSpPr>
        <ns0:spPr>
          <a:xfrm>
            <a:off x="6446520" y="3360000"/>
            <a:ext cx="4919472" cy="6350"/>
          </a:xfrm>
          <a:prstGeom prst="rect">
            <a:avLst/>
          </a:prstGeom>
          <a:solidFill>
            <a:srgbClr val="D9D9D9"/>
          </a:solidFill>
          <a:ln>
            <a:noFill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931" name="tb31"/>
          <ns0:cNvSpPr txBox="1"/>
          <ns0:nvPr/>
        </ns0:nvSpPr>
        <ns0:spPr>
          <a:xfrm>
            <a:off x="6446520" y="3530000"/>
            <a:ext cx="4919472" cy="50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00" b="0" i="0" dirty="0">
                <a:solidFill>
                  <a:srgbClr val="2A2A2A"/>
                </a:solidFill>
                <a:latin typeface="Calibri" pitchFamily="34" charset="0"/>
              </a:rPr>
              <a:t>Required synergy ≈ ¥244mm at exit — ~17% of FY31E EBITDA, ~2.5% of FY31E revenue. It closes exactly the gap between the walk-to-price (¥2,116) and the indicative +37% offer (¥2,302).</a:t>
            </a:r>
          </a:p>
        </ns0:txBody>
      </ns0:sp>
      <ns0:sp>
        <ns0:nvSpPr>
          <ns0:cNvPr id="9932" name="tb32"/>
          <ns0:cNvSpPr txBox="1"/>
          <ns0:nvPr/>
        </ns0:nvSpPr>
        <ns0:spPr>
          <a:xfrm>
            <a:off x="6446520" y="4100000"/>
            <a:ext cx="4919472" cy="70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900" b="0" i="1" dirty="0">
                <a:solidFill>
                  <a:srgbClr val="5B6485"/>
                </a:solidFill>
                <a:latin typeface="Calibri" pitchFamily="34" charset="0"/>
              </a:rPr>
              <a:t>Illustrative synergy sources: HD-map licensing &amp; maintenance for robotaxi ODDs · mapping-as-a-service for fleet ops · joint municipal AV-transport projects · Level-4 SI for platform pilots.</a:t>
            </a:r>
          </a:p>
        </ns0:txBody>
      </ns0:sp>
      <ns0:sp>
        <ns0:nvSpPr>
          <ns0:cNvPr id="9933" name="rc33"/>
          <ns0:cNvSpPr/>
          <ns0:nvPr/>
        </ns0:nvSpPr>
        <ns0:spPr>
          <a:xfrm>
            <a:off x="548640" y="5900000"/>
            <a:ext cx="11091672" cy="330000"/>
          </a:xfrm>
          <a:prstGeom prst="rect">
            <a:avLst/>
          </a:prstGeom>
          <a:solidFill>
            <a:srgbClr val="F7F7F7"/>
          </a:solidFill>
          <a:ln w="6350">
            <a:solidFill>
              <a:srgbClr val="D9D9D9"/>
            </a:solidFill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934" name="tb34"/>
          <ns0:cNvSpPr txBox="1"/>
          <ns0:nvPr/>
        </ns0:nvSpPr>
        <ns0:spPr>
          <a:xfrm>
            <a:off x="822960" y="5985000"/>
            <a:ext cx="10500000" cy="22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1000" b="1" i="0" dirty="0">
                <a:solidFill>
                  <a:srgbClr val="1E2761"/>
                </a:solidFill>
                <a:latin typeface="Calibri" pitchFamily="34" charset="0"/>
              </a:rPr>
              <a:t>Takeaway: a platform owner can bridge the hurdle gap with identifiable synergies a financial sponsor cannot underwrite — gating DD and price discipline (no full synergy give-away) still apply.</a:t>
            </a:r>
          </a:p>
        </ns0:txBody>
      </ns0:sp>
      <ns0:sp>
        <ns0:nvSpPr>
          <ns0:cNvPr id="9935" name="tb35"/>
          <ns0:cNvSpPr txBox="1"/>
          <ns0:nvPr/>
        </ns0:nvSpPr>
        <ns0:spPr>
          <a:xfrm>
            <a:off x="503000" y="6330000"/>
            <a:ext cx="11000000" cy="160000"/>
          </a:xfrm>
          <a:prstGeom prst="rect">
            <a:avLst/>
          </a:prstGeom>
          <a:noFill/>
        </ns0:spPr>
        <ns0:txBody>
          <a:bodyPr wrap="square" lIns="0" tIns="0" rIns="0" bIns="0"/>
          <a:lstStyle/>
          <a:p>
            <a:pPr marL="0" indent="0" algn="l">
              <a:buNone/>
            </a:pPr>
            <a:r>
              <a:rPr lang="en-US" sz="700" b="0" i="1" dirty="0">
                <a:solidFill>
                  <a:srgbClr val="7F7F7F"/>
                </a:solidFill>
                <a:latin typeface="Calibri" pitchFamily="34" charset="0"/>
              </a:rPr>
              <a:t>Source: company IR / Tier IV disclosures (2017 investment; AutowareMaps 2018; AV-taxi pilot 2019; AV-bus rollouts); public robotaxi-programme reporting (2025-26); accompanying Excel model (Scenarios — synergy walk).</a:t>
            </a:r>
          </a:p>
        </ns0:txBody>
      </ns0:sp>
      <ns0:sp>
        <ns0:nvSpPr>
          <ns0:cNvPr id="33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4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ns0:txBody>
      </ns0:sp>
    </ns0:spTree>
  </ns0:cSld>
  <ns0:clrMapOvr>
    <a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Investment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Measure — AISAN TECHNOLOGY Take-Private</dc:title>
  <dc:subject>Take-Private (LBO) Case Study — AISAN TECHNOLOGY (TSE 4667)</dc:subject>
  <dc:creator>Investment Team</dc:creator>
  <cp:lastModifiedBy>Investment Team</cp:lastModifiedBy>
  <cp:revision>1</cp:revision>
  <dcterms:created xsi:type="dcterms:W3CDTF">2026-06-07T12:40:10Z</dcterms:created>
  <dcterms:modified xsi:type="dcterms:W3CDTF">2026-06-07T12:40:10Z</dcterms:modified>
</cp:coreProperties>
</file>