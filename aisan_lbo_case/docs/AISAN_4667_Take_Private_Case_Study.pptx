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24"/>
    <p:sldId id="275" r:id="rId10"/>
    <p:sldId id="265" r:id="rId11"/>
    <p:sldId id="266" r:id="rId12"/>
    <p:sldId id="267" r:id="rId13"/>
    <p:sldId id="274" r:id="rId25"/>
    <p:sldId id="276" r:id="rId26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9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FY24A</c:v>
                  </c:pt>
                  <c:pt idx="1">
                    <c:v>FY25A</c:v>
                  </c:pt>
                  <c:pt idx="2">
                    <c:v>FY26E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5.48</c:v>
                </c:pt>
                <c:pt idx="1">
                  <c:v>6.22</c:v>
                </c:pt>
                <c:pt idx="2">
                  <c:v>7.2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05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FY24A</c:v>
                  </c:pt>
                  <c:pt idx="1">
                    <c:v>FY25A</c:v>
                  </c:pt>
                  <c:pt idx="2">
                    <c:v>FY26E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5479</c:v>
                </c:pt>
                <c:pt idx="1">
                  <c:v>6221</c:v>
                </c:pt>
                <c:pt idx="2">
                  <c:v>7200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rgbClr val="C8A9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05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FY24A</c:v>
                  </c:pt>
                  <c:pt idx="1">
                    <c:v>FY25A</c:v>
                  </c:pt>
                  <c:pt idx="2">
                    <c:v>FY26E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450</c:v>
                </c:pt>
                <c:pt idx="1">
                  <c:v>449</c:v>
                </c:pt>
                <c:pt idx="2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405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7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B64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Ownership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A951"/>
              </a:solidFill>
              <a:effectLst/>
            </c:spPr>
          </c:dPt>
          <c:dPt>
            <c:idx val="1"/>
            <c:bubble3D val="0"/>
            <c:spPr>
              <a:solidFill>
                <a:srgbClr val="D9DEE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76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76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Founder family</c:v>
                </c:pt>
                <c:pt idx="1">
                  <c:v>Other / free float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18.5</c:v>
                </c:pt>
                <c:pt idx="1">
                  <c:v>81.5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senior term loan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Sources</c:v>
                  </c:pt>
                  <c:pt idx="1">
                    <c:v>Uses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Excess balance-sheet cash</c:v>
                </c:pt>
              </c:strCache>
            </c:strRef>
          </c:tx>
          <c:spPr>
            <a:solidFill>
              <a:srgbClr val="C8A9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Sources</c:v>
                  </c:pt>
                  <c:pt idx="1">
                    <c:v>Uses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3.4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Sponsor equity</c:v>
                </c:pt>
              </c:strCache>
            </c:strRef>
          </c:tx>
          <c:spPr>
            <a:solidFill>
              <a:srgbClr val="A9BC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Sources</c:v>
                  </c:pt>
                  <c:pt idx="1">
                    <c:v>Uses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8.45</c:v>
                </c:pt>
                <c:pt idx="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Equity purchase</c:v>
                </c:pt>
              </c:strCache>
            </c:strRef>
          </c:tx>
          <c:spPr>
            <a:solidFill>
              <a:srgbClr val="2A34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Sources</c:v>
                  </c:pt>
                  <c:pt idx="1">
                    <c:v>Uses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12.15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Refi debt &amp; fees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Sources</c:v>
                  </c:pt>
                  <c:pt idx="1">
                    <c:v>Uses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.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B64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405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  <c:pt idx="5">
                    <c:v>FY31E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7200</c:v>
                </c:pt>
                <c:pt idx="1">
                  <c:v>7704</c:v>
                </c:pt>
                <c:pt idx="2">
                  <c:v>8243</c:v>
                </c:pt>
                <c:pt idx="3">
                  <c:v>8738</c:v>
                </c:pt>
                <c:pt idx="4">
                  <c:v>9262</c:v>
                </c:pt>
                <c:pt idx="5">
                  <c:v>9725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C8A9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405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  <c:pt idx="5">
                    <c:v>FY31E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800</c:v>
                </c:pt>
                <c:pt idx="1">
                  <c:v>919</c:v>
                </c:pt>
                <c:pt idx="2">
                  <c:v>1044</c:v>
                </c:pt>
                <c:pt idx="3">
                  <c:v>1179</c:v>
                </c:pt>
                <c:pt idx="4">
                  <c:v>1306</c:v>
                </c:pt>
                <c:pt idx="5">
                  <c:v>1432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405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4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B64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3.png"/><Relationship Id="rId5" Type="http://schemas.openxmlformats.org/officeDocument/2006/relationships/image" Target="../media/image-14-3.png"/><Relationship Id="rId6" Type="http://schemas.openxmlformats.org/officeDocument/2006/relationships/image" Target="../media/image-14-3.png"/><Relationship Id="rId7" Type="http://schemas.openxmlformats.org/officeDocument/2006/relationships/image" Target="../media/image-14-3.png"/><Relationship Id="rId8" Type="http://schemas.openxmlformats.org/officeDocument/2006/relationships/image" Target="../media/image-14-3.png"/><Relationship Id="rId9" Type="http://schemas.openxmlformats.org/officeDocument/2006/relationships/image" Target="../media/image-14-3.png"/><Relationship Id="rId10" Type="http://schemas.openxmlformats.org/officeDocument/2006/relationships/image" Target="../media/image-14-3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583680" cy="6583680"/>
          </a:xfrm>
          <a:prstGeom prst="ellipse">
            <a:avLst/>
          </a:prstGeom>
          <a:ln w="15240">
            <a:solidFill>
              <a:srgbClr val="2A347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937760" cy="4937760"/>
          </a:xfrm>
          <a:prstGeom prst="ellipse">
            <a:avLst/>
          </a:prstGeom>
          <a:ln w="12700">
            <a:solidFill>
              <a:srgbClr val="2A347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15600" y="-457200"/>
            <a:ext cx="3291840" cy="3291840"/>
          </a:xfrm>
          <a:prstGeom prst="ellipse">
            <a:avLst/>
          </a:prstGeom>
          <a:ln w="12700">
            <a:solidFill>
              <a:srgbClr val="C8A95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914400"/>
            <a:ext cx="1828800" cy="64008"/>
          </a:xfrm>
          <a:prstGeom prst="roundRect">
            <a:avLst>
              <a:gd name="adj" fmla="val 85714"/>
            </a:avLst>
          </a:prstGeom>
          <a:solidFill>
            <a:srgbClr val="C8A95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AISAN TECHNOLOGY CO., LTD.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Take-Private (LBO) Case Study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STANDARD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4416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4667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364992" y="4206240"/>
            <a:ext cx="0" cy="50292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2044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4416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Nagoya, Japan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062472" y="4206240"/>
            <a:ext cx="0" cy="50292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0" y="4416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1970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759952" y="4206240"/>
            <a:ext cx="0" cy="50292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1540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15400" y="4416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Geospatial software / HD maps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321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Recommendation, business &amp; industry analysis · projections &amp; returns · value-up theses · key DD items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Private &amp; Confidential  ·  Prepared for the Investment Committee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2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 &amp; Recommendation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interesting, but an active subsidiary investigation and sub-hurdle returns make a bid premature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371600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Shape 4"/>
          <ns0:cNvSpPr/>
          <ns0:nvPr/>
        </ns0:nvSpPr>
        <ns0:spPr>
          <a:xfrm>
            <a:off x="868680" y="1591056"/>
            <a:ext cx="640080" cy="640080"/>
          </a:xfrm>
          <a:prstGeom prst="ellipse">
            <a:avLst/>
          </a:prstGeom>
          <a:solidFill>
            <a:srgbClr val="C8A95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7" name="Image 0" descr="assets/warning_navy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035101" y="1757477"/>
            <a:ext cx="307238" cy="307238"/>
          </a:xfrm>
          <a:prstGeom prst="rect">
            <a:avLst/>
          </a:prstGeom>
        </ns0:spPr>
      </ns0:pic>
      <ns0:sp>
        <ns0:nvSpPr>
          <ns0:cNvPr id="8" name="Text 5"/>
          <ns0:cNvSpPr/>
          <ns0:nvPr/>
        </ns0:nvSpPr>
        <ns0:spPr>
          <a:xfrm>
            <a:off x="1645920" y="1463040"/>
            <a:ext cx="9784080" cy="9144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early; proceed to confirmatory DD only. </a:t>
            </a:r>
            <a:pPr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bid pending the investigation report, audited / restated FY2026 financials, QoE, cash-availability analysis and clean re-underwriting.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3 Apr 2026 AISAN set up a special committee after suspected forgery, concealment and improper transactions at a 100%-owned subsidiary; the FY26 impact is undetermined. Even on pre-restatement figures, base-case returns are ~15.6% IRR / 2.1x — below a typical PE hurdle.</a:t>
            </a:r>
            <a:endParaRPr lang="en-US" sz="1100" dirty="0"/>
          </a:p>
        </ns0:txBody>
      </ns0:sp>
      <ns0:sp>
        <ns0:nvSpPr>
          <ns0:cNvPr id="9" name="Shape 6"/>
          <ns0:cNvSpPr/>
          <ns0:nvPr/>
        </ns0:nvSpPr>
        <ns0:spPr>
          <a:xfrm>
            <a:off x="548640" y="2697480"/>
            <a:ext cx="267004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0" name="Shape 7"/>
          <ns0:cNvSpPr/>
          <ns0:nvPr/>
        </ns0:nvSpPr>
        <ns0:spPr>
          <a:xfrm>
            <a:off x="749808" y="2916936"/>
            <a:ext cx="512064" cy="512064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11" name="Image 1" descr="assets/chart_navy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882945" y="3050073"/>
            <a:ext cx="245791" cy="245791"/>
          </a:xfrm>
          <a:prstGeom prst="rect">
            <a:avLst/>
          </a:prstGeom>
        </ns0:spPr>
      </ns0:pic>
      <ns0:sp>
        <ns0:nvSpPr>
          <ns0:cNvPr id="12" name="Text 8"/>
          <ns0:cNvSpPr/>
          <ns0:nvPr/>
        </ns0:nvSpPr>
        <ns0:spPr>
          <a:xfrm>
            <a:off x="1371600" y="2935224"/>
            <a:ext cx="175564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IRR</a:t>
            </a:r>
            <a:endParaRPr lang="en-US" sz="950" dirty="0"/>
          </a:p>
        </ns0:txBody>
      </ns0:sp>
      <ns0:sp>
        <ns0:nvSpPr>
          <ns0:cNvPr id="13" name="Text 9"/>
          <ns0:cNvSpPr/>
          <ns0:nvPr/>
        </ns0:nvSpPr>
        <ns0:spPr>
          <a:xfrm>
            <a:off x="749808" y="3374136"/>
            <a:ext cx="230428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15.6%</a:t>
            </a:r>
            <a:endParaRPr lang="en-US" sz="3000" dirty="0"/>
          </a:p>
        </ns0:txBody>
      </ns0:sp>
      <ns0:sp>
        <ns0:nvSpPr>
          <ns0:cNvPr id="14" name="Text 10"/>
          <ns0:cNvSpPr/>
          <ns0:nvPr/>
        </ns0:nvSpPr>
        <ns0:spPr>
          <a:xfrm>
            <a:off x="749808" y="3867912"/>
            <a:ext cx="230428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2.07x · 5-yr hold</a:t>
            </a:r>
            <a:endParaRPr lang="en-US" sz="950" dirty="0"/>
          </a:p>
        </ns0:txBody>
      </ns0:sp>
      <ns0:sp>
        <ns0:nvSpPr>
          <ns0:cNvPr id="15" name="Shape 11"/>
          <ns0:cNvSpPr/>
          <ns0:nvPr/>
        </ns0:nvSpPr>
        <ns0:spPr>
          <a:xfrm>
            <a:off x="3346704" y="2697480"/>
            <a:ext cx="267004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6" name="Shape 12"/>
          <ns0:cNvSpPr/>
          <ns0:nvPr/>
        </ns0:nvSpPr>
        <ns0:spPr>
          <a:xfrm>
            <a:off x="3547872" y="2916936"/>
            <a:ext cx="512064" cy="512064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17" name="Image 2" descr="assets/money_gol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3681009" y="3050073"/>
            <a:ext cx="245791" cy="245791"/>
          </a:xfrm>
          <a:prstGeom prst="rect">
            <a:avLst/>
          </a:prstGeom>
        </ns0:spPr>
      </ns0:pic>
      <ns0:sp>
        <ns0:nvSpPr>
          <ns0:cNvPr id="18" name="Text 13"/>
          <ns0:cNvSpPr/>
          <ns0:nvPr/>
        </ns0:nvSpPr>
        <ns0:spPr>
          <a:xfrm>
            <a:off x="4169664" y="2935224"/>
            <a:ext cx="175564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/ SHARE</a:t>
            </a:r>
            <a:endParaRPr lang="en-US" sz="950" dirty="0"/>
          </a:p>
        </ns0:txBody>
      </ns0:sp>
      <ns0:sp>
        <ns0:nvSpPr>
          <ns0:cNvPr id="19" name="Text 14"/>
          <ns0:cNvSpPr/>
          <ns0:nvPr/>
        </ns0:nvSpPr>
        <ns0:spPr>
          <a:xfrm>
            <a:off x="3547872" y="3374136"/>
            <a:ext cx="230428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¥2,302</a:t>
            </a:r>
            <a:endParaRPr lang="en-US" sz="3000" dirty="0"/>
          </a:p>
        </ns0:txBody>
      </ns0:sp>
      <ns0:sp>
        <ns0:nvSpPr>
          <ns0:cNvPr id="20" name="Text 15"/>
          <ns0:cNvSpPr/>
          <ns0:nvPr/>
        </ns0:nvSpPr>
        <ns0:spPr>
          <a:xfrm>
            <a:off x="3547872" y="3867912"/>
            <a:ext cx="230428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 to ¥1,680 ref / +29% to pre-news ¥1,780</a:t>
            </a:r>
            <a:endParaRPr lang="en-US" sz="950" dirty="0"/>
          </a:p>
        </ns0:txBody>
      </ns0:sp>
      <ns0:sp>
        <ns0:nvSpPr>
          <ns0:cNvPr id="21" name="Shape 16"/>
          <ns0:cNvSpPr/>
          <ns0:nvPr/>
        </ns0:nvSpPr>
        <ns0:spPr>
          <a:xfrm>
            <a:off x="6144768" y="2697480"/>
            <a:ext cx="267004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2" name="Shape 17"/>
          <ns0:cNvSpPr/>
          <ns0:nvPr/>
        </ns0:nvSpPr>
        <ns0:spPr>
          <a:xfrm>
            <a:off x="6345936" y="2916936"/>
            <a:ext cx="512064" cy="512064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23" name="Image 3" descr="assets/warning_gold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6479073" y="3050073"/>
            <a:ext cx="245791" cy="245791"/>
          </a:xfrm>
          <a:prstGeom prst="rect">
            <a:avLst/>
          </a:prstGeom>
        </ns0:spPr>
      </ns0:pic>
      <ns0:sp>
        <ns0:nvSpPr>
          <ns0:cNvPr id="24" name="Text 18"/>
          <ns0:cNvSpPr/>
          <ns0:nvPr/>
        </ns0:nvSpPr>
        <ns0:spPr>
          <a:xfrm>
            <a:off x="6967728" y="2935224"/>
            <a:ext cx="175564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ITEM</a:t>
            </a:r>
            <a:endParaRPr lang="en-US" sz="950" dirty="0"/>
          </a:p>
        </ns0:txBody>
      </ns0:sp>
      <ns0:sp>
        <ns0:nvSpPr>
          <ns0:cNvPr id="25" name="Text 19"/>
          <ns0:cNvSpPr/>
          <ns0:nvPr/>
        </ns0:nvSpPr>
        <ns0:spPr>
          <a:xfrm>
            <a:off x="6345936" y="3374136"/>
            <a:ext cx="230428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probe</a:t>
            </a:r>
            <a:endParaRPr lang="en-US" sz="2300" dirty="0"/>
          </a:p>
        </ns0:txBody>
      </ns0:sp>
      <ns0:sp>
        <ns0:nvSpPr>
          <ns0:cNvPr id="26" name="Text 20"/>
          <ns0:cNvSpPr/>
          <ns0:nvPr/>
        </ns0:nvSpPr>
        <ns0:spPr>
          <a:xfrm>
            <a:off x="6345936" y="3867912"/>
            <a:ext cx="230428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100%-sub special investigation</a:t>
            </a:r>
            <a:endParaRPr lang="en-US" sz="950" dirty="0"/>
          </a:p>
        </ns0:txBody>
      </ns0:sp>
      <ns0:sp>
        <ns0:nvSpPr>
          <ns0:cNvPr id="27" name="Shape 21"/>
          <ns0:cNvSpPr/>
          <ns0:nvPr/>
        </ns0:nvSpPr>
        <ns0:spPr>
          <a:xfrm>
            <a:off x="8942832" y="2697480"/>
            <a:ext cx="267004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8" name="Shape 22"/>
          <ns0:cNvSpPr/>
          <ns0:nvPr/>
        </ns0:nvSpPr>
        <ns0:spPr>
          <a:xfrm>
            <a:off x="9144000" y="2916936"/>
            <a:ext cx="512064" cy="512064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29" name="Image 4" descr="assets/coins_gold.png">    </ns0:cNvPr>
          <ns0:cNvPicPr>
            <a:picLocks noChangeAspect="1"/>
          </ns0:cNvPicPr>
          <ns0:nvPr/>
        </ns0:nvPicPr>
        <ns0:blipFill>
          <a:blip ns2:embed="rId5"/>
          <a:stretch>
            <a:fillRect/>
          </a:stretch>
        </ns0:blipFill>
        <ns0:spPr>
          <a:xfrm>
            <a:off x="9277137" y="3050073"/>
            <a:ext cx="245791" cy="245791"/>
          </a:xfrm>
          <a:prstGeom prst="rect">
            <a:avLst/>
          </a:prstGeom>
        </ns0:spPr>
      </ns0:pic>
      <ns0:sp>
        <ns0:nvSpPr>
          <ns0:cNvPr id="30" name="Text 23"/>
          <ns0:cNvSpPr/>
          <ns0:nvPr/>
        </ns0:nvSpPr>
        <ns0:spPr>
          <a:xfrm>
            <a:off x="9765792" y="2935224"/>
            <a:ext cx="175564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</a:t>
            </a:r>
            <a:endParaRPr lang="en-US" sz="950" dirty="0"/>
          </a:p>
        </ns0:txBody>
      </ns0:sp>
      <ns0:sp>
        <ns0:nvSpPr>
          <ns0:cNvPr id="31" name="Text 24"/>
          <ns0:cNvSpPr/>
          <ns0:nvPr/>
        </ns0:nvSpPr>
        <ns0:spPr>
          <a:xfrm>
            <a:off x="9144000" y="3374136"/>
            <a:ext cx="230428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¥4.1bn</a:t>
            </a:r>
            <a:endParaRPr lang="en-US" sz="3000" dirty="0"/>
          </a:p>
        </ns0:txBody>
      </ns0:sp>
      <ns0:sp>
        <ns0:nvSpPr>
          <ns0:cNvPr id="32" name="Text 25"/>
          <ns0:cNvSpPr/>
          <ns0:nvPr/>
        </ns0:nvSpPr>
        <ns0:spPr>
          <a:xfrm>
            <a:off x="9144000" y="3867912"/>
            <a:ext cx="230428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≈44% of mkt cap; reliability TBC</a:t>
            </a:r>
            <a:endParaRPr lang="en-US" sz="950" dirty="0"/>
          </a:p>
        </ns0:txBody>
      </ns0:sp>
      <ns0:sp>
        <ns0:nvSpPr>
          <ns0:cNvPr id="33" name="Shape 26"/>
          <ns0:cNvSpPr/>
          <ns0:nvPr/>
        </ns0:nvSpPr>
        <ns0:spPr>
          <a:xfrm>
            <a:off x="548640" y="4370832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4" name="Shape 27"/>
          <ns0:cNvSpPr/>
          <ns0:nvPr/>
        </ns0:nvSpPr>
        <ns0:spPr>
          <a:xfrm>
            <a:off x="548640" y="4370832"/>
            <a:ext cx="91440" cy="1828800"/>
          </a:xfrm>
          <a:prstGeom prst="roundRect">
            <a:avLst>
              <a:gd name="adj" fmla="val 60000"/>
            </a:avLst>
          </a:prstGeom>
          <a:solidFill>
            <a:srgbClr val="2E7D52"/>
          </a:solidFill>
          <a:ln/>
        </ns0:spPr>
        <ns0:txBody>
          <a:bodyPr/>
          <a:p/>
        </ns0:txBody>
      </ns0:sp>
      <ns0:sp>
        <ns0:nvSpPr>
          <ns0:cNvPr id="35" name="Text 28"/>
          <ns0:cNvSpPr/>
          <ns0:nvPr/>
        </ns0:nvSpPr>
        <ns0:spPr>
          <a:xfrm>
            <a:off x="822960" y="4517136"/>
            <a:ext cx="501091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ATTRACTIONS</a:t>
            </a:r>
            <a:endParaRPr lang="en-US" sz="1100" dirty="0"/>
          </a:p>
        </ns0:txBody>
      </ns0:sp>
      <ns0:sp>
        <ns0:nvSpPr>
          <ns0:cNvPr id="36" name="Text 29"/>
          <ns0:cNvSpPr/>
          <ns0:nvPr/>
        </ns0:nvSpPr>
        <ns0:spPr>
          <a:xfrm>
            <a:off x="868680" y="4882896"/>
            <a:ext cx="4919472" cy="12344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Sticky, high-margin surveying-software core (cash cow; recurring mix TBC)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Over-capitalised balance sheet: ~¥4.1bn net cash; deployment assumed in base case — returns fall to ~12%/~8% if not (DD item)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related holders ~18.5% (reported) may support a take-private if aligned — willingness and roll-over economics are DD items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HD-map &amp; Level-4 autonomous-driving optionality for a strategic exit</a:t>
            </a:r>
            <a:endParaRPr lang="en-US" sz="1150" dirty="0"/>
          </a:p>
        </ns0:txBody>
      </ns0:sp>
      <ns0:sp>
        <ns0:nvSpPr>
          <ns0:cNvPr id="37" name="Shape 30"/>
          <ns0:cNvSpPr/>
          <ns0:nvPr/>
        </ns0:nvSpPr>
        <ns0:spPr>
          <a:xfrm>
            <a:off x="6172200" y="4370832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8" name="Shape 31"/>
          <ns0:cNvSpPr/>
          <ns0:nvPr/>
        </ns0:nvSpPr>
        <ns0:spPr>
          <a:xfrm>
            <a:off x="6172200" y="4370832"/>
            <a:ext cx="91440" cy="1828800"/>
          </a:xfrm>
          <a:prstGeom prst="roundRect">
            <a:avLst>
              <a:gd name="adj" fmla="val 60000"/>
            </a:avLst>
          </a:prstGeom>
          <a:solidFill>
            <a:srgbClr val="B5462F"/>
          </a:solidFill>
          <a:ln/>
        </ns0:spPr>
        <ns0:txBody>
          <a:bodyPr/>
          <a:p/>
        </ns0:txBody>
      </ns0:sp>
      <ns0:sp>
        <ns0:nvSpPr>
          <ns0:cNvPr id="39" name="Text 32"/>
          <ns0:cNvSpPr/>
          <ns0:nvPr/>
        </ns0:nvSpPr>
        <ns0:spPr>
          <a:xfrm>
            <a:off x="6446520" y="4517136"/>
            <a:ext cx="501091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NOW</a:t>
            </a:r>
            <a:endParaRPr lang="en-US" sz="1100" dirty="0"/>
          </a:p>
        </ns0:txBody>
      </ns0:sp>
      <ns0:sp>
        <ns0:nvSpPr>
          <ns0:cNvPr id="40" name="Text 33"/>
          <ns0:cNvSpPr/>
          <ns0:nvPr/>
        </ns0:nvSpPr>
        <ns0:spPr>
          <a:xfrm>
            <a:off x="6492240" y="4882896"/>
            <a:ext cx="4919472" cy="12344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Subsidiary (Akisoku) under special investigation — suspected forgery / concealment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unreliable until restated; FY26 results formally delayed (30-Apr-26 notice), revision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IRR ~15.6% (upside ~21%, downside a capital loss) — below a clean 20% PE hurdle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 Q4-weighted revenue; loss-making Mobility; thin Standard float</a:t>
            </a:r>
            <a:endParaRPr lang="en-US" sz="1150" dirty="0"/>
          </a:p>
        </ns0:txBody>
      </ns0:sp>
      <ns0:sp>
        <ns0:nvSpPr>
          <ns0:cNvPr id="41" name="Text 34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42" name="Text 35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3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3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Highlights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reasons AISAN screens as a differentiated take-private opportunity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Shape 4"/>
          <ns0:cNvSpPr/>
          <ns0:nvPr/>
        </ns0:nvSpPr>
        <ns0:spPr>
          <a:xfrm>
            <a:off x="777240" y="1591056"/>
            <a:ext cx="566928" cy="566928"/>
          </a:xfrm>
          <a:prstGeom prst="ellipse">
            <a:avLst/>
          </a:prstGeom>
          <a:solidFill>
            <a:srgbClr val="2E7D52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7" name="Image 0" descr="assets/shield_white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924641" y="1738457"/>
            <a:ext cx="272125" cy="272125"/>
          </a:xfrm>
          <a:prstGeom prst="rect">
            <a:avLst/>
          </a:prstGeom>
        </ns0:spPr>
      </ns0:pic>
      <ns0:sp>
        <ns0:nvSpPr>
          <ns0:cNvPr id="8" name="Text 5"/>
          <ns0:cNvSpPr/>
          <ns0:nvPr/>
        </ns0:nvSpPr>
        <ns0:spPr>
          <a:xfrm>
            <a:off x="1481328" y="1527048"/>
            <a:ext cx="6400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B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ns0:txBody>
      </ns0:sp>
      <ns0:sp>
        <ns0:nvSpPr>
          <ns0:cNvPr id="9" name="Text 6"/>
          <ns0:cNvSpPr/>
          <ns0:nvPr/>
        </ns0:nvSpPr>
        <ns0:spPr>
          <a:xfrm>
            <a:off x="2148840" y="1536192"/>
            <a:ext cx="33832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Defensive, sticky core</a:t>
            </a:r>
            <a:endParaRPr lang="en-US" sz="1450" dirty="0"/>
          </a:p>
        </ns0:txBody>
      </ns0:sp>
      <ns0:sp>
        <ns0:nvSpPr>
          <ns0:cNvPr id="10" name="Text 7"/>
          <ns0:cNvSpPr/>
          <ns0:nvPr/>
        </ns0:nvSpPr>
        <ns0:spPr>
          <a:xfrm>
            <a:off x="5623560" y="1508760"/>
            <a:ext cx="5852160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8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segment (surveying &amp; civil-engineering software for licensed land/house surveyors and government) is sticky and budget-linked, at a ~26% segment margin (recurring mix to verify) — a genuine cash cow underpinning downside protection.</a:t>
            </a:r>
            <a:endParaRPr lang="en-US" sz="1080" dirty="0"/>
          </a:p>
        </ns0:txBody>
      </ns0:sp>
      <ns0:sp>
        <ns0:nvSpPr>
          <ns0:cNvPr id="11" name="Shape 8"/>
          <ns0:cNvSpPr/>
          <ns0:nvPr/>
        </ns0:nvSpPr>
        <ns0:spPr>
          <a:xfrm>
            <a:off x="548640" y="2350008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2" name="Shape 9"/>
          <ns0:cNvSpPr/>
          <ns0:nvPr/>
        </ns0:nvSpPr>
        <ns0:spPr>
          <a:xfrm>
            <a:off x="777240" y="2523744"/>
            <a:ext cx="566928" cy="566928"/>
          </a:xfrm>
          <a:prstGeom prst="ellipse">
            <a:avLst/>
          </a:prstGeom>
          <a:solidFill>
            <a:srgbClr val="C8A95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13" name="Image 1" descr="assets/coins_white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924641" y="2671145"/>
            <a:ext cx="272125" cy="272125"/>
          </a:xfrm>
          <a:prstGeom prst="rect">
            <a:avLst/>
          </a:prstGeom>
        </ns0:spPr>
      </ns0:pic>
      <ns0:sp>
        <ns0:nvSpPr>
          <ns0:cNvPr id="14" name="Text 10"/>
          <ns0:cNvSpPr/>
          <ns0:nvPr/>
        </ns0:nvSpPr>
        <ns0:spPr>
          <a:xfrm>
            <a:off x="1481328" y="2459736"/>
            <a:ext cx="6400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B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ns0:txBody>
      </ns0:sp>
      <ns0:sp>
        <ns0:nvSpPr>
          <ns0:cNvPr id="15" name="Text 11"/>
          <ns0:cNvSpPr/>
          <ns0:nvPr/>
        </ns0:nvSpPr>
        <ns0:spPr>
          <a:xfrm>
            <a:off x="2148840" y="2468880"/>
            <a:ext cx="33832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Over-capitalised balance sheet</a:t>
            </a:r>
            <a:endParaRPr lang="en-US" sz="1450" dirty="0"/>
          </a:p>
        </ns0:txBody>
      </ns0:sp>
      <ns0:sp>
        <ns0:nvSpPr>
          <ns0:cNvPr id="16" name="Text 12"/>
          <ns0:cNvSpPr/>
          <ns0:nvPr/>
        </ns0:nvSpPr>
        <ns0:spPr>
          <a:xfrm>
            <a:off x="5623560" y="2441448"/>
            <a:ext cx="5852160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8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FY25A net cash of ~¥4.1bn (≈44% of market cap) plus an investment-securities portfolio sit idle. TSE capital-efficiency pressure makes balance-sheet optimisation a natural focus — though it is DD-gated, not yet underwritable.</a:t>
            </a:r>
            <a:endParaRPr lang="en-US" sz="1080" dirty="0"/>
          </a:p>
        </ns0:txBody>
      </ns0:sp>
      <ns0:sp>
        <ns0:nvSpPr>
          <ns0:cNvPr id="17" name="Shape 13"/>
          <ns0:cNvSpPr/>
          <ns0:nvPr/>
        </ns0:nvSpPr>
        <ns0:spPr>
          <a:xfrm>
            <a:off x="548640" y="3282696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8" name="Shape 14"/>
          <ns0:cNvSpPr/>
          <ns0:nvPr/>
        </ns0:nvSpPr>
        <ns0:spPr>
          <a:xfrm>
            <a:off x="777240" y="345643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19" name="Image 2" descr="assets/chart_white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924641" y="3603833"/>
            <a:ext cx="272125" cy="272125"/>
          </a:xfrm>
          <a:prstGeom prst="rect">
            <a:avLst/>
          </a:prstGeom>
        </ns0:spPr>
      </ns0:pic>
      <ns0:sp>
        <ns0:nvSpPr>
          <ns0:cNvPr id="20" name="Text 15"/>
          <ns0:cNvSpPr/>
          <ns0:nvPr/>
        </ns0:nvSpPr>
        <ns0:spPr>
          <a:xfrm>
            <a:off x="1481328" y="3392424"/>
            <a:ext cx="6400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B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ns0:txBody>
      </ns0:sp>
      <ns0:sp>
        <ns0:nvSpPr>
          <ns0:cNvPr id="21" name="Text 16"/>
          <ns0:cNvSpPr/>
          <ns0:nvPr/>
        </ns0:nvSpPr>
        <ns0:spPr>
          <a:xfrm>
            <a:off x="2148840" y="3401568"/>
            <a:ext cx="33832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Visible margin upside</a:t>
            </a:r>
            <a:endParaRPr lang="en-US" sz="1450" dirty="0"/>
          </a:p>
        </ns0:txBody>
      </ns0:sp>
      <ns0:sp>
        <ns0:nvSpPr>
          <ns0:cNvPr id="22" name="Text 17"/>
          <ns0:cNvSpPr/>
          <ns0:nvPr/>
        </ns0:nvSpPr>
        <ns0:spPr>
          <a:xfrm>
            <a:off x="5623560" y="3374136"/>
            <a:ext cx="5852160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8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margin of ~8% sits far below the software core. Overhead rationalisation and a turnaround / partnering of loss-making Mobility can lift blended margin toward 12%+.</a:t>
            </a:r>
            <a:endParaRPr lang="en-US" sz="1080" dirty="0"/>
          </a:p>
        </ns0:txBody>
      </ns0:sp>
      <ns0:sp>
        <ns0:nvSpPr>
          <ns0:cNvPr id="23" name="Shape 18"/>
          <ns0:cNvSpPr/>
          <ns0:nvPr/>
        </ns0:nvSpPr>
        <ns0:spPr>
          <a:xfrm>
            <a:off x="548640" y="4215384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4" name="Shape 19"/>
          <ns0:cNvSpPr/>
          <ns0:nvPr/>
        </ns0:nvSpPr>
        <ns0:spPr>
          <a:xfrm>
            <a:off x="777240" y="4389120"/>
            <a:ext cx="566928" cy="566928"/>
          </a:xfrm>
          <a:prstGeom prst="ellipse">
            <a:avLst/>
          </a:prstGeom>
          <a:solidFill>
            <a:srgbClr val="2A347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25" name="Image 3" descr="assets/road_white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924641" y="4536521"/>
            <a:ext cx="272125" cy="272125"/>
          </a:xfrm>
          <a:prstGeom prst="rect">
            <a:avLst/>
          </a:prstGeom>
        </ns0:spPr>
      </ns0:pic>
      <ns0:sp>
        <ns0:nvSpPr>
          <ns0:cNvPr id="26" name="Text 20"/>
          <ns0:cNvSpPr/>
          <ns0:nvPr/>
        </ns0:nvSpPr>
        <ns0:spPr>
          <a:xfrm>
            <a:off x="1481328" y="4325112"/>
            <a:ext cx="6400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B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ns0:txBody>
      </ns0:sp>
      <ns0:sp>
        <ns0:nvSpPr>
          <ns0:cNvPr id="27" name="Text 21"/>
          <ns0:cNvSpPr/>
          <ns0:nvPr/>
        </ns0:nvSpPr>
        <ns0:spPr>
          <a:xfrm>
            <a:off x="2148840" y="4334256"/>
            <a:ext cx="33832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Autonomous-driving optionality</a:t>
            </a:r>
            <a:endParaRPr lang="en-US" sz="1450" dirty="0"/>
          </a:p>
        </ns0:txBody>
      </ns0:sp>
      <ns0:sp>
        <ns0:nvSpPr>
          <ns0:cNvPr id="28" name="Text 22"/>
          <ns0:cNvSpPr/>
          <ns0:nvPr/>
        </ns0:nvSpPr>
        <ns0:spPr>
          <a:xfrm>
            <a:off x="5623560" y="4306824"/>
            <a:ext cx="5852160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8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MMS, high-precision 3D / HD ('dynamic') maps and Level-4 system integration give exposure to a structurally growing theme — and a credible strategic-exit angle to an OEM or geospatial consolidator.</a:t>
            </a:r>
            <a:endParaRPr lang="en-US" sz="1080" dirty="0"/>
          </a:p>
        </ns0:txBody>
      </ns0:sp>
      <ns0:sp>
        <ns0:nvSpPr>
          <ns0:cNvPr id="29" name="Shape 23"/>
          <ns0:cNvSpPr/>
          <ns0:nvPr/>
        </ns0:nvSpPr>
        <ns0:spPr>
          <a:xfrm>
            <a:off x="548640" y="5148072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0" name="Shape 24"/>
          <ns0:cNvSpPr/>
          <ns0:nvPr/>
        </ns0:nvSpPr>
        <ns0:spPr>
          <a:xfrm>
            <a:off x="777240" y="5321808"/>
            <a:ext cx="566928" cy="566928"/>
          </a:xfrm>
          <a:prstGeom prst="ellipse">
            <a:avLst/>
          </a:prstGeom>
          <a:solidFill>
            <a:srgbClr val="5B6485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31" name="Image 4" descr="assets/user_white.png">    </ns0:cNvPr>
          <ns0:cNvPicPr>
            <a:picLocks noChangeAspect="1"/>
          </ns0:cNvPicPr>
          <ns0:nvPr/>
        </ns0:nvPicPr>
        <ns0:blipFill>
          <a:blip ns2:embed="rId5"/>
          <a:stretch>
            <a:fillRect/>
          </a:stretch>
        </ns0:blipFill>
        <ns0:spPr>
          <a:xfrm>
            <a:off x="924641" y="5469209"/>
            <a:ext cx="272125" cy="272125"/>
          </a:xfrm>
          <a:prstGeom prst="rect">
            <a:avLst/>
          </a:prstGeom>
        </ns0:spPr>
      </ns0:pic>
      <ns0:sp>
        <ns0:nvSpPr>
          <ns0:cNvPr id="32" name="Text 25"/>
          <ns0:cNvSpPr/>
          <ns0:nvPr/>
        </ns0:nvSpPr>
        <ns0:spPr>
          <a:xfrm>
            <a:off x="1481328" y="5257800"/>
            <a:ext cx="6400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B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ns0:txBody>
      </ns0:sp>
      <ns0:sp>
        <ns0:nvSpPr>
          <ns0:cNvPr id="33" name="Text 26"/>
          <ns0:cNvSpPr/>
          <ns0:nvPr/>
        </ns0:nvSpPr>
        <ns0:spPr>
          <a:xfrm>
            <a:off x="2148840" y="5266944"/>
            <a:ext cx="338328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deal structure</a:t>
            </a:r>
            <a:endParaRPr lang="en-US" sz="1450" dirty="0"/>
          </a:p>
        </ns0:txBody>
      </ns0:sp>
      <ns0:sp>
        <ns0:nvSpPr>
          <ns0:cNvPr id="34" name="Text 27"/>
          <ns0:cNvSpPr/>
          <ns0:nvPr/>
        </ns0:nvSpPr>
        <ns0:spPr>
          <a:xfrm>
            <a:off x="5623560" y="5239512"/>
            <a:ext cx="5852160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8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related holders ~18.5% (reported) may support a take-private if aligned; willingness and roll-over economics are confirmatory DD items. Low debt and FCF are structurally supportive, but a take-private is DD-gated and not yet actionable.</a:t>
            </a:r>
            <a:endParaRPr lang="en-US" sz="1080" dirty="0"/>
          </a:p>
        </ns0:txBody>
      </ns0:sp>
      <ns0:sp>
        <ns0:nvSpPr>
          <ns0:cNvPr id="35" name="Text 28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36" name="Text 29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 xmlns:ns2="http://schemas.openxmlformats.org/drawingml/2006/chart" xmlns:ns3="http://schemas.openxmlformats.org/officeDocument/2006/relationships">
  <ns0:cSld name="Slide 4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Overview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55-year-old Nagoya geospatial specialist bridging traditional surveying and autonomous-driving infrastructure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6583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Text 4"/>
          <ns0:cNvSpPr/>
          <ns0:nvPr/>
        </ns0:nvSpPr>
        <ns0:spPr>
          <a:xfrm>
            <a:off x="868680" y="1591056"/>
            <a:ext cx="59436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050" dirty="0"/>
          </a:p>
        </ns0:txBody>
      </ns0:sp>
      <ns0:sp>
        <ns0:nvSpPr>
          <ns0:cNvPr id="7" name="Text 5"/>
          <ns0:cNvSpPr/>
          <ns0:nvPr/>
        </ns0:nvSpPr>
        <ns0:spPr>
          <a:xfrm>
            <a:off x="868680" y="1920240"/>
            <a:ext cx="5989320" cy="39776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1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AISAN TECHNOLOGY (TSE: 4667) is a Nagoya-headquartered software and geospatial-data company founded in 1970, operating through a parent and four subsidiaries.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1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heritage business equips Japan's licensed land &amp; house surveyors and public bodies with surveying / civil-engineering CAD and GIS software — products such as WingEarth, ANIST (point-cloud CAD) and GrandBase.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1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last decade it has reinvested into mobility: Mobile Mapping Systems, high-precision 3D 'dynamic' maps and integration / proving-ground testing for Level-4 autonomous driving — positioning it as a niche supplier into a fast-growing ecosystem.</a:t>
            </a:r>
            <a:endParaRPr lang="en-US" sz="11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highly seasonal: public projects close around the March fiscal year-end, concentrating sales and profit in Q4 and producing a working-capital cash draw earlier in the year.</a:t>
            </a:r>
            <a:endParaRPr lang="en-US" sz="116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7315200" y="1417320"/>
            <a:ext cx="432511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9" name="Text 7"/>
          <ns0:cNvSpPr/>
          <ns0:nvPr/>
        </ns0:nvSpPr>
        <ns0:spPr>
          <a:xfrm>
            <a:off x="7589520" y="1572768"/>
            <a:ext cx="36576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05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7589520" y="1901952"/>
            <a:ext cx="214884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/ market</a:t>
            </a:r>
            <a:endParaRPr lang="en-US" sz="103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9646920" y="1901952"/>
            <a:ext cx="18288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Standard · 4667</a:t>
            </a:r>
            <a:endParaRPr lang="en-US" sz="103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7589520" y="2171700"/>
            <a:ext cx="214884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outstanding</a:t>
            </a:r>
            <a:endParaRPr lang="en-US" sz="103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9646920" y="2171700"/>
            <a:ext cx="18288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5.55m issued / 5.28m ex-treasury</a:t>
            </a:r>
            <a:endParaRPr lang="en-US" sz="103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7589520" y="2441448"/>
            <a:ext cx="214884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(pre-bid reference)</a:t>
            </a:r>
            <a:endParaRPr lang="en-US" sz="103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9646920" y="2441448"/>
            <a:ext cx="18288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~¥9.3bn</a:t>
            </a:r>
            <a:endParaRPr lang="en-US" sz="103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7589520" y="2711196"/>
            <a:ext cx="214884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P/E · P/B</a:t>
            </a:r>
            <a:endParaRPr lang="en-US" sz="103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9646920" y="2711196"/>
            <a:ext cx="18288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23.2x · 1.4x</a:t>
            </a:r>
            <a:endParaRPr lang="en-US" sz="103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7589520" y="2980944"/>
            <a:ext cx="214884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103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9646920" y="2980944"/>
            <a:ext cx="18288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~2.1%</a:t>
            </a:r>
            <a:endParaRPr lang="en-US" sz="103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7589520" y="3250692"/>
            <a:ext cx="214884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holders</a:t>
            </a:r>
            <a:endParaRPr lang="en-US" sz="103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9646920" y="3250692"/>
            <a:ext cx="18288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related ~18.5% (reported)</a:t>
            </a:r>
            <a:endParaRPr lang="en-US" sz="1030" dirty="0"/>
          </a:p>
        </ns0:txBody>
      </ns0:sp>
      <ns0:sp>
        <ns0:nvSpPr>
          <ns0:cNvPr id="22" name="Shape 20"/>
          <ns0:cNvSpPr/>
          <ns0:nvPr/>
        </ns0:nvSpPr>
        <ns0:spPr>
          <a:xfrm>
            <a:off x="7315200" y="3703320"/>
            <a:ext cx="43251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3" name="Text 21"/>
          <ns0:cNvSpPr/>
          <ns0:nvPr/>
        </ns0:nvSpPr>
        <ns0:spPr>
          <a:xfrm>
            <a:off x="7589520" y="3840480"/>
            <a:ext cx="38404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(¥bn, consolidated)</a:t>
            </a:r>
            <a:endParaRPr lang="en-US" sz="1050" dirty="0"/>
          </a:p>
        </ns0:txBody>
      </ns0:sp>
      <ns0:graphicFrame>
        <ns0:nvGraphicFramePr>
          <ns0:cNvPr id="24" name="Chart 0" descr=""/>
          <ns0:cNvGraphicFramePr/>
          <ns0:nvPr/>
        </ns0:nvGraphicFramePr>
        <ns0:xfrm>
          <a:off x="7498080" y="4160520"/>
          <a:ext cx="3977640" cy="1783080"/>
        </ns0:xfrm>
        <a:graphic>
          <a:graphicData uri="http://schemas.openxmlformats.org/drawingml/2006/chart">
            <ns2:chart ns3:id="rId1"/>
          </a:graphicData>
        </a:graphic>
      </ns0:graphicFrame>
      <ns0:sp>
        <ns0:nvSpPr>
          <ns0:cNvPr id="25" name="Text 22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26" name="Text 23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78992" y="36576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&amp; Segments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engines: a cash-generative software core and a growth-oriented mobility option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68112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17320"/>
            <a:ext cx="5468112" cy="841248"/>
          </a:xfrm>
          <a:prstGeom prst="roundRect">
            <a:avLst>
              <a:gd name="adj" fmla="val 9783"/>
            </a:avLst>
          </a:prstGeom>
          <a:solidFill>
            <a:srgbClr val="2E7D52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874520"/>
            <a:ext cx="5468112" cy="384048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581912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9" name="Image 0" descr="assets/satellit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1715049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545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41732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Surveying &amp; civil-engineering software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07992" y="1709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COW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68680" y="2496312"/>
            <a:ext cx="4873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land/house surveyors &amp; government bodies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 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WingEarth · ANIST (point-cloud CAD) · GrandBase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 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sticky, ~26% segment margin (H1 FY26)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DRIVERS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68680" y="44165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68680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i-Construction 2.0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200400" y="44165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200400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Surveyor labour shortage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868680" y="48737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68680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3D / PLATEAU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200400" y="48737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00400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resilience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868680" y="5440680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public-budget-linked — the segment funds the investment thesis and provides downside protection.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72200" y="1417320"/>
            <a:ext cx="5468112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172200" y="1417320"/>
            <a:ext cx="5468112" cy="841248"/>
          </a:xfrm>
          <a:prstGeom prst="roundRect">
            <a:avLst>
              <a:gd name="adj" fmla="val 978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172200" y="1874520"/>
            <a:ext cx="5468112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400800" y="1581912"/>
            <a:ext cx="512064" cy="512064"/>
          </a:xfrm>
          <a:prstGeom prst="ellipse">
            <a:avLst/>
          </a:prstGeom>
          <a:solidFill>
            <a:srgbClr val="C8A95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8" name="Image 1" descr="assets/c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937" y="1715049"/>
            <a:ext cx="245791" cy="24579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40880" y="1545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 / DX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704088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maps &amp; autonomous-driving systems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131552" y="1709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492240" y="2496312"/>
            <a:ext cx="4873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Mapping (MMS), high-precision 3D / dynamic maps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Level-4 system integration, proving-ground tests, drones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 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Lumpy, Q4-weighted, currently low / negative margin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49224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BACKDROP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6492240" y="44165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6492240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Level-4 legalised (2023)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8823960" y="44165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8823960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Robotaxi / bus pilots</a:t>
            </a:r>
            <a:endParaRPr lang="en-US" sz="980" dirty="0"/>
          </a:p>
        </p:txBody>
      </p:sp>
      <p:sp>
        <p:nvSpPr>
          <p:cNvPr id="38" name="Shape 34"/>
          <p:cNvSpPr/>
          <p:nvPr/>
        </p:nvSpPr>
        <p:spPr>
          <a:xfrm>
            <a:off x="6492240" y="48737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6492240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automation</a:t>
            </a:r>
            <a:endParaRPr lang="en-US" sz="980" dirty="0"/>
          </a:p>
        </p:txBody>
      </p:sp>
      <p:sp>
        <p:nvSpPr>
          <p:cNvPr id="40" name="Shape 36"/>
          <p:cNvSpPr/>
          <p:nvPr/>
        </p:nvSpPr>
        <p:spPr>
          <a:xfrm>
            <a:off x="8823960" y="48737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8823960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/ delivery</a:t>
            </a:r>
            <a:endParaRPr lang="en-US" sz="980" dirty="0"/>
          </a:p>
        </p:txBody>
      </p:sp>
      <p:sp>
        <p:nvSpPr>
          <p:cNvPr id="42" name="Text 38"/>
          <p:cNvSpPr/>
          <p:nvPr/>
        </p:nvSpPr>
        <p:spPr>
          <a:xfrm>
            <a:off x="6492240" y="5440680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and capital-hungry — the value-up plan rationalises losses while preserving strategic-exit optionality.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78992" y="36576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&amp; Market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supportive structural backdrops — one stable and policy-driven, one high-growth and nascent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Surveying · Civil engineering · GIS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72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High-definition maps · Autonomous driving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2139696"/>
            <a:ext cx="658368" cy="658368"/>
          </a:xfrm>
          <a:prstGeom prst="ellipse">
            <a:avLst/>
          </a:prstGeom>
          <a:solidFill>
            <a:srgbClr val="2E7D52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9" name="Image 0" descr="assets/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416" y="2310872"/>
            <a:ext cx="316017" cy="3160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i-Construction 2.0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23774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MLIT's construction-DX programme mandates 3D data across the public works lifecycle.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777240" y="3557016"/>
            <a:ext cx="658368" cy="658368"/>
          </a:xfrm>
          <a:prstGeom prst="ellipse">
            <a:avLst/>
          </a:prstGeom>
          <a:solidFill>
            <a:srgbClr val="2E7D52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4" name="Image 1" descr="assets/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416" y="3728192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459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Labour shortage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645920" y="37947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ageing, shrinking pool of licensed surveyors forces automation and software adoption.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66344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777240" y="4974336"/>
            <a:ext cx="658368" cy="658368"/>
          </a:xfrm>
          <a:prstGeom prst="ellipse">
            <a:avLst/>
          </a:prstGeom>
          <a:solidFill>
            <a:srgbClr val="2E7D52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9" name="Image 2" descr="assets/cit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5145512"/>
            <a:ext cx="316017" cy="31601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PLATEAU &amp; national 3D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645920" y="52120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3D city-model and digital-twin initiatives expand the addressable data market.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72200" y="182880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00800" y="213969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4" name="Image 3" descr="assets/ro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976" y="2310872"/>
            <a:ext cx="316017" cy="31601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948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Level-4 legalised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269480" y="23774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legal framework enables driverless operation; pilots scaling in transport &amp; logistics.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172200" y="324612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6400800" y="355701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9" name="Image 4" descr="assets/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976" y="3728192"/>
            <a:ext cx="316017" cy="31601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6948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HD-map demand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269480" y="37947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fleets require continuously-maintained high-precision maps — a potential recurring data need.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172200" y="466344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3" name="Shape 26"/>
          <p:cNvSpPr/>
          <p:nvPr/>
        </p:nvSpPr>
        <p:spPr>
          <a:xfrm>
            <a:off x="6400800" y="497433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4" name="Image 5" descr="assets/handshak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976" y="5145512"/>
            <a:ext cx="316017" cy="31601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6948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angle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7269480" y="52120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concentrated HD-map landscape (e.g. Dynamic Map Platform) creates strategic-buyer interest.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48640" y="6144768"/>
            <a:ext cx="11091672" cy="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8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ns0:sld xmlns:a="http://schemas.openxmlformats.org/drawingml/2006/main" xmlns:ns0="http://schemas.openxmlformats.org/presentationml/2006/main" xmlns:ns2="http://schemas.openxmlformats.org/drawingml/2006/chart" xmlns:ns3="http://schemas.openxmlformats.org/officeDocument/2006/relationships">
  <ns0:cSld name="Slide 7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Track Record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top-line growth and a structurally light balance sheet; profitability is the lever, not the revenue line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6583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Text 4"/>
          <ns0:cNvSpPr/>
          <ns0:nvPr/>
        </ns0:nvSpPr>
        <ns0:spPr>
          <a:xfrm>
            <a:off x="868680" y="1591056"/>
            <a:ext cx="59436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OPERATING PROFIT (¥mm)</a:t>
            </a:r>
            <a:endParaRPr lang="en-US" sz="1050" dirty="0"/>
          </a:p>
        </ns0:txBody>
      </ns0:sp>
      <ns0:graphicFrame>
        <ns0:nvGraphicFramePr>
          <ns0:cNvPr id="7" name="Chart 0" descr=""/>
          <ns0:cNvGraphicFramePr/>
          <ns0:nvPr/>
        </ns0:nvGraphicFramePr>
        <ns0:xfrm>
          <a:off x="640080" y="1965960"/>
          <a:ext cx="6355080" cy="2788920"/>
        </ns0:xfrm>
        <a:graphic>
          <a:graphicData uri="http://schemas.openxmlformats.org/drawingml/2006/chart">
            <ns2:chart ns3:id="rId1"/>
          </a:graphicData>
        </a:graphic>
      </ns0:graphicFrame>
      <ns0:sp>
        <ns0:nvSpPr>
          <ns0:cNvPr id="8" name="Text 5"/>
          <ns0:cNvSpPr/>
          <ns0:nvPr/>
        </ns0:nvSpPr>
        <ns0:spPr>
          <a:xfrm>
            <a:off x="868680" y="4892040"/>
            <a:ext cx="5989320" cy="10058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compounded at ~8.6% over FY17–FY25; FY26E guidance ¥7.2bn (+16%). Operating margin has held in a ~7–8% band — well below the software core's potential.</a:t>
            </a:r>
            <a:endParaRPr lang="en-US" sz="1050" dirty="0"/>
          </a:p>
        </ns0:txBody>
      </ns0:sp>
      <ns0:sp>
        <ns0:nvSpPr>
          <ns0:cNvPr id="9" name="Shape 6"/>
          <ns0:cNvSpPr/>
          <ns0:nvPr/>
        </ns0:nvSpPr>
        <ns0:spPr>
          <a:xfrm>
            <a:off x="7315200" y="1417320"/>
            <a:ext cx="2103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0" name="Shape 7"/>
          <ns0:cNvSpPr/>
          <ns0:nvPr/>
        </ns0:nvSpPr>
        <ns0:spPr>
          <a:xfrm>
            <a:off x="7315200" y="1417320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2E7D52"/>
          </a:solidFill>
          <a:ln/>
        </ns0:spPr>
        <ns0:txBody>
          <a:bodyPr/>
          <a:p/>
        </ns0:txBody>
      </ns0:sp>
      <ns0:sp>
        <ns0:nvSpPr>
          <ns0:cNvPr id="11" name="Text 8"/>
          <ns0:cNvSpPr/>
          <ns0:nvPr/>
        </ns0:nvSpPr>
        <ns0:spPr>
          <a:xfrm>
            <a:off x="7516368" y="1536192"/>
            <a:ext cx="182880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 REVENUE</a:t>
            </a:r>
            <a:endParaRPr lang="en-US" sz="830" dirty="0"/>
          </a:p>
        </ns0:txBody>
      </ns0:sp>
      <ns0:sp>
        <ns0:nvSpPr>
          <ns0:cNvPr id="12" name="Text 9"/>
          <ns0:cNvSpPr/>
          <ns0:nvPr/>
        </ns0:nvSpPr>
        <ns0:spPr>
          <a:xfrm>
            <a:off x="7498080" y="1764792"/>
            <a:ext cx="182880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¥7.20bn</a:t>
            </a:r>
            <a:endParaRPr lang="en-US" sz="2000" dirty="0"/>
          </a:p>
        </ns0:txBody>
      </ns0:sp>
      <ns0:sp>
        <ns0:nvSpPr>
          <ns0:cNvPr id="13" name="Text 10"/>
          <ns0:cNvSpPr/>
          <ns0:nvPr/>
        </ns0:nvSpPr>
        <ns0:spPr>
          <a:xfrm>
            <a:off x="7516368" y="2176272"/>
            <a:ext cx="18288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 YoY</a:t>
            </a:r>
            <a:endParaRPr lang="en-US" sz="880" dirty="0"/>
          </a:p>
        </ns0:txBody>
      </ns0:sp>
      <ns0:sp>
        <ns0:nvSpPr>
          <ns0:cNvPr id="14" name="Shape 11"/>
          <ns0:cNvSpPr/>
          <ns0:nvPr/>
        </ns0:nvSpPr>
        <ns0:spPr>
          <a:xfrm>
            <a:off x="9537192" y="1417320"/>
            <a:ext cx="2103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5" name="Shape 12"/>
          <ns0:cNvSpPr/>
          <ns0:nvPr/>
        </ns0:nvSpPr>
        <ns0:spPr>
          <a:xfrm>
            <a:off x="9537192" y="1417320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16" name="Text 13"/>
          <ns0:cNvSpPr/>
          <ns0:nvPr/>
        </ns0:nvSpPr>
        <ns0:spPr>
          <a:xfrm>
            <a:off x="9738360" y="1536192"/>
            <a:ext cx="182880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 OP. PROFIT</a:t>
            </a:r>
            <a:endParaRPr lang="en-US" sz="830" dirty="0"/>
          </a:p>
        </ns0:txBody>
      </ns0:sp>
      <ns0:sp>
        <ns0:nvSpPr>
          <ns0:cNvPr id="17" name="Text 14"/>
          <ns0:cNvSpPr/>
          <ns0:nvPr/>
        </ns0:nvSpPr>
        <ns0:spPr>
          <a:xfrm>
            <a:off x="9720072" y="1764792"/>
            <a:ext cx="182880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¥600m</a:t>
            </a:r>
            <a:endParaRPr lang="en-US" sz="2000" dirty="0"/>
          </a:p>
        </ns0:txBody>
      </ns0:sp>
      <ns0:sp>
        <ns0:nvSpPr>
          <ns0:cNvPr id="18" name="Text 15"/>
          <ns0:cNvSpPr/>
          <ns0:nvPr/>
        </ns0:nvSpPr>
        <ns0:spPr>
          <a:xfrm>
            <a:off x="9738360" y="2176272"/>
            <a:ext cx="18288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 margin</a:t>
            </a:r>
            <a:endParaRPr lang="en-US" sz="880" dirty="0"/>
          </a:p>
        </ns0:txBody>
      </ns0:sp>
      <ns0:sp>
        <ns0:nvSpPr>
          <ns0:cNvPr id="19" name="Shape 16"/>
          <ns0:cNvSpPr/>
          <ns0:nvPr/>
        </ns0:nvSpPr>
        <ns0:spPr>
          <a:xfrm>
            <a:off x="7315200" y="2642616"/>
            <a:ext cx="2103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0" name="Shape 17"/>
          <ns0:cNvSpPr/>
          <ns0:nvPr/>
        </ns0:nvSpPr>
        <ns0:spPr>
          <a:xfrm>
            <a:off x="7315200" y="2642616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21" name="Text 18"/>
          <ns0:cNvSpPr/>
          <ns0:nvPr/>
        </ns0:nvSpPr>
        <ns0:spPr>
          <a:xfrm>
            <a:off x="7516368" y="2761488"/>
            <a:ext cx="182880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FY25A NET CASH</a:t>
            </a:r>
            <a:endParaRPr lang="en-US" sz="830" dirty="0"/>
          </a:p>
        </ns0:txBody>
      </ns0:sp>
      <ns0:sp>
        <ns0:nvSpPr>
          <ns0:cNvPr id="22" name="Text 19"/>
          <ns0:cNvSpPr/>
          <ns0:nvPr/>
        </ns0:nvSpPr>
        <ns0:spPr>
          <a:xfrm>
            <a:off x="7498080" y="2990088"/>
            <a:ext cx="182880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¥4.13bn</a:t>
            </a:r>
            <a:endParaRPr lang="en-US" sz="2000" dirty="0"/>
          </a:p>
        </ns0:txBody>
      </ns0:sp>
      <ns0:sp>
        <ns0:nvSpPr>
          <ns0:cNvPr id="23" name="Text 20"/>
          <ns0:cNvSpPr/>
          <ns0:nvPr/>
        </ns0:nvSpPr>
        <ns0:spPr>
          <a:xfrm>
            <a:off x="7516368" y="3401568"/>
            <a:ext cx="18288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 equity ratio</a:t>
            </a:r>
            <a:endParaRPr lang="en-US" sz="880" dirty="0"/>
          </a:p>
        </ns0:txBody>
      </ns0:sp>
      <ns0:sp>
        <ns0:nvSpPr>
          <ns0:cNvPr id="24" name="Shape 21"/>
          <ns0:cNvSpPr/>
          <ns0:nvPr/>
        </ns0:nvSpPr>
        <ns0:spPr>
          <a:xfrm>
            <a:off x="9537192" y="2642616"/>
            <a:ext cx="2103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5" name="Shape 22"/>
          <ns0:cNvSpPr/>
          <ns0:nvPr/>
        </ns0:nvSpPr>
        <ns0:spPr>
          <a:xfrm>
            <a:off x="9537192" y="2642616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26" name="Text 23"/>
          <ns0:cNvSpPr/>
          <ns0:nvPr/>
        </ns0:nvSpPr>
        <ns0:spPr>
          <a:xfrm>
            <a:off x="9738360" y="2761488"/>
            <a:ext cx="182880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INTEREST-BEARING DEBT</a:t>
            </a:r>
            <a:endParaRPr lang="en-US" sz="830" dirty="0"/>
          </a:p>
        </ns0:txBody>
      </ns0:sp>
      <ns0:sp>
        <ns0:nvSpPr>
          <ns0:cNvPr id="27" name="Text 24"/>
          <ns0:cNvSpPr/>
          <ns0:nvPr/>
        </ns0:nvSpPr>
        <ns0:spPr>
          <a:xfrm>
            <a:off x="9720072" y="2990088"/>
            <a:ext cx="182880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~¥0.05bn</a:t>
            </a:r>
            <a:endParaRPr lang="en-US" sz="2000" dirty="0"/>
          </a:p>
        </ns0:txBody>
      </ns0:sp>
      <ns0:sp>
        <ns0:nvSpPr>
          <ns0:cNvPr id="28" name="Text 25"/>
          <ns0:cNvSpPr/>
          <ns0:nvPr/>
        </ns0:nvSpPr>
        <ns0:spPr>
          <a:xfrm>
            <a:off x="9738360" y="3401568"/>
            <a:ext cx="18288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unlevered</a:t>
            </a:r>
            <a:endParaRPr lang="en-US" sz="880" dirty="0"/>
          </a:p>
        </ns0:txBody>
      </ns0:sp>
      <ns0:sp>
        <ns0:nvSpPr>
          <ns0:cNvPr id="29" name="Shape 26"/>
          <ns0:cNvSpPr/>
          <ns0:nvPr/>
        </ns0:nvSpPr>
        <ns0:spPr>
          <a:xfrm>
            <a:off x="7315200" y="3867912"/>
            <a:ext cx="2103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0" name="Shape 27"/>
          <ns0:cNvSpPr/>
          <ns0:nvPr/>
        </ns0:nvSpPr>
        <ns0:spPr>
          <a:xfrm>
            <a:off x="7315200" y="3867912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31" name="Text 28"/>
          <ns0:cNvSpPr/>
          <ns0:nvPr/>
        </ns0:nvSpPr>
        <ns0:spPr>
          <a:xfrm>
            <a:off x="7516368" y="3986784"/>
            <a:ext cx="182880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 EPS</a:t>
            </a:r>
            <a:endParaRPr lang="en-US" sz="830" dirty="0"/>
          </a:p>
        </ns0:txBody>
      </ns0:sp>
      <ns0:sp>
        <ns0:nvSpPr>
          <ns0:cNvPr id="32" name="Text 29"/>
          <ns0:cNvSpPr/>
          <ns0:nvPr/>
        </ns0:nvSpPr>
        <ns0:spPr>
          <a:xfrm>
            <a:off x="7498080" y="4215384"/>
            <a:ext cx="182880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¥72.3</a:t>
            </a:r>
            <a:endParaRPr lang="en-US" sz="2000" dirty="0"/>
          </a:p>
        </ns0:txBody>
      </ns0:sp>
      <ns0:sp>
        <ns0:nvSpPr>
          <ns0:cNvPr id="33" name="Text 30"/>
          <ns0:cNvSpPr/>
          <ns0:nvPr/>
        </ns0:nvSpPr>
        <ns0:spPr>
          <a:xfrm>
            <a:off x="7516368" y="4626864"/>
            <a:ext cx="18288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P/E 23.2x</a:t>
            </a:r>
            <a:endParaRPr lang="en-US" sz="880" dirty="0"/>
          </a:p>
        </ns0:txBody>
      </ns0:sp>
      <ns0:sp>
        <ns0:nvSpPr>
          <ns0:cNvPr id="34" name="Shape 31"/>
          <ns0:cNvSpPr/>
          <ns0:nvPr/>
        </ns0:nvSpPr>
        <ns0:spPr>
          <a:xfrm>
            <a:off x="9537192" y="3867912"/>
            <a:ext cx="2103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5" name="Shape 32"/>
          <ns0:cNvSpPr/>
          <ns0:nvPr/>
        </ns0:nvSpPr>
        <ns0:spPr>
          <a:xfrm>
            <a:off x="9537192" y="3867912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2E7D52"/>
          </a:solidFill>
          <a:ln/>
        </ns0:spPr>
        <ns0:txBody>
          <a:bodyPr/>
          <a:p/>
        </ns0:txBody>
      </ns0:sp>
      <ns0:sp>
        <ns0:nvSpPr>
          <ns0:cNvPr id="36" name="Text 33"/>
          <ns0:cNvSpPr/>
          <ns0:nvPr/>
        </ns0:nvSpPr>
        <ns0:spPr>
          <a:xfrm>
            <a:off x="9738360" y="3986784"/>
            <a:ext cx="182880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830" dirty="0"/>
          </a:p>
        </ns0:txBody>
      </ns0:sp>
      <ns0:sp>
        <ns0:nvSpPr>
          <ns0:cNvPr id="37" name="Text 34"/>
          <ns0:cNvSpPr/>
          <ns0:nvPr/>
        </ns0:nvSpPr>
        <ns0:spPr>
          <a:xfrm>
            <a:off x="9720072" y="4215384"/>
            <a:ext cx="182880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~¥0.16bn/yr</a:t>
            </a:r>
            <a:endParaRPr lang="en-US" sz="2000" dirty="0"/>
          </a:p>
        </ns0:txBody>
      </ns0:sp>
      <ns0:sp>
        <ns0:nvSpPr>
          <ns0:cNvPr id="38" name="Text 35"/>
          <ns0:cNvSpPr/>
          <ns0:nvPr/>
        </ns0:nvSpPr>
        <ns0:spPr>
          <a:xfrm>
            <a:off x="9738360" y="4626864"/>
            <a:ext cx="18288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model</a:t>
            </a:r>
            <a:endParaRPr lang="en-US" sz="880" dirty="0"/>
          </a:p>
        </ns0:txBody>
      </ns0:sp>
      <ns0:sp>
        <ns0:nvSpPr>
          <ns0:cNvPr id="39" name="Text 36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40" name="Text 37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ns0:txBody>
      </ns0:sp>
      <ns0:sp>
        <ns0:nvSpPr>
          <ns0:cNvPr id="41" name="TextBox 40"/>
          <ns0:cNvSpPr txBox="1"/>
          <ns0:nvPr/>
        </ns0:nvSpPr>
        <ns0:spPr>
          <a:xfrm>
            <a:off x="457200" y="5989320"/>
            <a:ext cx="11277295" cy="274320"/>
          </a:xfrm>
          <a:prstGeom prst="rect">
            <a:avLst/>
          </a:prstGeom>
          <a:noFill/>
        </ns0:spPr>
        <ns0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Note: the model conservatively assumes capex at 2.5% of revenue (¥0.19-0.24bn p.a.) vs ~¥0.16bn historical.</a:t>
            </a:r>
          </a:p>
        </ns0:txBody>
      </ns0:sp>
    </ns0:spTree>
  </ns0:cSld>
  <ns0:clrMapOvr>
    <a:masterClrMapping/>
  </ns0:clrMapOvr>
</ns0:sld>
</file>

<file path=ppt/slides/slide8.xml><?xml version="1.0" encoding="utf-8"?>
<ns0:sld xmlns:a="http://schemas.openxmlformats.org/drawingml/2006/main" xmlns:ns0="http://schemas.openxmlformats.org/presentationml/2006/main" xmlns:ns2="http://schemas.openxmlformats.org/drawingml/2006/chart" xmlns:ns3="http://schemas.openxmlformats.org/officeDocument/2006/relationships">
  <ns0:cSld name="Slide 8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Take-Private Feasibility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ownership and low leverage make a take-private structurally feasible — but only DD-gated, post-investigation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502920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Text 4"/>
          <ns0:cNvSpPr/>
          <ns0:nvPr/>
        </ns0:nvSpPr>
        <ns0:spPr>
          <a:xfrm>
            <a:off x="868680" y="1591056"/>
            <a:ext cx="45720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PREMIUM</a:t>
            </a:r>
            <a:endParaRPr lang="en-US" sz="105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868680" y="1965960"/>
            <a:ext cx="4389120" cy="786384"/>
          </a:xfrm>
          <a:prstGeom prst="roundRect">
            <a:avLst>
              <a:gd name="adj" fmla="val 8140"/>
            </a:avLst>
          </a:prstGeom>
          <a:solidFill>
            <a:srgbClr val="F4F6FB"/>
          </a:solidFill>
          <a:ln/>
        </ns0:spPr>
        <ns0:txBody>
          <a:bodyPr/>
          <a:p/>
        </ns0:txBody>
      </ns0:sp>
      <ns0:sp>
        <ns0:nvSpPr>
          <ns0:cNvPr id="8" name="Text 6"/>
          <ns0:cNvSpPr/>
          <ns0:nvPr/>
        </ns0:nvSpPr>
        <ns0:spPr>
          <a:xfrm>
            <a:off x="1097280" y="2057400"/>
            <a:ext cx="2377440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</a:t>
            </a:r>
            <a:endParaRPr lang="en-US" sz="11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1097280" y="2368296"/>
            <a:ext cx="23774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post-news ref; re-base needed</a:t>
            </a:r>
            <a:endParaRPr lang="en-US" sz="9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3291840" y="2112264"/>
            <a:ext cx="182880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¥1,680</a:t>
            </a:r>
            <a:endParaRPr lang="en-US" sz="19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868680" y="2871216"/>
            <a:ext cx="4389120" cy="786384"/>
          </a:xfrm>
          <a:prstGeom prst="roundRect">
            <a:avLst>
              <a:gd name="adj" fmla="val 8140"/>
            </a:avLst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12" name="Text 10"/>
          <ns0:cNvSpPr/>
          <ns0:nvPr/>
        </ns0:nvSpPr>
        <ns0:spPr>
          <a:xfrm>
            <a:off x="1097280" y="2962656"/>
            <a:ext cx="2377440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offer</a:t>
            </a:r>
            <a:endParaRPr lang="en-US" sz="11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1097280" y="3273552"/>
            <a:ext cx="23774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 premium</a:t>
            </a:r>
            <a:endParaRPr lang="en-US" sz="9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3291840" y="3017520"/>
            <a:ext cx="182880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¥2,302</a:t>
            </a:r>
            <a:endParaRPr lang="en-US" sz="19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868680" y="3776472"/>
            <a:ext cx="4389120" cy="786384"/>
          </a:xfrm>
          <a:prstGeom prst="roundRect">
            <a:avLst>
              <a:gd name="adj" fmla="val 8140"/>
            </a:avLst>
          </a:prstGeom>
          <a:solidFill>
            <a:srgbClr val="F4F6FB"/>
          </a:solidFill>
          <a:ln/>
        </ns0:spPr>
        <ns0:txBody>
          <a:bodyPr/>
          <a:p/>
        </ns0:txBody>
      </ns0:sp>
      <ns0:sp>
        <ns0:nvSpPr>
          <ns0:cNvPr id="16" name="Text 14"/>
          <ns0:cNvSpPr/>
          <ns0:nvPr/>
        </ns0:nvSpPr>
        <ns0:spPr>
          <a:xfrm>
            <a:off x="1097280" y="3867912"/>
            <a:ext cx="2377440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11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1097280" y="4178808"/>
            <a:ext cx="23774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ex-treasury shares</a:t>
            </a:r>
            <a:endParaRPr lang="en-US" sz="9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3291840" y="3922776"/>
            <a:ext cx="182880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¥12.2bn</a:t>
            </a:r>
            <a:endParaRPr lang="en-US" sz="19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868680" y="4681728"/>
            <a:ext cx="4389120" cy="786384"/>
          </a:xfrm>
          <a:prstGeom prst="roundRect">
            <a:avLst>
              <a:gd name="adj" fmla="val 8140"/>
            </a:avLst>
          </a:prstGeom>
          <a:solidFill>
            <a:srgbClr val="F4F6FB"/>
          </a:solidFill>
          <a:ln/>
        </ns0:spPr>
        <ns0:txBody>
          <a:bodyPr/>
          <a:p/>
        </ns0:txBody>
      </ns0:sp>
      <ns0:sp>
        <ns0:nvSpPr>
          <ns0:cNvPr id="20" name="Text 18"/>
          <ns0:cNvSpPr/>
          <ns0:nvPr/>
        </ns0:nvSpPr>
        <ns0:spPr>
          <a:xfrm>
            <a:off x="1097280" y="4773168"/>
            <a:ext cx="2377440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EV</a:t>
            </a:r>
            <a:endParaRPr lang="en-US" sz="11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1097280" y="5084064"/>
            <a:ext cx="23774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¥4.1bn cash</a:t>
            </a:r>
            <a:endParaRPr lang="en-US" sz="9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3291840" y="4828032"/>
            <a:ext cx="182880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¥8.1bn</a:t>
            </a:r>
            <a:endParaRPr lang="en-US" sz="19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868680" y="5650992"/>
            <a:ext cx="443484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¥1,680 is a post-investigation-news reference close. Offer premium should be re-based vs pre-news close ¥1,780, 3m VWAP ~¥1,740 and 6m VWAP ~¥1,929; figures here are illustrative.</a:t>
            </a:r>
            <a:endParaRPr lang="en-US" sz="9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5897880" y="1417320"/>
            <a:ext cx="574243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5" name="Text 23"/>
          <ns0:cNvSpPr/>
          <ns0:nvPr/>
        </ns0:nvSpPr>
        <ns0:spPr>
          <a:xfrm>
            <a:off x="6172200" y="1572768"/>
            <a:ext cx="45720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BASE</a:t>
            </a:r>
            <a:endParaRPr lang="en-US" sz="1050" dirty="0"/>
          </a:p>
        </ns0:txBody>
      </ns0:sp>
      <ns0:graphicFrame>
        <ns0:nvGraphicFramePr>
          <ns0:cNvPr id="26" name="Chart 0" descr=""/>
          <ns0:cNvGraphicFramePr/>
          <ns0:nvPr/>
        </ns0:nvGraphicFramePr>
        <ns0:xfrm>
          <a:off x="6035040" y="1874520"/>
          <a:ext cx="2286000" cy="1691640"/>
        </ns0:xfrm>
        <a:graphic>
          <a:graphicData uri="http://schemas.openxmlformats.org/drawingml/2006/chart">
            <ns2:chart ns3:id="rId1"/>
          </a:graphicData>
        </a:graphic>
      </ns0:graphicFrame>
      <ns0:sp>
        <ns0:nvSpPr>
          <ns0:cNvPr id="27" name="Text 24"/>
          <ns0:cNvSpPr/>
          <ns0:nvPr/>
        </ns0:nvSpPr>
        <ns0:spPr>
          <a:xfrm>
            <a:off x="6464808" y="2395728"/>
            <a:ext cx="1463040" cy="6400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~18.5%</a:t>
            </a:r>
            <a:endParaRPr lang="en-US" sz="17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family</a:t>
            </a:r>
            <a:endParaRPr lang="en-US" sz="1700" dirty="0"/>
          </a:p>
        </ns0:txBody>
      </ns0:sp>
      <ns0:sp>
        <ns0:nvSpPr>
          <ns0:cNvPr id="28" name="Text 25"/>
          <ns0:cNvSpPr/>
          <ns0:nvPr/>
        </ns0:nvSpPr>
        <ns0:spPr>
          <a:xfrm>
            <a:off x="8595360" y="2011680"/>
            <a:ext cx="2834640" cy="15087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related holders ~18.5% may support a take-private if aligned (willingness = DD item)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Electric (6.3%) and KDDI (5.0%) are strategic holders — intentions to map in DD; rest of float dispersed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engagement and a special committee would be required</a:t>
            </a:r>
            <a:endParaRPr lang="en-US" sz="1030" dirty="0"/>
          </a:p>
        </ns0:txBody>
      </ns0:sp>
      <ns0:sp>
        <ns0:nvSpPr>
          <ns0:cNvPr id="29" name="Shape 26"/>
          <ns0:cNvSpPr/>
          <ns0:nvPr/>
        </ns0:nvSpPr>
        <ns0:spPr>
          <a:xfrm>
            <a:off x="5897880" y="3794760"/>
            <a:ext cx="27980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0" name="Shape 27"/>
          <ns0:cNvSpPr/>
          <ns0:nvPr/>
        </ns0:nvSpPr>
        <ns0:spPr>
          <a:xfrm>
            <a:off x="6080760" y="4087368"/>
            <a:ext cx="493776" cy="493776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31" name="Image 0" descr="assets/coins_navy.png">    </ns0:cNvPr>
          <ns0:cNvPicPr>
            <a:picLocks noChangeAspect="1"/>
          </ns0:cNvPicPr>
          <ns0:nvPr/>
        </ns0:nvPicPr>
        <ns0:blipFill>
          <a:blip ns3:embed="rId2"/>
          <a:stretch>
            <a:fillRect/>
          </a:stretch>
        </ns0:blipFill>
        <ns0:spPr>
          <a:xfrm>
            <a:off x="6209142" y="4215750"/>
            <a:ext cx="237012" cy="237012"/>
          </a:xfrm>
          <a:prstGeom prst="rect">
            <a:avLst/>
          </a:prstGeom>
        </ns0:spPr>
      </ns0:pic>
      <ns0:sp>
        <ns0:nvSpPr>
          <ns0:cNvPr id="32" name="Text 28"/>
          <ns0:cNvSpPr/>
          <ns0:nvPr/>
        </ns0:nvSpPr>
        <ns0:spPr>
          <a:xfrm>
            <a:off x="6702552" y="3922776"/>
            <a:ext cx="187452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TODAY</a:t>
            </a:r>
            <a:endParaRPr lang="en-US" sz="830" dirty="0"/>
          </a:p>
        </ns0:txBody>
      </ns0:sp>
      <ns0:sp>
        <ns0:nvSpPr>
          <ns0:cNvPr id="33" name="Text 29"/>
          <ns0:cNvSpPr/>
          <ns0:nvPr/>
        </ns0:nvSpPr>
        <ns0:spPr>
          <a:xfrm>
            <a:off x="6702552" y="4123944"/>
            <a:ext cx="187452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~0.0x</a:t>
            </a:r>
            <a:endParaRPr lang="en-US" sz="1600" dirty="0"/>
          </a:p>
        </ns0:txBody>
      </ns0:sp>
      <ns0:sp>
        <ns0:nvSpPr>
          <ns0:cNvPr id="34" name="Text 30"/>
          <ns0:cNvSpPr/>
          <ns0:nvPr/>
        </ns0:nvSpPr>
        <ns0:spPr>
          <a:xfrm>
            <a:off x="6080760" y="4544568"/>
            <a:ext cx="25146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exists; keep constrained pre-DD</a:t>
            </a:r>
            <a:endParaRPr lang="en-US" sz="840" dirty="0"/>
          </a:p>
        </ns0:txBody>
      </ns0:sp>
      <ns0:sp>
        <ns0:nvSpPr>
          <ns0:cNvPr id="35" name="Shape 31"/>
          <ns0:cNvSpPr/>
          <ns0:nvPr/>
        </ns0:nvSpPr>
        <ns0:spPr>
          <a:xfrm>
            <a:off x="8842248" y="3794760"/>
            <a:ext cx="27980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6" name="Shape 32"/>
          <ns0:cNvSpPr/>
          <ns0:nvPr/>
        </ns0:nvSpPr>
        <ns0:spPr>
          <a:xfrm>
            <a:off x="9025128" y="4087368"/>
            <a:ext cx="493776" cy="493776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37" name="Image 1" descr="assets/money_navy.png">    </ns0:cNvPr>
          <ns0:cNvPicPr>
            <a:picLocks noChangeAspect="1"/>
          </ns0:cNvPicPr>
          <ns0:nvPr/>
        </ns0:nvPicPr>
        <ns0:blipFill>
          <a:blip ns3:embed="rId3"/>
          <a:stretch>
            <a:fillRect/>
          </a:stretch>
        </ns0:blipFill>
        <ns0:spPr>
          <a:xfrm>
            <a:off x="9153510" y="4215750"/>
            <a:ext cx="237012" cy="237012"/>
          </a:xfrm>
          <a:prstGeom prst="rect">
            <a:avLst/>
          </a:prstGeom>
        </ns0:spPr>
      </ns0:pic>
      <ns0:sp>
        <ns0:nvSpPr>
          <ns0:cNvPr id="38" name="Text 33"/>
          <ns0:cNvSpPr/>
          <ns0:nvPr/>
        </ns0:nvSpPr>
        <ns0:spPr>
          <a:xfrm>
            <a:off x="9646920" y="3922776"/>
            <a:ext cx="187452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GENERATION</a:t>
            </a:r>
            <a:endParaRPr lang="en-US" sz="830" dirty="0"/>
          </a:p>
        </ns0:txBody>
      </ns0:sp>
      <ns0:sp>
        <ns0:nvSpPr>
          <ns0:cNvPr id="39" name="Text 34"/>
          <ns0:cNvSpPr/>
          <ns0:nvPr/>
        </ns0:nvSpPr>
        <ns0:spPr>
          <a:xfrm>
            <a:off x="9646920" y="4123944"/>
            <a:ext cx="187452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¥0.2–0.8bn</a:t>
            </a:r>
            <a:endParaRPr lang="en-US" sz="1600" dirty="0"/>
          </a:p>
        </ns0:txBody>
      </ns0:sp>
      <ns0:sp>
        <ns0:nvSpPr>
          <ns0:cNvPr id="40" name="Text 35"/>
          <ns0:cNvSpPr/>
          <ns0:nvPr/>
        </ns0:nvSpPr>
        <ns0:spPr>
          <a:xfrm>
            <a:off x="9025128" y="4544568"/>
            <a:ext cx="25146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debt service</a:t>
            </a:r>
            <a:endParaRPr lang="en-US" sz="840" dirty="0"/>
          </a:p>
        </ns0:txBody>
      </ns0:sp>
      <ns0:sp>
        <ns0:nvSpPr>
          <ns0:cNvPr id="41" name="Shape 36"/>
          <ns0:cNvSpPr/>
          <ns0:nvPr/>
        </ns0:nvSpPr>
        <ns0:spPr>
          <a:xfrm>
            <a:off x="5897880" y="4983480"/>
            <a:ext cx="27980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42" name="Shape 37"/>
          <ns0:cNvSpPr/>
          <ns0:nvPr/>
        </ns0:nvSpPr>
        <ns0:spPr>
          <a:xfrm>
            <a:off x="6080760" y="5276088"/>
            <a:ext cx="493776" cy="493776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43" name="Image 2" descr="assets/building_navy.png">    </ns0:cNvPr>
          <ns0:cNvPicPr>
            <a:picLocks noChangeAspect="1"/>
          </ns0:cNvPicPr>
          <ns0:nvPr/>
        </ns0:nvPicPr>
        <ns0:blipFill>
          <a:blip ns3:embed="rId4"/>
          <a:stretch>
            <a:fillRect/>
          </a:stretch>
        </ns0:blipFill>
        <ns0:spPr>
          <a:xfrm>
            <a:off x="6209142" y="5404470"/>
            <a:ext cx="237012" cy="237012"/>
          </a:xfrm>
          <a:prstGeom prst="rect">
            <a:avLst/>
          </a:prstGeom>
        </ns0:spPr>
      </ns0:pic>
      <ns0:sp>
        <ns0:nvSpPr>
          <ns0:cNvPr id="44" name="Text 38"/>
          <ns0:cNvSpPr/>
          <ns0:nvPr/>
        </ns0:nvSpPr>
        <ns0:spPr>
          <a:xfrm>
            <a:off x="6702552" y="5111496"/>
            <a:ext cx="187452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</a:t>
            </a:r>
            <a:endParaRPr lang="en-US" sz="830" dirty="0"/>
          </a:p>
        </ns0:txBody>
      </ns0:sp>
      <ns0:sp>
        <ns0:nvSpPr>
          <ns0:cNvPr id="45" name="Text 39"/>
          <ns0:cNvSpPr/>
          <ns0:nvPr/>
        </ns0:nvSpPr>
        <ns0:spPr>
          <a:xfrm>
            <a:off x="6702552" y="5312664"/>
            <a:ext cx="187452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TSE Standard</a:t>
            </a:r>
            <a:endParaRPr lang="en-US" sz="1600" dirty="0"/>
          </a:p>
        </ns0:txBody>
      </ns0:sp>
      <ns0:sp>
        <ns0:nvSpPr>
          <ns0:cNvPr id="46" name="Text 40"/>
          <ns0:cNvSpPr/>
          <ns0:nvPr/>
        </ns0:nvSpPr>
        <ns0:spPr>
          <a:xfrm>
            <a:off x="6080760" y="5733288"/>
            <a:ext cx="25146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float; 2-step squeeze-out (≥2/3) feasible</a:t>
            </a:r>
            <a:endParaRPr lang="en-US" sz="840" dirty="0"/>
          </a:p>
        </ns0:txBody>
      </ns0:sp>
      <ns0:sp>
        <ns0:nvSpPr>
          <ns0:cNvPr id="47" name="Shape 41"/>
          <ns0:cNvSpPr/>
          <ns0:nvPr/>
        </ns0:nvSpPr>
        <ns0:spPr>
          <a:xfrm>
            <a:off x="8842248" y="4983480"/>
            <a:ext cx="27980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48" name="Shape 42"/>
          <ns0:cNvSpPr/>
          <ns0:nvPr/>
        </ns0:nvSpPr>
        <ns0:spPr>
          <a:xfrm>
            <a:off x="9025128" y="5276088"/>
            <a:ext cx="493776" cy="493776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49" name="Image 3" descr="assets/handshake_navy.png">    </ns0:cNvPr>
          <ns0:cNvPicPr>
            <a:picLocks noChangeAspect="1"/>
          </ns0:cNvPicPr>
          <ns0:nvPr/>
        </ns0:nvPicPr>
        <ns0:blipFill>
          <a:blip ns3:embed="rId5"/>
          <a:stretch>
            <a:fillRect/>
          </a:stretch>
        </ns0:blipFill>
        <ns0:spPr>
          <a:xfrm>
            <a:off x="9153510" y="5404470"/>
            <a:ext cx="237012" cy="237012"/>
          </a:xfrm>
          <a:prstGeom prst="rect">
            <a:avLst/>
          </a:prstGeom>
        </ns0:spPr>
      </ns0:pic>
      <ns0:sp>
        <ns0:nvSpPr>
          <ns0:cNvPr id="50" name="Text 43"/>
          <ns0:cNvSpPr/>
          <ns0:nvPr/>
        </ns0:nvSpPr>
        <ns0:spPr>
          <a:xfrm>
            <a:off x="9646920" y="5111496"/>
            <a:ext cx="187452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830" dirty="0"/>
          </a:p>
        </ns0:txBody>
      </ns0:sp>
      <ns0:sp>
        <ns0:nvSpPr>
          <ns0:cNvPr id="51" name="Text 44"/>
          <ns0:cNvSpPr/>
          <ns0:nvPr/>
        </ns0:nvSpPr>
        <ns0:spPr>
          <a:xfrm>
            <a:off x="9646920" y="5312664"/>
            <a:ext cx="187452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Sponsor-led / MBO</a:t>
            </a:r>
            <a:endParaRPr lang="en-US" sz="1600" dirty="0"/>
          </a:p>
        </ns0:txBody>
      </ns0:sp>
      <ns0:sp>
        <ns0:nvSpPr>
          <ns0:cNvPr id="52" name="Text 45"/>
          <ns0:cNvSpPr/>
          <ns0:nvPr/>
        </ns0:nvSpPr>
        <ns0:spPr>
          <a:xfrm>
            <a:off x="9025128" y="5733288"/>
            <a:ext cx="25146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founder-aligned; roll-over = DD item</a:t>
            </a:r>
            <a:endParaRPr lang="en-US" sz="840" dirty="0"/>
          </a:p>
        </ns0:txBody>
      </ns0:sp>
      <ns0:sp>
        <ns0:nvSpPr>
          <ns0:cNvPr id="53" name="Text 46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54" name="Text 47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noAutofit/>
          </a:bodyPr>
          <a:lstStyle/>
          <a:p>
            <a:pPr algn="l"/>
            <a:r>
              <a:rPr sz="1500" b="1">
                <a:solidFill>
                  <a:srgbClr val="C8A951"/>
                </a:solidFill>
                <a:latin typeface="Georgia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74320"/>
            <a:ext cx="87782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Georgia"/>
              </a:rPr>
              <a:t>Valuation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424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Autofit/>
          </a:bodyPr>
          <a:lstStyle/>
          <a:p>
            <a:pPr algn="l"/>
            <a:r>
              <a:rPr sz="1100" b="0" i="1">
                <a:solidFill>
                  <a:srgbClr val="5B6485"/>
                </a:solidFill>
                <a:latin typeface="Calibri"/>
              </a:rPr>
              <a:t>Strategic scarcity supports a premium, but sponsor returns do not clear at full precedent-style premia.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303520" cy="2926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29284"/>
            <a:ext cx="5230368" cy="201168"/>
          </a:xfrm>
          <a:prstGeom prst="rect">
            <a:avLst/>
          </a:prstGeom>
          <a:noFill/>
        </p:spPr>
        <p:txBody>
          <a:bodyPr wrap="none" lIns="18288" rIns="18288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AISAN entry valuation and peer frame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1627632"/>
            <a:ext cx="131673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ENTRY EV / EBITDA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865376"/>
            <a:ext cx="131673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1F4E79"/>
                </a:solidFill>
                <a:latin typeface="Aptos"/>
              </a:rPr>
              <a:t>10.1x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2249424"/>
            <a:ext cx="131673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FY26E EBITDA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554480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1627632"/>
            <a:ext cx="131673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ENTRY EV / EBIT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1865376"/>
            <a:ext cx="131673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007070"/>
                </a:solidFill>
                <a:latin typeface="Aptos"/>
              </a:rPr>
              <a:t>13.4x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249424"/>
            <a:ext cx="131673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FY26E EBIT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554480"/>
            <a:ext cx="14630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072" y="1627632"/>
            <a:ext cx="131673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OFFER P /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1865376"/>
            <a:ext cx="131673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B57A14"/>
                </a:solidFill>
                <a:latin typeface="Aptos"/>
              </a:rPr>
              <a:t>31.8x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249424"/>
            <a:ext cx="131673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ex-treasury EPS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94360" y="2834640"/>
          <a:ext cx="5074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8288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690" b="1">
                          <a:solidFill>
                            <a:srgbClr val="FFFFFF"/>
                          </a:solidFill>
                          <a:latin typeface="Aptos"/>
                        </a:rPr>
                        <a:t>Reference set (LTM EV/EBITDA)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1">
                          <a:solidFill>
                            <a:srgbClr val="FFFFFF"/>
                          </a:solidFill>
                          <a:latin typeface="Aptos"/>
                        </a:rPr>
                        <a:t>Why relevant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1">
                          <a:solidFill>
                            <a:srgbClr val="FFFFFF"/>
                          </a:solidFill>
                          <a:latin typeface="Aptos"/>
                        </a:rPr>
                        <a:t>Limitation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Fukui (5.3x) / Zenrin (4.0x)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JP software / map data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Different mix and scale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Topcon (n/a) / Trimble (15.9x)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Positioning / survey stack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Hardware-heavy profile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Autodesk (22.6x) / Bentley (25.6x)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Construction software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Much higher quality / scale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TomTom (10.2x) / HD maps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Mobility / map exposure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>
                          <a:solidFill>
                            <a:srgbClr val="1E2226"/>
                          </a:solidFill>
                          <a:latin typeface="Aptos"/>
                        </a:rPr>
                        <a:t>Different end-market maturity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94360" y="4736592"/>
            <a:ext cx="50749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50"/>
              <a:t>LTM EV/EBITDA via yfinance, 7-Jun-26; Topcon/PASCO inactive; Hexagon excluded (currency mismatch). AISAN's 10.1x entry sits above domestic peers (4-5x), below global software (16-26x).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097280"/>
            <a:ext cx="5349240" cy="292608"/>
          </a:xfrm>
          <a:prstGeom prst="rect">
            <a:avLst/>
          </a:prstGeom>
          <a:solidFill>
            <a:srgbClr val="007070"/>
          </a:solidFill>
          <a:ln>
            <a:solidFill>
              <a:srgbClr val="0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7336" y="1129284"/>
            <a:ext cx="5276088" cy="201168"/>
          </a:xfrm>
          <a:prstGeom prst="rect">
            <a:avLst/>
          </a:prstGeom>
          <a:noFill/>
        </p:spPr>
        <p:txBody>
          <a:bodyPr wrap="none" lIns="18288" rIns="18288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Japan take-private precedent context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72200" y="1554480"/>
          <a:ext cx="5166359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43000"/>
                <a:gridCol w="1051560"/>
                <a:gridCol w="1874519"/>
              </a:tblGrid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ptos"/>
                        </a:rPr>
                        <a:t>Buyer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ptos"/>
                        </a:rPr>
                        <a:t>Premium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ptos"/>
                        </a:rPr>
                        <a:t>Relevance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Tecnos Japan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Ant Capital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+39%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Small-cap IT / software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Kaonavi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Carlyle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+121%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Growth SaaS buyout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Topcon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KKR-led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+17% / +58%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Survey / positioning adjacencies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PASCO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>
                          <a:solidFill>
                            <a:srgbClr val="1E2226"/>
                          </a:solidFill>
                          <a:latin typeface="Aptos"/>
                        </a:rPr>
                        <a:t>SECOM / ITOCHU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/>
                        <a:t>+31% / +17% 6m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/>
                        <a:t>Closest JP geospatial precedent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172200" y="4526280"/>
            <a:ext cx="51663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970"/>
                </a:solidFill>
                <a:latin typeface="Aptos"/>
              </a:rPr>
              <a:t>Reported precedent premia commonly start above 30%, but AISAN's 20% hurdle walk-to-price is only approx. JPY2,031/share.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0927080" cy="566928"/>
          </a:xfrm>
          <a:prstGeom prst="rect">
            <a:avLst/>
          </a:prstGeom>
          <a:solidFill>
            <a:srgbClr val="FAF7F0"/>
          </a:solidFill>
          <a:ln>
            <a:solidFill>
              <a:srgbClr val="E6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495544"/>
            <a:ext cx="10561320" cy="28346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40" b="1">
                <a:solidFill>
                  <a:srgbClr val="1E2226"/>
                </a:solidFill>
                <a:latin typeface="Aptos"/>
              </a:rPr>
              <a:t>Takeaway: AISAN may be strategically attractive, but a financial sponsor needs price discipline, governance clearance and DD-backed value-up rather than relying on market-premium comparables.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35040"/>
            <a:ext cx="1092708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00"/>
              <a:t>Sources: yfinance snapshots (7-Jun-2026); SECOM/ITOCHU and Topcon tender disclosures; M&amp;A Online; accompanying Excel model. All multiples require final verification in a market-data terminal.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473952"/>
            <a:ext cx="457200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970"/>
                </a:solidFill>
                <a:latin typeface="Aptos"/>
              </a:rPr>
              <a:t>Project Measure  ·  Strictly Private &amp;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750" b="0">
                <a:solidFill>
                  <a:srgbClr val="5F69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ns0:sld xmlns:a="http://schemas.openxmlformats.org/drawingml/2006/main" xmlns:ns0="http://schemas.openxmlformats.org/presentationml/2006/main" xmlns:ns2="http://schemas.openxmlformats.org/drawingml/2006/chart" xmlns:ns3="http://schemas.openxmlformats.org/officeDocument/2006/relationships">
  <ns0:cSld name="Slide 9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LBO Structure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and excess balance-sheet cash fund most of the price; new leverage kept low (~1.0x) given lumpy EBITDA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61264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Text 4"/>
          <ns0:cNvSpPr/>
          <ns0:nvPr/>
        </ns0:nvSpPr>
        <ns0:spPr>
          <a:xfrm>
            <a:off x="868680" y="1591056"/>
            <a:ext cx="54864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USES (¥bn)</a:t>
            </a:r>
            <a:endParaRPr lang="en-US" sz="1050" dirty="0"/>
          </a:p>
        </ns0:txBody>
      </ns0:sp>
      <ns0:graphicFrame>
        <ns0:nvGraphicFramePr>
          <ns0:cNvPr id="7" name="Chart 0" descr=""/>
          <ns0:cNvGraphicFramePr/>
          <ns0:nvPr/>
        </ns0:nvGraphicFramePr>
        <ns0:xfrm>
          <a:off x="731520" y="2011680"/>
          <a:ext cx="5760720" cy="3246120"/>
        </ns0:xfrm>
        <a:graphic>
          <a:graphicData uri="http://schemas.openxmlformats.org/drawingml/2006/chart">
            <ns2:chart ns3:id="rId1"/>
          </a:graphicData>
        </a:graphic>
      </ns0:graphicFrame>
      <ns0:sp>
        <ns0:nvSpPr>
          <ns0:cNvPr id="8" name="Text 5"/>
          <ns0:cNvSpPr/>
          <ns0:nvPr/>
        </ns0:nvSpPr>
        <ns0:spPr>
          <a:xfrm>
            <a:off x="868680" y="5532120"/>
            <a:ext cx="54864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deal size ¥12.7bn balances exactly on both sides.</a:t>
            </a:r>
            <a:endParaRPr lang="en-US" sz="950" dirty="0"/>
          </a:p>
        </ns0:txBody>
      </ns0:sp>
      <ns0:sp>
        <ns0:nvSpPr>
          <ns0:cNvPr id="9" name="Shape 6"/>
          <ns0:cNvSpPr/>
          <ns0:nvPr/>
        </ns0:nvSpPr>
        <ns0:spPr>
          <a:xfrm>
            <a:off x="6903720" y="1417320"/>
            <a:ext cx="473659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0" name="Text 7"/>
          <ns0:cNvSpPr/>
          <ns0:nvPr/>
        </ns0:nvSpPr>
        <ns0:spPr>
          <a:xfrm>
            <a:off x="7178040" y="1572768"/>
            <a:ext cx="42062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CAPITALISATION</a:t>
            </a:r>
            <a:endParaRPr lang="en-US" sz="105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7178040" y="1901952"/>
            <a:ext cx="27432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senior term loan</a:t>
            </a:r>
            <a:endParaRPr lang="en-US" sz="1030" dirty="0"/>
          </a:p>
        </ns0:txBody>
      </ns0:sp>
      <ns0:sp>
        <ns0:nvSpPr>
          <ns0:cNvPr id="12" name="Text 9"/>
          <ns0:cNvSpPr/>
          <ns0:nvPr/>
        </ns0:nvSpPr>
        <ns0:spPr>
          <a:xfrm>
            <a:off x="9829800" y="1901952"/>
            <a:ext cx="150876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¥0.8bn</a:t>
            </a:r>
            <a:endParaRPr lang="en-US" sz="1030" dirty="0"/>
          </a:p>
        </ns0:txBody>
      </ns0:sp>
      <ns0:sp>
        <ns0:nvSpPr>
          <ns0:cNvPr id="13" name="Text 10"/>
          <ns0:cNvSpPr/>
          <ns0:nvPr/>
        </ns0:nvSpPr>
        <ns0:spPr>
          <a:xfrm>
            <a:off x="7178040" y="2180844"/>
            <a:ext cx="27432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operating cash</a:t>
            </a:r>
            <a:endParaRPr lang="en-US" sz="103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9829800" y="2180844"/>
            <a:ext cx="150876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¥0.8bn</a:t>
            </a:r>
            <a:endParaRPr lang="en-US" sz="1030" dirty="0"/>
          </a:p>
        </ns0:txBody>
      </ns0:sp>
      <ns0:sp>
        <ns0:nvSpPr>
          <ns0:cNvPr id="15" name="Shape 12"/>
          <ns0:cNvSpPr/>
          <ns0:nvPr/>
        </ns0:nvSpPr>
        <ns0:spPr>
          <a:xfrm>
            <a:off x="7178040" y="2441448"/>
            <a:ext cx="416052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ns0:spPr>
        <ns0:txBody>
          <a:bodyPr/>
          <a:p/>
        </ns0:txBody>
      </ns0:sp>
      <ns0:sp>
        <ns0:nvSpPr>
          <ns0:cNvPr id="16" name="Text 13"/>
          <ns0:cNvSpPr/>
          <ns0:nvPr/>
        </ns0:nvSpPr>
        <ns0:spPr>
          <a:xfrm>
            <a:off x="7178040" y="2459736"/>
            <a:ext cx="27432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at close</a:t>
            </a:r>
            <a:endParaRPr lang="en-US" sz="1030" dirty="0"/>
          </a:p>
        </ns0:txBody>
      </ns0:sp>
      <ns0:sp>
        <ns0:nvSpPr>
          <ns0:cNvPr id="17" name="Text 14"/>
          <ns0:cNvSpPr/>
          <ns0:nvPr/>
        </ns0:nvSpPr>
        <ns0:spPr>
          <a:xfrm>
            <a:off x="9829800" y="2459736"/>
            <a:ext cx="150876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¥0.0bn</a:t>
            </a:r>
            <a:endParaRPr lang="en-US" sz="1030" dirty="0"/>
          </a:p>
        </ns0:txBody>
      </ns0:sp>
      <ns0:sp>
        <ns0:nvSpPr>
          <ns0:cNvPr id="18" name="Text 15"/>
          <ns0:cNvSpPr/>
          <ns0:nvPr/>
        </ns0:nvSpPr>
        <ns0:spPr>
          <a:xfrm>
            <a:off x="7178040" y="2738628"/>
            <a:ext cx="27432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/ LTM EBITDA</a:t>
            </a:r>
            <a:endParaRPr lang="en-US" sz="1030" dirty="0"/>
          </a:p>
        </ns0:txBody>
      </ns0:sp>
      <ns0:sp>
        <ns0:nvSpPr>
          <ns0:cNvPr id="19" name="Text 16"/>
          <ns0:cNvSpPr/>
          <ns0:nvPr/>
        </ns0:nvSpPr>
        <ns0:spPr>
          <a:xfrm>
            <a:off x="9829800" y="2738628"/>
            <a:ext cx="150876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~0.0x</a:t>
            </a:r>
            <a:endParaRPr lang="en-US" sz="1030" dirty="0"/>
          </a:p>
        </ns0:txBody>
      </ns0:sp>
      <ns0:sp>
        <ns0:nvSpPr>
          <ns0:cNvPr id="20" name="Shape 17"/>
          <ns0:cNvSpPr/>
          <ns0:nvPr/>
        </ns0:nvSpPr>
        <ns0:spPr>
          <a:xfrm>
            <a:off x="7178040" y="2999232"/>
            <a:ext cx="416052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ns0:spPr>
        <ns0:txBody>
          <a:bodyPr/>
          <a:p/>
        </ns0:txBody>
      </ns0:sp>
      <ns0:sp>
        <ns0:nvSpPr>
          <ns0:cNvPr id="21" name="Text 18"/>
          <ns0:cNvSpPr/>
          <ns0:nvPr/>
        </ns0:nvSpPr>
        <ns0:spPr>
          <a:xfrm>
            <a:off x="7178040" y="3017520"/>
            <a:ext cx="27432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equity</a:t>
            </a:r>
            <a:endParaRPr lang="en-US" sz="1030" dirty="0"/>
          </a:p>
        </ns0:txBody>
      </ns0:sp>
      <ns0:sp>
        <ns0:nvSpPr>
          <ns0:cNvPr id="22" name="Text 19"/>
          <ns0:cNvSpPr/>
          <ns0:nvPr/>
        </ns0:nvSpPr>
        <ns0:spPr>
          <a:xfrm>
            <a:off x="9829800" y="3017520"/>
            <a:ext cx="150876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¥8.5bn</a:t>
            </a:r>
            <a:endParaRPr lang="en-US" sz="1030" dirty="0"/>
          </a:p>
        </ns0:txBody>
      </ns0:sp>
      <ns0:sp>
        <ns0:nvSpPr>
          <ns0:cNvPr id="23" name="Text 20"/>
          <ns0:cNvSpPr/>
          <ns0:nvPr/>
        </ns0:nvSpPr>
        <ns0:spPr>
          <a:xfrm>
            <a:off x="7178040" y="3296412"/>
            <a:ext cx="274320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% of capitalisation</a:t>
            </a:r>
            <a:endParaRPr lang="en-US" sz="1030" dirty="0"/>
          </a:p>
        </ns0:txBody>
      </ns0:sp>
      <ns0:sp>
        <ns0:nvSpPr>
          <ns0:cNvPr id="24" name="Text 21"/>
          <ns0:cNvSpPr/>
          <ns0:nvPr/>
        </ns0:nvSpPr>
        <ns0:spPr>
          <a:xfrm>
            <a:off x="9829800" y="3296412"/>
            <a:ext cx="1508760" cy="24688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30" dirty="0"/>
          </a:p>
        </ns0:txBody>
      </ns0:sp>
      <ns0:sp>
        <ns0:nvSpPr>
          <ns0:cNvPr id="25" name="Shape 22"/>
          <ns0:cNvSpPr/>
          <ns0:nvPr/>
        </ns0:nvSpPr>
        <ns0:spPr>
          <a:xfrm>
            <a:off x="6903720" y="3794760"/>
            <a:ext cx="229514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6" name="Shape 23"/>
          <ns0:cNvSpPr/>
          <ns0:nvPr/>
        </ns0:nvSpPr>
        <ns0:spPr>
          <a:xfrm>
            <a:off x="6903720" y="3794760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27" name="Text 24"/>
          <ns0:cNvSpPr/>
          <ns0:nvPr/>
        </ns0:nvSpPr>
        <ns0:spPr>
          <a:xfrm>
            <a:off x="7132320" y="3941064"/>
            <a:ext cx="20116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EV / EBITDA</a:t>
            </a:r>
            <a:endParaRPr lang="en-US" sz="860" dirty="0"/>
          </a:p>
        </ns0:txBody>
      </ns0:sp>
      <ns0:sp>
        <ns0:nvSpPr>
          <ns0:cNvPr id="28" name="Text 25"/>
          <ns0:cNvSpPr/>
          <ns0:nvPr/>
        </ns0:nvSpPr>
        <ns0:spPr>
          <a:xfrm>
            <a:off x="7132320" y="4215384"/>
            <a:ext cx="20116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10.1x</a:t>
            </a:r>
            <a:endParaRPr lang="en-US" sz="2500" dirty="0"/>
          </a:p>
        </ns0:txBody>
      </ns0:sp>
      <ns0:sp>
        <ns0:nvSpPr>
          <ns0:cNvPr id="29" name="Shape 26"/>
          <ns0:cNvSpPr/>
          <ns0:nvPr/>
        </ns0:nvSpPr>
        <ns0:spPr>
          <a:xfrm>
            <a:off x="9345168" y="3794760"/>
            <a:ext cx="229514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0" name="Shape 27"/>
          <ns0:cNvSpPr/>
          <ns0:nvPr/>
        </ns0:nvSpPr>
        <ns0:spPr>
          <a:xfrm>
            <a:off x="9345168" y="3794760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2A3470"/>
          </a:solidFill>
          <a:ln/>
        </ns0:spPr>
        <ns0:txBody>
          <a:bodyPr/>
          <a:p/>
        </ns0:txBody>
      </ns0:sp>
      <ns0:sp>
        <ns0:nvSpPr>
          <ns0:cNvPr id="31" name="Text 28"/>
          <ns0:cNvSpPr/>
          <ns0:nvPr/>
        </ns0:nvSpPr>
        <ns0:spPr>
          <a:xfrm>
            <a:off x="9573768" y="3941064"/>
            <a:ext cx="20116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EV / EBIT</a:t>
            </a:r>
            <a:endParaRPr lang="en-US" sz="860" dirty="0"/>
          </a:p>
        </ns0:txBody>
      </ns0:sp>
      <ns0:sp>
        <ns0:nvSpPr>
          <ns0:cNvPr id="32" name="Text 29"/>
          <ns0:cNvSpPr/>
          <ns0:nvPr/>
        </ns0:nvSpPr>
        <ns0:spPr>
          <a:xfrm>
            <a:off x="9573768" y="4215384"/>
            <a:ext cx="20116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13.4x</a:t>
            </a:r>
            <a:endParaRPr lang="en-US" sz="2500" dirty="0"/>
          </a:p>
        </ns0:txBody>
      </ns0:sp>
      <ns0:sp>
        <ns0:nvSpPr>
          <ns0:cNvPr id="33" name="Shape 30"/>
          <ns0:cNvSpPr/>
          <ns0:nvPr/>
        </ns0:nvSpPr>
        <ns0:spPr>
          <a:xfrm>
            <a:off x="6903720" y="4983480"/>
            <a:ext cx="229514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4" name="Shape 31"/>
          <ns0:cNvSpPr/>
          <ns0:nvPr/>
        </ns0:nvSpPr>
        <ns0:spPr>
          <a:xfrm>
            <a:off x="6903720" y="4983480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35" name="Text 32"/>
          <ns0:cNvSpPr/>
          <ns0:nvPr/>
        </ns0:nvSpPr>
        <ns0:spPr>
          <a:xfrm>
            <a:off x="7132320" y="5129784"/>
            <a:ext cx="20116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 / E</a:t>
            </a:r>
            <a:endParaRPr lang="en-US" sz="860" dirty="0"/>
          </a:p>
        </ns0:txBody>
      </ns0:sp>
      <ns0:sp>
        <ns0:nvSpPr>
          <ns0:cNvPr id="36" name="Text 33"/>
          <ns0:cNvSpPr/>
          <ns0:nvPr/>
        </ns0:nvSpPr>
        <ns0:spPr>
          <a:xfrm>
            <a:off x="7132320" y="5404104"/>
            <a:ext cx="20116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31.8x</a:t>
            </a:r>
            <a:endParaRPr lang="en-US" sz="2500" dirty="0"/>
          </a:p>
        </ns0:txBody>
      </ns0:sp>
      <ns0:sp>
        <ns0:nvSpPr>
          <ns0:cNvPr id="37" name="Shape 34"/>
          <ns0:cNvSpPr/>
          <ns0:nvPr/>
        </ns0:nvSpPr>
        <ns0:spPr>
          <a:xfrm>
            <a:off x="9345168" y="4983480"/>
            <a:ext cx="229514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8" name="Shape 35"/>
          <ns0:cNvSpPr/>
          <ns0:nvPr/>
        </ns0:nvSpPr>
        <ns0:spPr>
          <a:xfrm>
            <a:off x="9345168" y="4983480"/>
            <a:ext cx="82296" cy="1078992"/>
          </a:xfrm>
          <a:prstGeom prst="roundRect">
            <a:avLst>
              <a:gd name="adj" fmla="val 66667"/>
            </a:avLst>
          </a:prstGeom>
          <a:solidFill>
            <a:srgbClr val="2E7D52"/>
          </a:solidFill>
          <a:ln/>
        </ns0:spPr>
        <ns0:txBody>
          <a:bodyPr/>
          <a:p/>
        </ns0:txBody>
      </ns0:sp>
      <ns0:sp>
        <ns0:nvSpPr>
          <ns0:cNvPr id="39" name="Text 36"/>
          <ns0:cNvSpPr/>
          <ns0:nvPr/>
        </ns0:nvSpPr>
        <ns0:spPr>
          <a:xfrm>
            <a:off x="9573768" y="5129784"/>
            <a:ext cx="20116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5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TERM-LOAN PRICING</a:t>
            </a:r>
            <a:endParaRPr lang="en-US" sz="860" dirty="0"/>
          </a:p>
        </ns0:txBody>
      </ns0:sp>
      <ns0:sp>
        <ns0:nvSpPr>
          <ns0:cNvPr id="40" name="Text 37"/>
          <ns0:cNvSpPr/>
          <ns0:nvPr/>
        </ns0:nvSpPr>
        <ns0:spPr>
          <a:xfrm>
            <a:off x="9573768" y="5404104"/>
            <a:ext cx="20116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~3.5%</a:t>
            </a:r>
            <a:endParaRPr lang="en-US" sz="2500" dirty="0"/>
          </a:p>
        </ns0:txBody>
      </ns0:sp>
      <ns0:sp>
        <ns0:nvSpPr>
          <ns0:cNvPr id="41" name="Text 38"/>
          <ns0:cNvSpPr/>
          <ns0:nvPr/>
        </ns0:nvSpPr>
        <ns0:spPr>
          <a:xfrm>
            <a:off x="6922008" y="6053328"/>
            <a:ext cx="47091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P/E is optically high — depressed by Mobility losses; normalised on the software core it is far lower.</a:t>
            </a:r>
            <a:endParaRPr lang="en-US" sz="860" dirty="0"/>
          </a:p>
        </ns0:txBody>
      </ns0:sp>
      <ns0:sp>
        <ns0:nvSpPr>
          <ns0:cNvPr id="42" name="Text 39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43" name="Text 40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78992" y="36576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Projections — Base Case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Mid-single-digit growth with gradual margin expansion toward the software core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94944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591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EBITDA (¥mm)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965960"/>
          <a:ext cx="67665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5074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~6% CAGR (FY26E→FY31E); EBITDA margin expands ~11% → ~15% as overhead is rationalised and Mobility losses narrow.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0" y="1417320"/>
            <a:ext cx="3959352" cy="4617720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955280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OPERATING ASSUMPTIONS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01000" y="1993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012680" y="1993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→ +7% p.a.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63840" y="2423160"/>
            <a:ext cx="3593592" cy="420624"/>
          </a:xfrm>
          <a:prstGeom prst="roundRect">
            <a:avLst>
              <a:gd name="adj" fmla="val 1304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001000" y="2450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12680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 → 12.0%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0100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(FY31E)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012680" y="2907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¥1.43bn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63840" y="3337560"/>
            <a:ext cx="3593592" cy="420624"/>
          </a:xfrm>
          <a:prstGeom prst="roundRect">
            <a:avLst>
              <a:gd name="adj" fmla="val 1304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001000" y="3364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012680" y="3364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of revenue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01000" y="3822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net working capital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012680" y="3822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of Δ revenue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863840" y="4251960"/>
            <a:ext cx="3593592" cy="420624"/>
          </a:xfrm>
          <a:prstGeom prst="roundRect">
            <a:avLst>
              <a:gd name="adj" fmla="val 1304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001000" y="4279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tax rate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012680" y="4279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001000" y="4736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012680" y="4736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¥0.21–0.27bn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863840" y="5166360"/>
            <a:ext cx="3593592" cy="420624"/>
          </a:xfrm>
          <a:prstGeom prst="roundRect">
            <a:avLst>
              <a:gd name="adj" fmla="val 1304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001000" y="5193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sweep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0012680" y="5193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to debt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973568" y="57790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conservative: growth in line with history, margin gains phased — not a hockey stick.</a:t>
            </a:r>
            <a:endParaRPr lang="en-US" sz="880" dirty="0"/>
          </a:p>
        </p:txBody>
      </p:sp>
      <p:sp>
        <p:nvSpPr>
          <p:cNvPr id="32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ns0:sld xmlns:a="http://schemas.openxmlformats.org/drawingml/2006/main" xmlns:ns0="http://schemas.openxmlformats.org/presentationml/2006/main">
  <ns0:cSld name="Slide 11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— Base Case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2.1x MOIC / ~15.6% IRR (below a clean 20% hurdle) — figures pending any restatement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777240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Text 4"/>
          <ns0:cNvSpPr/>
          <ns0:nvPr/>
        </ns0:nvSpPr>
        <ns0:spPr>
          <a:xfrm>
            <a:off x="868680" y="1591056"/>
            <a:ext cx="64008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 CREATION BRIDGE (¥bn)</a:t>
            </a:r>
            <a:endParaRPr lang="en-US" sz="105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2075688" y="3698086"/>
            <a:ext cx="548640" cy="0"/>
          </a:xfrm>
          <a:prstGeom prst="line">
            <a:avLst/>
          </a:prstGeom>
          <a:noFill/>
          <a:ln w="12700">
            <a:solidFill>
              <a:srgbClr val="8A93B2"/>
            </a:solidFill>
            <a:prstDash val="dash"/>
          </a:ln>
        </ns0:spPr>
        <ns0:txBody>
          <a:bodyPr/>
          <a:p/>
        </ns0:txBody>
      </ns0:sp>
      <ns0:sp>
        <ns0:nvSpPr>
          <ns0:cNvPr id="8" name="Shape 6"/>
          <ns0:cNvSpPr/>
          <ns0:nvPr/>
        </ns0:nvSpPr>
        <ns0:spPr>
          <a:xfrm>
            <a:off x="3557016" y="2520096"/>
            <a:ext cx="548640" cy="0"/>
          </a:xfrm>
          <a:prstGeom prst="line">
            <a:avLst/>
          </a:prstGeom>
          <a:noFill/>
          <a:ln w="12700">
            <a:solidFill>
              <a:srgbClr val="8A93B2"/>
            </a:solidFill>
            <a:prstDash val="dash"/>
          </a:ln>
        </ns0:spPr>
        <ns0:txBody>
          <a:bodyPr/>
          <a:p/>
        </ns0:txBody>
      </ns0:sp>
      <ns0:sp>
        <ns0:nvSpPr>
          <ns0:cNvPr id="9" name="Shape 7"/>
          <ns0:cNvSpPr/>
          <ns0:nvPr/>
        </ns0:nvSpPr>
        <ns0:spPr>
          <a:xfrm>
            <a:off x="5038344" y="2520096"/>
            <a:ext cx="548640" cy="0"/>
          </a:xfrm>
          <a:prstGeom prst="line">
            <a:avLst/>
          </a:prstGeom>
          <a:noFill/>
          <a:ln w="12700">
            <a:solidFill>
              <a:srgbClr val="8A93B2"/>
            </a:solidFill>
            <a:prstDash val="dash"/>
          </a:ln>
        </ns0:spPr>
        <ns0:txBody>
          <a:bodyPr/>
          <a:p/>
        </ns0:txBody>
      </ns0:sp>
      <ns0:sp>
        <ns0:nvSpPr>
          <ns0:cNvPr id="10" name="Shape 8"/>
          <ns0:cNvSpPr/>
          <ns0:nvPr/>
        </ns0:nvSpPr>
        <ns0:spPr>
          <a:xfrm>
            <a:off x="6519672" y="2240280"/>
            <a:ext cx="548640" cy="0"/>
          </a:xfrm>
          <a:prstGeom prst="line">
            <a:avLst/>
          </a:prstGeom>
          <a:noFill/>
          <a:ln w="12700">
            <a:solidFill>
              <a:srgbClr val="8A93B2"/>
            </a:solidFill>
            <a:prstDash val="dash"/>
          </a:ln>
        </ns0:spPr>
        <ns0:txBody>
          <a:bodyPr/>
          <a:p/>
        </ns0:txBody>
      </ns0:sp>
      <ns0:sp>
        <ns0:nvSpPr>
          <ns0:cNvPr id="11" name="Shape 9"/>
          <ns0:cNvSpPr/>
          <ns0:nvPr/>
        </ns0:nvSpPr>
        <ns0:spPr>
          <a:xfrm>
            <a:off x="1143000" y="3698086"/>
            <a:ext cx="932688" cy="1559714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sp>
        <ns0:nvSpPr>
          <ns0:cNvPr id="12" name="Text 10"/>
          <ns0:cNvSpPr/>
          <ns0:nvPr/>
        </ns0:nvSpPr>
        <ns0:spPr>
          <a:xfrm>
            <a:off x="1005840" y="3387190"/>
            <a:ext cx="120700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8.45</a:t>
            </a:r>
            <a:endParaRPr lang="en-US" sz="115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960120" y="5330952"/>
            <a:ext cx="1298448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95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2624328" y="2520096"/>
            <a:ext cx="932688" cy="1177990"/>
          </a:xfrm>
          <a:prstGeom prst="rect">
            <a:avLst/>
          </a:prstGeom>
          <a:solidFill>
            <a:srgbClr val="2E7D52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sp>
        <ns0:nvSpPr>
          <ns0:cNvPr id="15" name="Text 13"/>
          <ns0:cNvSpPr/>
          <ns0:nvPr/>
        </ns0:nvSpPr>
        <ns0:spPr>
          <a:xfrm>
            <a:off x="2487168" y="2209200"/>
            <a:ext cx="120700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+6.36</a:t>
            </a:r>
            <a:endParaRPr lang="en-US" sz="115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2441448" y="5330952"/>
            <a:ext cx="1298448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4105656" y="2520096"/>
            <a:ext cx="932688" cy="195180"/>
          </a:xfrm>
          <a:prstGeom prst="rect">
            <a:avLst/>
          </a:prstGeom>
          <a:solidFill>
            <a:srgbClr val="B5462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sp>
        <ns0:nvSpPr>
          <ns0:cNvPr id="18" name="Text 16"/>
          <ns0:cNvSpPr/>
          <ns0:nvPr/>
        </ns0:nvSpPr>
        <ns0:spPr>
          <a:xfrm>
            <a:off x="3968496" y="2209200"/>
            <a:ext cx="120700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–0.09</a:t>
            </a:r>
            <a:endParaRPr lang="en-US" sz="115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3922776" y="5330952"/>
            <a:ext cx="1298448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5586984" y="2240280"/>
            <a:ext cx="932688" cy="474996"/>
          </a:xfrm>
          <a:prstGeom prst="rect">
            <a:avLst/>
          </a:prstGeom>
          <a:solidFill>
            <a:srgbClr val="2E7D52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sp>
        <ns0:nvSpPr>
          <ns0:cNvPr id="21" name="Text 19"/>
          <ns0:cNvSpPr/>
          <ns0:nvPr/>
        </ns0:nvSpPr>
        <ns0:spPr>
          <a:xfrm>
            <a:off x="5449824" y="1929384"/>
            <a:ext cx="120700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+2.75</a:t>
            </a:r>
            <a:endParaRPr lang="en-US" sz="115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5404104" y="5330952"/>
            <a:ext cx="1298448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Deleverage,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&amp; fees</a:t>
            </a:r>
            <a:endParaRPr lang="en-US" sz="95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7068312" y="2240280"/>
            <a:ext cx="932688" cy="3017520"/>
          </a:xfrm>
          <a:prstGeom prst="rect">
            <a:avLst/>
          </a:prstGeom>
          <a:solidFill>
            <a:srgbClr val="C8A95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sp>
        <ns0:nvSpPr>
          <ns0:cNvPr id="24" name="Text 22"/>
          <ns0:cNvSpPr/>
          <ns0:nvPr/>
        </ns0:nvSpPr>
        <ns0:spPr>
          <a:xfrm>
            <a:off x="6931152" y="1929384"/>
            <a:ext cx="1207008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17.47</a:t>
            </a:r>
            <a:endParaRPr lang="en-US" sz="115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885432" y="5330952"/>
            <a:ext cx="1298448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95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822960" y="5257800"/>
            <a:ext cx="7315200" cy="0"/>
          </a:xfrm>
          <a:prstGeom prst="line">
            <a:avLst/>
          </a:prstGeom>
          <a:noFill/>
          <a:ln w="12700">
            <a:solidFill>
              <a:srgbClr val="C7CEE0"/>
            </a:solidFill>
            <a:prstDash val="solid"/>
          </a:ln>
        </ns0:spPr>
        <ns0:txBody>
          <a:bodyPr/>
          <a:p/>
        </ns0:txBody>
      </ns0:sp>
      <ns0:sp>
        <ns0:nvSpPr>
          <ns0:cNvPr id="27" name="Text 25"/>
          <ns0:cNvSpPr/>
          <ns0:nvPr/>
        </ns0:nvSpPr>
        <ns0:spPr>
          <a:xfrm>
            <a:off x="868680" y="5779008"/>
            <a:ext cx="68580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reconciles exactly to exit equity; 'Deleverage, FCF &amp; fees' is net of ~¥0.4bn transaction costs. Returns are gross of fees, carry and MIP dilution; IRR assumes a single exit cash flow (no interim dividends).</a:t>
            </a:r>
            <a:endParaRPr lang="en-US" sz="86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549640" y="1417320"/>
            <a:ext cx="3090672" cy="2240280"/>
          </a:xfrm>
          <a:prstGeom prst="roundRect">
            <a:avLst>
              <a:gd name="adj" fmla="val 40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9" name="Text 27"/>
          <ns0:cNvSpPr/>
          <ns0:nvPr/>
        </ns0:nvSpPr>
        <ns0:spPr>
          <a:xfrm>
            <a:off x="8823960" y="1591056"/>
            <a:ext cx="2651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RETURNS</a:t>
            </a:r>
            <a:endParaRPr lang="en-US" sz="1000" dirty="0"/>
          </a:p>
        </ns0:txBody>
      </ns0:sp>
      <ns0:sp>
        <ns0:nvSpPr>
          <ns0:cNvPr id="30" name="Text 28"/>
          <ns0:cNvSpPr/>
          <ns0:nvPr/>
        </ns0:nvSpPr>
        <ns0:spPr>
          <a:xfrm>
            <a:off x="8823960" y="1965960"/>
            <a:ext cx="2651760" cy="9144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2.07x</a:t>
            </a:r>
            <a:endParaRPr lang="en-US" sz="42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MOIC</a:t>
            </a:r>
            <a:endParaRPr lang="en-US" sz="4200" dirty="0"/>
          </a:p>
        </ns0:txBody>
      </ns0:sp>
      <ns0:sp>
        <ns0:nvSpPr>
          <ns0:cNvPr id="31" name="Shape 29"/>
          <ns0:cNvSpPr/>
          <ns0:nvPr/>
        </ns0:nvSpPr>
        <ns0:spPr>
          <a:xfrm>
            <a:off x="8823960" y="2944368"/>
            <a:ext cx="2542032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ns0:spPr>
        <ns0:txBody>
          <a:bodyPr/>
          <a:p/>
        </ns0:txBody>
      </ns0:sp>
      <ns0:sp>
        <ns0:nvSpPr>
          <ns0:cNvPr id="32" name="Text 30"/>
          <ns0:cNvSpPr/>
          <ns0:nvPr/>
        </ns0:nvSpPr>
        <ns0:spPr>
          <a:xfrm>
            <a:off x="8823960" y="3063240"/>
            <a:ext cx="26974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15.6%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gross IRR · 5-yr hold</a:t>
            </a:r>
            <a:endParaRPr lang="en-US" sz="3000" dirty="0"/>
          </a:p>
        </ns0:txBody>
      </ns0:sp>
      <ns0:sp>
        <ns0:nvSpPr>
          <ns0:cNvPr id="33" name="Shape 31"/>
          <ns0:cNvSpPr/>
          <ns0:nvPr/>
        </ns0:nvSpPr>
        <ns0:spPr>
          <a:xfrm>
            <a:off x="8549640" y="3822192"/>
            <a:ext cx="309067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4" name="Text 32"/>
          <ns0:cNvSpPr/>
          <ns0:nvPr/>
        </ns0:nvSpPr>
        <ns0:spPr>
          <a:xfrm>
            <a:off x="8732520" y="3822192"/>
            <a:ext cx="19202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EBITDA (FY31E)</a:t>
            </a:r>
            <a:endParaRPr lang="en-US" sz="980" dirty="0"/>
          </a:p>
        </ns0:txBody>
      </ns0:sp>
      <ns0:sp>
        <ns0:nvSpPr>
          <ns0:cNvPr id="35" name="Text 33"/>
          <ns0:cNvSpPr/>
          <ns0:nvPr/>
        </ns0:nvSpPr>
        <ns0:spPr>
          <a:xfrm>
            <a:off x="10561320" y="3822192"/>
            <a:ext cx="9144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¥1.43bn</a:t>
            </a:r>
            <a:endParaRPr lang="en-US" sz="980" dirty="0"/>
          </a:p>
        </ns0:txBody>
      </ns0:sp>
      <ns0:sp>
        <ns0:nvSpPr>
          <ns0:cNvPr id="36" name="Shape 34"/>
          <ns0:cNvSpPr/>
          <ns0:nvPr/>
        </ns0:nvSpPr>
        <ns0:spPr>
          <a:xfrm>
            <a:off x="8549640" y="4201668"/>
            <a:ext cx="309067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7" name="Text 35"/>
          <ns0:cNvSpPr/>
          <ns0:nvPr/>
        </ns0:nvSpPr>
        <ns0:spPr>
          <a:xfrm>
            <a:off x="8732520" y="4201668"/>
            <a:ext cx="19202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EV / EBITDA</a:t>
            </a:r>
            <a:endParaRPr lang="en-US" sz="980" dirty="0"/>
          </a:p>
        </ns0:txBody>
      </ns0:sp>
      <ns0:sp>
        <ns0:nvSpPr>
          <ns0:cNvPr id="38" name="Text 36"/>
          <ns0:cNvSpPr/>
          <ns0:nvPr/>
        </ns0:nvSpPr>
        <ns0:spPr>
          <a:xfrm>
            <a:off x="10561320" y="4201668"/>
            <a:ext cx="9144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10.0x</a:t>
            </a:r>
            <a:endParaRPr lang="en-US" sz="980" dirty="0"/>
          </a:p>
        </ns0:txBody>
      </ns0:sp>
      <ns0:sp>
        <ns0:nvSpPr>
          <ns0:cNvPr id="39" name="Shape 37"/>
          <ns0:cNvSpPr/>
          <ns0:nvPr/>
        </ns0:nvSpPr>
        <ns0:spPr>
          <a:xfrm>
            <a:off x="8549640" y="4581144"/>
            <a:ext cx="309067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40" name="Text 38"/>
          <ns0:cNvSpPr/>
          <ns0:nvPr/>
        </ns0:nvSpPr>
        <ns0:spPr>
          <a:xfrm>
            <a:off x="8732520" y="4581144"/>
            <a:ext cx="19202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enterprise value</a:t>
            </a:r>
            <a:endParaRPr lang="en-US" sz="980" dirty="0"/>
          </a:p>
        </ns0:txBody>
      </ns0:sp>
      <ns0:sp>
        <ns0:nvSpPr>
          <ns0:cNvPr id="41" name="Text 39"/>
          <ns0:cNvSpPr/>
          <ns0:nvPr/>
        </ns0:nvSpPr>
        <ns0:spPr>
          <a:xfrm>
            <a:off x="10561320" y="4581144"/>
            <a:ext cx="9144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¥14.3bn</a:t>
            </a:r>
            <a:endParaRPr lang="en-US" sz="980" dirty="0"/>
          </a:p>
        </ns0:txBody>
      </ns0:sp>
      <ns0:sp>
        <ns0:nvSpPr>
          <ns0:cNvPr id="42" name="Shape 40"/>
          <ns0:cNvSpPr/>
          <ns0:nvPr/>
        </ns0:nvSpPr>
        <ns0:spPr>
          <a:xfrm>
            <a:off x="8549640" y="4960620"/>
            <a:ext cx="309067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43" name="Text 41"/>
          <ns0:cNvSpPr/>
          <ns0:nvPr/>
        </ns0:nvSpPr>
        <ns0:spPr>
          <a:xfrm>
            <a:off x="8732520" y="4960620"/>
            <a:ext cx="19202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at exit</a:t>
            </a:r>
            <a:endParaRPr lang="en-US" sz="980" dirty="0"/>
          </a:p>
        </ns0:txBody>
      </ns0:sp>
      <ns0:sp>
        <ns0:nvSpPr>
          <ns0:cNvPr id="44" name="Text 42"/>
          <ns0:cNvSpPr/>
          <ns0:nvPr/>
        </ns0:nvSpPr>
        <ns0:spPr>
          <a:xfrm>
            <a:off x="10561320" y="4960620"/>
            <a:ext cx="9144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¥3.15bn</a:t>
            </a:r>
            <a:endParaRPr lang="en-US" sz="980" dirty="0"/>
          </a:p>
        </ns0:txBody>
      </ns0:sp>
      <ns0:sp>
        <ns0:nvSpPr>
          <ns0:cNvPr id="45" name="Shape 43"/>
          <ns0:cNvSpPr/>
          <ns0:nvPr/>
        </ns0:nvSpPr>
        <ns0:spPr>
          <a:xfrm>
            <a:off x="8549640" y="5340096"/>
            <a:ext cx="3090672" cy="365760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46" name="Text 44"/>
          <ns0:cNvSpPr/>
          <ns0:nvPr/>
        </ns0:nvSpPr>
        <ns0:spPr>
          <a:xfrm>
            <a:off x="8732520" y="5340096"/>
            <a:ext cx="19202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equity value</a:t>
            </a:r>
            <a:endParaRPr lang="en-US" sz="980" dirty="0"/>
          </a:p>
        </ns0:txBody>
      </ns0:sp>
      <ns0:sp>
        <ns0:nvSpPr>
          <ns0:cNvPr id="47" name="Text 45"/>
          <ns0:cNvSpPr/>
          <ns0:nvPr/>
        </ns0:nvSpPr>
        <ns0:spPr>
          <a:xfrm>
            <a:off x="10561320" y="5340096"/>
            <a:ext cx="9144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¥17.5bn</a:t>
            </a:r>
            <a:endParaRPr lang="en-US" sz="980" dirty="0"/>
          </a:p>
        </ns0:txBody>
      </ns0:sp>
      <ns0:sp>
        <ns0:nvSpPr>
          <ns0:cNvPr id="48" name="Shape 46"/>
          <ns0:cNvSpPr/>
          <ns0:nvPr/>
        </ns0:nvSpPr>
        <ns0:spPr>
          <a:xfrm>
            <a:off x="8549640" y="5719572"/>
            <a:ext cx="3090672" cy="365760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49" name="Text 47"/>
          <ns0:cNvSpPr/>
          <ns0:nvPr/>
        </ns0:nvSpPr>
        <ns0:spPr>
          <a:xfrm>
            <a:off x="8732520" y="5719572"/>
            <a:ext cx="19202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equity in</a:t>
            </a:r>
            <a:endParaRPr lang="en-US" sz="980" dirty="0"/>
          </a:p>
        </ns0:txBody>
      </ns0:sp>
      <ns0:sp>
        <ns0:nvSpPr>
          <ns0:cNvPr id="50" name="Text 48"/>
          <ns0:cNvSpPr/>
          <ns0:nvPr/>
        </ns0:nvSpPr>
        <ns0:spPr>
          <a:xfrm>
            <a:off x="10561320" y="5719572"/>
            <a:ext cx="9144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¥8.45bn</a:t>
            </a:r>
            <a:endParaRPr lang="en-US" sz="980" dirty="0"/>
          </a:p>
        </ns0:txBody>
      </ns0:sp>
      <ns0:sp>
        <ns0:nvSpPr>
          <ns0:cNvPr id="51" name="Text 49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52" name="Text 50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13.xml><?xml version="1.0" encoding="utf-8"?>
<ns0:sld xmlns:a="http://schemas.openxmlformats.org/drawingml/2006/main" xmlns:ns0="http://schemas.openxmlformats.org/presentationml/2006/main" xmlns:ns2="http://schemas.microsoft.com/office/powerpoint/2010/main">
  <ns0:cSld name="Slide 12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&amp; Scenarios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sit below a clean 20% hurdle at the base premium; the downside is a capital impairment, the upside clears only if DD clears.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64008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Text 4"/>
          <ns0:cNvSpPr/>
          <ns0:nvPr/>
        </ns0:nvSpPr>
        <ns0:spPr>
          <a:xfrm>
            <a:off x="868680" y="1572768"/>
            <a:ext cx="58521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IRR  —  offer premium × exit EV/EBITDA</a:t>
            </a:r>
            <a:endParaRPr lang="en-US" sz="1050" dirty="0"/>
          </a:p>
        </ns0:txBody>
      </ns0:sp>
      <ns0:graphicFrame>
        <ns0:nvGraphicFramePr>
          <ns0:cNvPr id="13" name="Table 0"/>
          <ns0:cNvGraphicFramePr>
            <a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a:off x="868680" y="1993392"/>
          <a:ext cx="5760720" cy="2148840"/>
        </ns0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＼ Exit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AC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9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6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BD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A0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8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7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C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1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7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06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B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9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D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5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9E81"/>
                    </a:solidFill>
                  </a:tcPr>
                </a:tc>
              </a:tr>
            </a:tbl>
          </a:graphicData>
        </a:graphic>
      </ns0:graphicFrame>
      <ns0:sp>
        <ns0:nvSpPr>
          <ns0:cNvPr id="8" name="Text 5"/>
          <ns0:cNvSpPr/>
          <ns0:nvPr/>
        </ns0:nvSpPr>
        <ns0:spPr>
          <a:xfrm>
            <a:off x="868680" y="4160520"/>
            <a:ext cx="585216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(37% premium, 10.0x exit) ≈ 15.6% IRR. Returns remain below a clean 20% hurdle at the base premium; low-premium / high-exit cases can exceed it.</a:t>
            </a:r>
            <a:endParaRPr lang="en-US" sz="900" dirty="0"/>
          </a:p>
        </ns0:txBody>
      </ns0:sp>
      <ns0:sp>
        <ns0:nvSpPr>
          <ns0:cNvPr id="9" name="Shape 6"/>
          <ns0:cNvSpPr/>
          <ns0:nvPr/>
        </ns0:nvSpPr>
        <ns0:spPr>
          <a:xfrm>
            <a:off x="7178040" y="1417320"/>
            <a:ext cx="446227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0" name="Shape 7"/>
          <ns0:cNvSpPr/>
          <ns0:nvPr/>
        </ns0:nvSpPr>
        <ns0:spPr>
          <a:xfrm>
            <a:off x="7178040" y="1417320"/>
            <a:ext cx="109728" cy="1463040"/>
          </a:xfrm>
          <a:prstGeom prst="roundRect">
            <a:avLst>
              <a:gd name="adj" fmla="val 50000"/>
            </a:avLst>
          </a:prstGeom>
          <a:solidFill>
            <a:srgbClr val="B5462F"/>
          </a:solidFill>
          <a:ln/>
        </ns0:spPr>
        <ns0:txBody>
          <a:bodyPr/>
          <a:p/>
        </ns0:txBody>
      </ns0:sp>
      <ns0:sp>
        <ns0:nvSpPr>
          <ns0:cNvPr id="11" name="Text 8"/>
          <ns0:cNvSpPr/>
          <ns0:nvPr/>
        </ns0:nvSpPr>
        <ns0:spPr>
          <a:xfrm>
            <a:off x="7470648" y="1563624"/>
            <a:ext cx="2011680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4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DOWNSIDE</a:t>
            </a:r>
            <a:endParaRPr lang="en-US" sz="1400" dirty="0"/>
          </a:p>
        </ns0:txBody>
      </ns0:sp>
      <ns0:sp>
        <ns0:nvSpPr>
          <ns0:cNvPr id="12" name="Text 9"/>
          <ns0:cNvSpPr/>
          <ns0:nvPr/>
        </ns0:nvSpPr>
        <ns0:spPr>
          <a:xfrm>
            <a:off x="7470648" y="1892808"/>
            <a:ext cx="22860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impairment</a:t>
            </a:r>
            <a:endParaRPr lang="en-US" sz="950" dirty="0"/>
          </a:p>
        </ns0:txBody>
      </ns0:sp>
      <ns0:sp>
        <ns0:nvSpPr>
          <ns0:cNvPr id="13" name="Text 10"/>
          <ns0:cNvSpPr/>
          <ns0:nvPr/>
        </ns0:nvSpPr>
        <ns0:spPr>
          <a:xfrm>
            <a:off x="7470648" y="2194560"/>
            <a:ext cx="2514600" cy="5943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+3% · margin ~8.5% · exit 8.0x · restatement drag</a:t>
            </a:r>
            <a:endParaRPr lang="en-US" sz="90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10104120" y="1618488"/>
            <a:ext cx="1417320" cy="6400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0.83x</a:t>
            </a:r>
            <a:endParaRPr lang="en-US" sz="23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2300" dirty="0"/>
          </a:p>
        </ns0:txBody>
      </ns0:sp>
      <ns0:sp>
        <ns0:nvSpPr>
          <ns0:cNvPr id="15" name="Text 12"/>
          <ns0:cNvSpPr/>
          <ns0:nvPr/>
        </ns0:nvSpPr>
        <ns0:spPr>
          <a:xfrm>
            <a:off x="10104120" y="2331720"/>
            <a:ext cx="141732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-3.6%</a:t>
            </a:r>
            <a:endParaRPr lang="en-US" sz="16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60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7178040" y="2971800"/>
            <a:ext cx="446227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7" name="Shape 14"/>
          <ns0:cNvSpPr/>
          <ns0:nvPr/>
        </ns0:nvSpPr>
        <ns0:spPr>
          <a:xfrm>
            <a:off x="7178040" y="2971800"/>
            <a:ext cx="109728" cy="1463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18" name="Text 15"/>
          <ns0:cNvSpPr/>
          <ns0:nvPr/>
        </ns0:nvSpPr>
        <ns0:spPr>
          <a:xfrm>
            <a:off x="7470648" y="3118104"/>
            <a:ext cx="2011680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1400" dirty="0"/>
          </a:p>
        </ns0:txBody>
      </ns0:sp>
      <ns0:sp>
        <ns0:nvSpPr>
          <ns0:cNvPr id="19" name="Text 16"/>
          <ns0:cNvSpPr/>
          <ns0:nvPr/>
        </ns0:nvSpPr>
        <ns0:spPr>
          <a:xfrm>
            <a:off x="7470648" y="3447288"/>
            <a:ext cx="22860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hurdle</a:t>
            </a:r>
            <a:endParaRPr lang="en-US" sz="950" dirty="0"/>
          </a:p>
        </ns0:txBody>
      </ns0:sp>
      <ns0:sp>
        <ns0:nvSpPr>
          <ns0:cNvPr id="20" name="Text 17"/>
          <ns0:cNvSpPr/>
          <ns0:nvPr/>
        </ns0:nvSpPr>
        <ns0:spPr>
          <a:xfrm>
            <a:off x="7470648" y="3749040"/>
            <a:ext cx="2514600" cy="5943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+6% · margin →12% · exit 10.0x · ~1.0x leverage</a:t>
            </a:r>
            <a:endParaRPr lang="en-US" sz="900" dirty="0"/>
          </a:p>
        </ns0:txBody>
      </ns0:sp>
      <ns0:sp>
        <ns0:nvSpPr>
          <ns0:cNvPr id="21" name="Text 18"/>
          <ns0:cNvSpPr/>
          <ns0:nvPr/>
        </ns0:nvSpPr>
        <ns0:spPr>
          <a:xfrm>
            <a:off x="10104120" y="3172968"/>
            <a:ext cx="1417320" cy="6400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2.07x</a:t>
            </a:r>
            <a:endParaRPr lang="en-US" sz="23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2300" dirty="0"/>
          </a:p>
        </ns0:txBody>
      </ns0:sp>
      <ns0:sp>
        <ns0:nvSpPr>
          <ns0:cNvPr id="22" name="Text 19"/>
          <ns0:cNvSpPr/>
          <ns0:nvPr/>
        </ns0:nvSpPr>
        <ns0:spPr>
          <a:xfrm>
            <a:off x="10104120" y="3886200"/>
            <a:ext cx="141732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15.6%</a:t>
            </a:r>
            <a:endParaRPr lang="en-US" sz="16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600" dirty="0"/>
          </a:p>
        </ns0:txBody>
      </ns0:sp>
      <ns0:sp>
        <ns0:nvSpPr>
          <ns0:cNvPr id="23" name="Shape 20"/>
          <ns0:cNvSpPr/>
          <ns0:nvPr/>
        </ns0:nvSpPr>
        <ns0:spPr>
          <a:xfrm>
            <a:off x="7178040" y="4526280"/>
            <a:ext cx="446227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4" name="Shape 21"/>
          <ns0:cNvSpPr/>
          <ns0:nvPr/>
        </ns0:nvSpPr>
        <ns0:spPr>
          <a:xfrm>
            <a:off x="7178040" y="4526280"/>
            <a:ext cx="109728" cy="1463040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/>
        </ns0:spPr>
        <ns0:txBody>
          <a:bodyPr/>
          <a:p/>
        </ns0:txBody>
      </ns0:sp>
      <ns0:sp>
        <ns0:nvSpPr>
          <ns0:cNvPr id="25" name="Text 22"/>
          <ns0:cNvSpPr/>
          <ns0:nvPr/>
        </ns0:nvSpPr>
        <ns0:spPr>
          <a:xfrm>
            <a:off x="7470648" y="4672584"/>
            <a:ext cx="2011680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UPSIDE</a:t>
            </a:r>
            <a:endParaRPr lang="en-US" sz="1400" dirty="0"/>
          </a:p>
        </ns0:txBody>
      </ns0:sp>
      <ns0:sp>
        <ns0:nvSpPr>
          <ns0:cNvPr id="26" name="Text 23"/>
          <ns0:cNvSpPr/>
          <ns0:nvPr/>
        </ns0:nvSpPr>
        <ns0:spPr>
          <a:xfrm>
            <a:off x="7470648" y="5001768"/>
            <a:ext cx="228600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if DD clears</a:t>
            </a:r>
            <a:endParaRPr lang="en-US" sz="950" dirty="0"/>
          </a:p>
        </ns0:txBody>
      </ns0:sp>
      <ns0:sp>
        <ns0:nvSpPr>
          <ns0:cNvPr id="27" name="Text 24"/>
          <ns0:cNvSpPr/>
          <ns0:nvPr/>
        </ns0:nvSpPr>
        <ns0:spPr>
          <a:xfrm>
            <a:off x="7470648" y="5303520"/>
            <a:ext cx="2514600" cy="5943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+8% · margin →16% · exit 11.5x · extra leverage = more</a:t>
            </a:r>
            <a:endParaRPr lang="en-US" sz="900" dirty="0"/>
          </a:p>
        </ns0:txBody>
      </ns0:sp>
      <ns0:sp>
        <ns0:nvSpPr>
          <ns0:cNvPr id="28" name="Text 25"/>
          <ns0:cNvSpPr/>
          <ns0:nvPr/>
        </ns0:nvSpPr>
        <ns0:spPr>
          <a:xfrm>
            <a:off x="10104120" y="4727448"/>
            <a:ext cx="1417320" cy="6400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2.63x</a:t>
            </a:r>
            <a:endParaRPr lang="en-US" sz="23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2300" dirty="0"/>
          </a:p>
        </ns0:txBody>
      </ns0:sp>
      <ns0:sp>
        <ns0:nvSpPr>
          <ns0:cNvPr id="29" name="Text 26"/>
          <ns0:cNvSpPr/>
          <ns0:nvPr/>
        </ns0:nvSpPr>
        <ns0:spPr>
          <a:xfrm>
            <a:off x="10104120" y="5440680"/>
            <a:ext cx="141732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21.3%</a:t>
            </a:r>
            <a:endParaRPr lang="en-US" sz="1600" dirty="0"/>
          </a:p>
          <a:p>
            <a:pPr algn="ctr" indent="0" marL="0">
              <a:buNone/>
            </a:pPr>
            <a:r>
              <a:rPr lang="en-US" sz="800" spc="100" kern="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600" dirty="0"/>
          </a:p>
        </ns0:txBody>
      </ns0:sp>
      <ns0:sp>
        <ns0:nvSpPr>
          <ns0:cNvPr id="30" name="Text 27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31" name="Text 28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noAutofit/>
          </a:bodyPr>
          <a:lstStyle/>
          <a:p>
            <a:pPr algn="l"/>
            <a:r>
              <a:rPr sz="1500" b="1">
                <a:solidFill>
                  <a:srgbClr val="C8A951"/>
                </a:solidFill>
                <a:latin typeface="Georgia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74320"/>
            <a:ext cx="87782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Georgia"/>
              </a:rPr>
              <a:t>Walk-to-Price &amp;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424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Autofit/>
          </a:bodyPr>
          <a:lstStyle/>
          <a:p>
            <a:pPr algn="l"/>
            <a:r>
              <a:rPr sz="1100" b="0" i="1">
                <a:solidFill>
                  <a:srgbClr val="5B6485"/>
                </a:solidFill>
                <a:latin typeface="Calibri"/>
              </a:rPr>
              <a:t>Price discipline: the maximum offer clearing a 20% hurdle sits well below precedent-style premia.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349240" cy="2926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29284"/>
            <a:ext cx="5276088" cy="201168"/>
          </a:xfrm>
          <a:prstGeom prst="rect">
            <a:avLst/>
          </a:prstGeom>
          <a:noFill/>
        </p:spPr>
        <p:txBody>
          <a:bodyPr wrap="none" lIns="18288" rIns="18288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20% hurdle walk-to-price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36192"/>
            <a:ext cx="1417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09344"/>
            <a:ext cx="127101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MAX 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47088"/>
            <a:ext cx="127101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1F4E79"/>
                </a:solidFill>
                <a:latin typeface="Aptos"/>
              </a:rPr>
              <a:t>JPY2,031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31136"/>
            <a:ext cx="12710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20% gross IRR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1536192"/>
            <a:ext cx="1417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864" y="1609344"/>
            <a:ext cx="127101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VS 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864" y="1847088"/>
            <a:ext cx="127101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3E7B50"/>
                </a:solidFill>
                <a:latin typeface="Aptos"/>
              </a:rPr>
              <a:t>+20.9%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4" y="2231136"/>
            <a:ext cx="12710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JPY1,680 ref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9624" y="1536192"/>
            <a:ext cx="1417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1609344"/>
            <a:ext cx="127101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VS 6M VWAP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1847088"/>
            <a:ext cx="127101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B57A14"/>
                </a:solidFill>
                <a:latin typeface="Aptos"/>
              </a:rPr>
              <a:t>+5.3%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6" y="2231136"/>
            <a:ext cx="12710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JPY1,929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2788920"/>
          <a:ext cx="502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Bid 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Current case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20% hurdle cap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Offer / share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JPY2,302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JPY2,031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Premium vs spot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+37.0%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+20.9%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Premium vs 6m VWAP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+19.3%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+5.3%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Base gross IRR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15.6%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20.0%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4526280"/>
            <a:ext cx="50292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970"/>
                </a:solidFill>
                <a:latin typeface="Aptos"/>
              </a:rPr>
              <a:t>Implication: do not bid above the walk-to-price unless investigation findings are clean and incremental value-up is explicitly underwritten.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97280"/>
            <a:ext cx="5303520" cy="292608"/>
          </a:xfrm>
          <a:prstGeom prst="rect">
            <a:avLst/>
          </a:prstGeom>
          <a:solidFill>
            <a:srgbClr val="007070"/>
          </a:solidFill>
          <a:ln>
            <a:solidFill>
              <a:srgbClr val="0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129284"/>
            <a:ext cx="5230368" cy="201168"/>
          </a:xfrm>
          <a:prstGeom prst="rect">
            <a:avLst/>
          </a:prstGeom>
          <a:noFill/>
        </p:spPr>
        <p:txBody>
          <a:bodyPr wrap="none" lIns="18288" rIns="18288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Illustrative leverage sensitivity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236208" y="1554480"/>
          <a:ext cx="507492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60120"/>
                <a:gridCol w="1051560"/>
                <a:gridCol w="868680"/>
                <a:gridCol w="1005840"/>
              </a:tblGrid>
              <a:tr h="47183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Debt / EBITDA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Debt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Sponsor eq.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MOIC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IRR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1.0x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JPY0.8bn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JPY8.5bn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2.07x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15.6%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2.0x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JPY1.6bn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JPY7.7bn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2.17x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16.8%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2.5x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JPY2.0bn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JPY7.3bn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2.23x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17.4%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471832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3.0x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JPY2.4bn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JPY6.9bn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2.30x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18.1%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36208" y="4160520"/>
            <a:ext cx="5074920" cy="58521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970"/>
                </a:solidFill>
                <a:latin typeface="Aptos"/>
              </a:rPr>
              <a:t>Even 3.0x gross debt does not clear 20% and would be imprudent before QoE, cash seasonality, investigation impact and lender appetite are confirmed.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21808"/>
            <a:ext cx="10927080" cy="658368"/>
          </a:xfrm>
          <a:prstGeom prst="rect">
            <a:avLst/>
          </a:prstGeom>
          <a:solidFill>
            <a:srgbClr val="F1F7F6"/>
          </a:solidFill>
          <a:ln>
            <a:solidFill>
              <a:srgbClr val="B4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68112"/>
            <a:ext cx="1056132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60" b="1">
                <a:solidFill>
                  <a:srgbClr val="1E2226"/>
                </a:solidFill>
                <a:latin typeface="Aptos"/>
              </a:rPr>
              <a:t>Takeaway: this is not a classic leverage-driven LBO. Returns are driven by entry price, cash availability, EBITDA growth, margin expansion and exit multiple.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53328"/>
            <a:ext cx="109270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00" b="0">
                <a:solidFill>
                  <a:srgbClr val="5F6970"/>
                </a:solidFill>
                <a:latin typeface="Aptos"/>
              </a:rPr>
              <a:t>Source: accompanying Excel model (Returns / Lev_Sensitivity tabs); market data as of 5-Jun-2026.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473952"/>
            <a:ext cx="457200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970"/>
                </a:solidFill>
                <a:latin typeface="Aptos"/>
              </a:rPr>
              <a:t>Project Measure  ·  Strictly Private &amp;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750" b="0">
                <a:solidFill>
                  <a:srgbClr val="5F69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noAutofit/>
          </a:bodyPr>
          <a:lstStyle/>
          <a:p>
            <a:pPr algn="l"/>
            <a:r>
              <a:rPr sz="1500" b="1">
                <a:solidFill>
                  <a:srgbClr val="C8A951"/>
                </a:solidFill>
                <a:latin typeface="Georgia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74320"/>
            <a:ext cx="87782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Georgia"/>
              </a:rPr>
              <a:t>Excess Cash Is Central to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424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noAutofit/>
          </a:bodyPr>
          <a:lstStyle/>
          <a:p>
            <a:pPr algn="l"/>
            <a:r>
              <a:rPr sz="1100" b="0" i="1">
                <a:solidFill>
                  <a:srgbClr val="5B6485"/>
                </a:solidFill>
                <a:latin typeface="Calibri"/>
              </a:rPr>
              <a:t>Base case assumes extraction; returns fall sharply if cash is retained or trapped — a DD item, not underwritten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349240" cy="2926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29284"/>
            <a:ext cx="5276088" cy="201168"/>
          </a:xfrm>
          <a:prstGeom prst="rect">
            <a:avLst/>
          </a:prstGeom>
          <a:noFill/>
        </p:spPr>
        <p:txBody>
          <a:bodyPr wrap="none" lIns="18288" rIns="18288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Cash availability cases &amp; MIP dilution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36192"/>
            <a:ext cx="1417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09344"/>
            <a:ext cx="127101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FULL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47088"/>
            <a:ext cx="127101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1E2761"/>
                </a:solidFill>
                <a:latin typeface="Aptos"/>
              </a:rPr>
              <a:t>15.6%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31136"/>
            <a:ext cx="12710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base case · 2.07x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1536192"/>
            <a:ext cx="1417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864" y="1609344"/>
            <a:ext cx="127101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CASH 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864" y="1847088"/>
            <a:ext cx="127101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1E2761"/>
                </a:solidFill>
                <a:latin typeface="Aptos"/>
              </a:rPr>
              <a:t>12.0%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4" y="2231136"/>
            <a:ext cx="12710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sponsor funds cash · 1.76x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9624" y="1536192"/>
            <a:ext cx="1417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1609344"/>
            <a:ext cx="1271016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5F6970"/>
                </a:solidFill>
                <a:latin typeface="Aptos"/>
              </a:rPr>
              <a:t>TRAPPED CASH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1847088"/>
            <a:ext cx="1271016" cy="31089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1E2761"/>
                </a:solidFill>
                <a:latin typeface="Aptos"/>
              </a:rPr>
              <a:t>8.1%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6" y="2231136"/>
            <a:ext cx="12710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700" b="0">
                <a:solidFill>
                  <a:srgbClr val="5F6970"/>
                </a:solidFill>
                <a:latin typeface="Aptos"/>
              </a:rPr>
              <a:t>unavailable · 1.47x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2788920"/>
          <a:ext cx="502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MIP dilution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MOIC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Gross IRR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2.07x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15.6%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1.96x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14.4%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10%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1.86x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13.2%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4526280"/>
            <a:ext cx="502920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970"/>
                </a:solidFill>
                <a:latin typeface="Aptos"/>
              </a:rPr>
              <a:t>Returns are gross of fees &amp; carry; MIP dilution widens the gap to a clean 20% hurdle.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97280"/>
            <a:ext cx="5303520" cy="292608"/>
          </a:xfrm>
          <a:prstGeom prst="rect">
            <a:avLst/>
          </a:prstGeom>
          <a:solidFill>
            <a:srgbClr val="007070"/>
          </a:solidFill>
          <a:ln>
            <a:solidFill>
              <a:srgbClr val="0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129284"/>
            <a:ext cx="5230368" cy="201168"/>
          </a:xfrm>
          <a:prstGeom prst="rect">
            <a:avLst/>
          </a:prstGeom>
          <a:noFill/>
        </p:spPr>
        <p:txBody>
          <a:bodyPr wrap="none" lIns="18288" rIns="18288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Cash availability — mechanics (¥bn)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236208" y="1554480"/>
          <a:ext cx="507492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60120"/>
                <a:gridCol w="1051560"/>
                <a:gridCol w="868680"/>
                <a:gridCol w="1005840"/>
              </a:tblGrid>
              <a:tr h="47183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Sponsor eq.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Exit eq.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MOIC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IRR</a:t>
                      </a:r>
                    </a:p>
                  </a:txBody>
                  <a:tcPr>
                    <a:solidFill>
                      <a:srgbClr val="007070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Full extraction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8.5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17.5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2.07x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15.6%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Cash retained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11.9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20.9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1.76x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12.0%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71830">
                <a:tc>
                  <a:txBody>
                    <a:bodyPr/>
                    <a:lstStyle/>
                    <a:p>
                      <a:pPr algn="l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Trapped cash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11.9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17.5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1.47x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>
                          <a:solidFill>
                            <a:srgbClr val="1E2226"/>
                          </a:solidFill>
                          <a:latin typeface="Aptos"/>
                        </a:rPr>
                        <a:t>8.1%</a:t>
                      </a:r>
                    </a:p>
                  </a:txBody>
                  <a:tcPr marL="36576" marR="36576" marT="18288" marB="18288"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36208" y="4160520"/>
            <a:ext cx="5074920" cy="58521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970"/>
                </a:solidFill>
                <a:latin typeface="Aptos"/>
              </a:rPr>
              <a:t>Extraction needs distributable reserves, lender consent, clean accounts &amp; time — none assured pre-DD.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21808"/>
            <a:ext cx="10927080" cy="658368"/>
          </a:xfrm>
          <a:prstGeom prst="rect">
            <a:avLst/>
          </a:prstGeom>
          <a:solidFill>
            <a:srgbClr val="F1F7F6"/>
          </a:solidFill>
          <a:ln>
            <a:solidFill>
              <a:srgbClr val="B4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68112"/>
            <a:ext cx="1056132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/>
            <a:r>
              <a:rPr sz="860" b="1">
                <a:solidFill>
                  <a:srgbClr val="1E2226"/>
                </a:solidFill>
                <a:latin typeface="Aptos"/>
              </a:rPr>
              <a:t>Takeaway: AISAN screens cheaply partly on excess cash, but returns hinge on whether that cash is legally and practically extractable. Treat as a confirmatory DD item, not a base-case assumption.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53328"/>
            <a:ext cx="109270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700" b="0">
                <a:solidFill>
                  <a:srgbClr val="5F6970"/>
                </a:solidFill>
                <a:latin typeface="Aptos"/>
              </a:rPr>
              <a:t>Source: accompanying Excel model (Returns — cash availability &amp; MIP sensitivity). Illustrative; ¥bn, 5-yr hold.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473952"/>
            <a:ext cx="457200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970"/>
                </a:solidFill>
                <a:latin typeface="Aptos"/>
              </a:rPr>
              <a:t>Project Measure  ·  Strictly Private &amp;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/>
            <a:r>
              <a:rPr sz="750" b="0">
                <a:solidFill>
                  <a:srgbClr val="5F697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3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Value-Up Theses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 that could lift returns if the investigation clears — none is fully underwritable pre-DD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546811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Shape 4"/>
          <ns0:cNvSpPr/>
          <ns0:nvPr/>
        </ns0:nvSpPr>
        <ns0:spPr>
          <a:xfrm>
            <a:off x="822960" y="1709928"/>
            <a:ext cx="713232" cy="713232"/>
          </a:xfrm>
          <a:prstGeom prst="ellipse">
            <a:avLst/>
          </a:prstGeom>
          <a:solidFill>
            <a:srgbClr val="C8A95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7" name="Image 0" descr="assets/coins_white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008400" y="1895368"/>
            <a:ext cx="342351" cy="342351"/>
          </a:xfrm>
          <a:prstGeom prst="rect">
            <a:avLst/>
          </a:prstGeom>
        </ns0:spPr>
      </ns0:pic>
      <ns0:sp>
        <ns0:nvSpPr>
          <ns0:cNvPr id="8" name="Text 5"/>
          <ns0:cNvSpPr/>
          <ns0:nvPr/>
        </ns0:nvSpPr>
        <ns0:spPr>
          <a:xfrm>
            <a:off x="1737360" y="1655064"/>
            <a:ext cx="4096512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Balance-sheet optimisation</a:t>
            </a:r>
            <a:endParaRPr lang="en-US" sz="1450" dirty="0"/>
          </a:p>
        </ns0:txBody>
      </ns0:sp>
      <ns0:sp>
        <ns0:nvSpPr>
          <ns0:cNvPr id="9" name="Text 6"/>
          <ns0:cNvSpPr/>
          <ns0:nvPr/>
        </ns0:nvSpPr>
        <ns0:spPr>
          <a:xfrm>
            <a:off x="841248" y="2532888"/>
            <a:ext cx="4901184" cy="7772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6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~¥4.1bn net cash and monetise investment securities. Excess cash reduces headline EV but does not make this a classic leverage-driven LBO — sponsor equity stays high at ~¥8.5bn because debt capacity is constrained. Cash extraction is subject to legal, operating, lender and investigation-related DD.</a:t>
            </a:r>
            <a:endParaRPr lang="en-US" sz="1060" dirty="0"/>
          </a:p>
        </ns0:txBody>
      </ns0:sp>
      <ns0:sp>
        <ns0:nvSpPr>
          <ns0:cNvPr id="10" name="Shape 7"/>
          <ns0:cNvSpPr/>
          <ns0:nvPr/>
        </ns0:nvSpPr>
        <ns0:spPr>
          <a:xfrm>
            <a:off x="841248" y="32461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11" name="Text 8"/>
          <ns0:cNvSpPr/>
          <ns0:nvPr/>
        </ns0:nvSpPr>
        <ns0:spPr>
          <a:xfrm>
            <a:off x="1078992" y="3172968"/>
            <a:ext cx="473659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but DD-dependent lever</a:t>
            </a:r>
            <a:endParaRPr lang="en-US" sz="950" dirty="0"/>
          </a:p>
        </ns0:txBody>
      </ns0:sp>
      <ns0:sp>
        <ns0:nvSpPr>
          <ns0:cNvPr id="12" name="Shape 9"/>
          <ns0:cNvSpPr/>
          <ns0:nvPr/>
        </ns0:nvSpPr>
        <ns0:spPr>
          <a:xfrm>
            <a:off x="6172200" y="1417320"/>
            <a:ext cx="546811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13" name="Shape 10"/>
          <ns0:cNvSpPr/>
          <ns0:nvPr/>
        </ns0:nvSpPr>
        <ns0:spPr>
          <a:xfrm>
            <a:off x="6446520" y="1709928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14" name="Image 1" descr="assets/chart_white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6631960" y="1895368"/>
            <a:ext cx="342351" cy="342351"/>
          </a:xfrm>
          <a:prstGeom prst="rect">
            <a:avLst/>
          </a:prstGeom>
        </ns0:spPr>
      </ns0:pic>
      <ns0:sp>
        <ns0:nvSpPr>
          <ns0:cNvPr id="15" name="Text 11"/>
          <ns0:cNvSpPr/>
          <ns0:nvPr/>
        </ns0:nvSpPr>
        <ns0:spPr>
          <a:xfrm>
            <a:off x="7360920" y="1655064"/>
            <a:ext cx="4096512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expansion</a:t>
            </a:r>
            <a:endParaRPr lang="en-US" sz="1450" dirty="0"/>
          </a:p>
        </ns0:txBody>
      </ns0:sp>
      <ns0:sp>
        <ns0:nvSpPr>
          <ns0:cNvPr id="16" name="Text 12"/>
          <ns0:cNvSpPr/>
          <ns0:nvPr/>
        </ns0:nvSpPr>
        <ns0:spPr>
          <a:xfrm>
            <a:off x="6464808" y="2532888"/>
            <a:ext cx="4901184" cy="7772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6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group overhead and lift the software mix; turn around or partner the loss-making Mobility unit to move blended operating margin from ~8% toward 12%+.</a:t>
            </a:r>
            <a:endParaRPr lang="en-US" sz="1060" dirty="0"/>
          </a:p>
        </ns0:txBody>
      </ns0:sp>
      <ns0:sp>
        <ns0:nvSpPr>
          <ns0:cNvPr id="17" name="Shape 13"/>
          <ns0:cNvSpPr/>
          <ns0:nvPr/>
        </ns0:nvSpPr>
        <ns0:spPr>
          <a:xfrm>
            <a:off x="6464808" y="32461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18" name="Text 14"/>
          <ns0:cNvSpPr/>
          <ns0:nvPr/>
        </ns0:nvSpPr>
        <ns0:spPr>
          <a:xfrm>
            <a:off x="6702552" y="3172968"/>
            <a:ext cx="473659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control, phased</a:t>
            </a:r>
            <a:endParaRPr lang="en-US" sz="950" dirty="0"/>
          </a:p>
        </ns0:txBody>
      </ns0:sp>
      <ns0:sp>
        <ns0:nvSpPr>
          <ns0:cNvPr id="19" name="Shape 15"/>
          <ns0:cNvSpPr/>
          <ns0:nvPr/>
        </ns0:nvSpPr>
        <ns0:spPr>
          <a:xfrm>
            <a:off x="548640" y="3767328"/>
            <a:ext cx="546811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0" name="Shape 16"/>
          <ns0:cNvSpPr/>
          <ns0:nvPr/>
        </ns0:nvSpPr>
        <ns0:spPr>
          <a:xfrm>
            <a:off x="822960" y="4059936"/>
            <a:ext cx="713232" cy="713232"/>
          </a:xfrm>
          <a:prstGeom prst="ellipse">
            <a:avLst/>
          </a:prstGeom>
          <a:solidFill>
            <a:srgbClr val="2A347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21" name="Image 2" descr="assets/road_white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1008400" y="4245376"/>
            <a:ext cx="342351" cy="342351"/>
          </a:xfrm>
          <a:prstGeom prst="rect">
            <a:avLst/>
          </a:prstGeom>
        </ns0:spPr>
      </ns0:pic>
      <ns0:sp>
        <ns0:nvSpPr>
          <ns0:cNvPr id="22" name="Text 17"/>
          <ns0:cNvSpPr/>
          <ns0:nvPr/>
        </ns0:nvSpPr>
        <ns0:spPr>
          <a:xfrm>
            <a:off x="1737360" y="4005072"/>
            <a:ext cx="4096512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re-rating of optionality</a:t>
            </a:r>
            <a:endParaRPr lang="en-US" sz="1450" dirty="0"/>
          </a:p>
        </ns0:txBody>
      </ns0:sp>
      <ns0:sp>
        <ns0:nvSpPr>
          <ns0:cNvPr id="23" name="Text 18"/>
          <ns0:cNvSpPr/>
          <ns0:nvPr/>
        </ns0:nvSpPr>
        <ns0:spPr>
          <a:xfrm>
            <a:off x="841248" y="4882896"/>
            <a:ext cx="4901184" cy="7772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6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Professionalise and scale the HD-map / Level-4 franchise into a separately valuable asset, supporting an exit to an auto OEM, map consolidator or geospatial buyer at a premium multiple.</a:t>
            </a:r>
            <a:endParaRPr lang="en-US" sz="1060" dirty="0"/>
          </a:p>
        </ns0:txBody>
      </ns0:sp>
      <ns0:sp>
        <ns0:nvSpPr>
          <ns0:cNvPr id="24" name="Shape 19"/>
          <ns0:cNvSpPr/>
          <ns0:nvPr/>
        </ns0:nvSpPr>
        <ns0:spPr>
          <a:xfrm>
            <a:off x="841248" y="55961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A3470"/>
          </a:solidFill>
          <a:ln/>
        </ns0:spPr>
        <ns0:txBody>
          <a:bodyPr/>
          <a:p/>
        </ns0:txBody>
      </ns0:sp>
      <ns0:sp>
        <ns0:nvSpPr>
          <ns0:cNvPr id="25" name="Text 20"/>
          <ns0:cNvSpPr/>
          <ns0:nvPr/>
        </ns0:nvSpPr>
        <ns0:spPr>
          <a:xfrm>
            <a:off x="1078992" y="5522976"/>
            <a:ext cx="473659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A3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risk, higher reward</a:t>
            </a:r>
            <a:endParaRPr lang="en-US" sz="950" dirty="0"/>
          </a:p>
        </ns0:txBody>
      </ns0:sp>
      <ns0:sp>
        <ns0:nvSpPr>
          <ns0:cNvPr id="26" name="Shape 21"/>
          <ns0:cNvSpPr/>
          <ns0:nvPr/>
        </ns0:nvSpPr>
        <ns0:spPr>
          <a:xfrm>
            <a:off x="6172200" y="3767328"/>
            <a:ext cx="546811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27" name="Shape 22"/>
          <ns0:cNvSpPr/>
          <ns0:nvPr/>
        </ns0:nvSpPr>
        <ns0:spPr>
          <a:xfrm>
            <a:off x="6446520" y="4059936"/>
            <a:ext cx="713232" cy="713232"/>
          </a:xfrm>
          <a:prstGeom prst="ellipse">
            <a:avLst/>
          </a:prstGeom>
          <a:solidFill>
            <a:srgbClr val="2E7D52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28" name="Image 3" descr="assets/shield_white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6631960" y="4245376"/>
            <a:ext cx="342351" cy="342351"/>
          </a:xfrm>
          <a:prstGeom prst="rect">
            <a:avLst/>
          </a:prstGeom>
        </ns0:spPr>
      </ns0:pic>
      <ns0:sp>
        <ns0:nvSpPr>
          <ns0:cNvPr id="29" name="Text 23"/>
          <ns0:cNvSpPr/>
          <ns0:nvPr/>
        </ns0:nvSpPr>
        <ns0:spPr>
          <a:xfrm>
            <a:off x="7360920" y="4005072"/>
            <a:ext cx="4096512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 compounding</a:t>
            </a:r>
            <a:endParaRPr lang="en-US" sz="1450" dirty="0"/>
          </a:p>
        </ns0:txBody>
      </ns0:sp>
      <ns0:sp>
        <ns0:nvSpPr>
          <ns0:cNvPr id="30" name="Text 24"/>
          <ns0:cNvSpPr/>
          <ns0:nvPr/>
        </ns0:nvSpPr>
        <ns0:spPr>
          <a:xfrm>
            <a:off x="6464808" y="4882896"/>
            <a:ext cx="4901184" cy="7772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6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grow the recurring public-sector software base through i-Construction and national 3D-data tailwinds — the floor under every scenario.</a:t>
            </a:r>
            <a:endParaRPr lang="en-US" sz="1060" dirty="0"/>
          </a:p>
        </ns0:txBody>
      </ns0:sp>
      <ns0:sp>
        <ns0:nvSpPr>
          <ns0:cNvPr id="31" name="Shape 25"/>
          <ns0:cNvSpPr/>
          <ns0:nvPr/>
        </ns0:nvSpPr>
        <ns0:spPr>
          <a:xfrm>
            <a:off x="6464808" y="55961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E7D52"/>
          </a:solidFill>
          <a:ln/>
        </ns0:spPr>
        <ns0:txBody>
          <a:bodyPr/>
          <a:p/>
        </ns0:txBody>
      </ns0:sp>
      <ns0:sp>
        <ns0:nvSpPr>
          <ns0:cNvPr id="32" name="Text 26"/>
          <ns0:cNvSpPr/>
          <ns0:nvPr/>
        </ns0:nvSpPr>
        <ns0:spPr>
          <a:xfrm>
            <a:off x="6702552" y="5522976"/>
            <a:ext cx="4736592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protection</a:t>
            </a:r>
            <a:endParaRPr lang="en-US" sz="950" dirty="0"/>
          </a:p>
        </ns0:txBody>
      </ns0:sp>
      <ns0:sp>
        <ns0:nvSpPr>
          <ns0:cNvPr id="33" name="Text 27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34" name="Text 28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78992" y="36576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Diligence Checklist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verified before committing capital in the next phase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68112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17320"/>
            <a:ext cx="5468112" cy="566928"/>
          </a:xfrm>
          <a:prstGeom prst="roundRect">
            <a:avLst>
              <a:gd name="adj" fmla="val 14516"/>
            </a:avLst>
          </a:prstGeom>
          <a:solidFill>
            <a:srgbClr val="B5462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5468112" cy="201168"/>
          </a:xfrm>
          <a:prstGeom prst="rect">
            <a:avLst/>
          </a:prstGeom>
          <a:solidFill>
            <a:srgbClr val="B5462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481328"/>
            <a:ext cx="420624" cy="42062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9" name="Image 0" descr="assets/warnin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02" y="1590690"/>
            <a:ext cx="201900" cy="20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4813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240280"/>
            <a:ext cx="128016" cy="128016"/>
          </a:xfrm>
          <a:prstGeom prst="ellipse">
            <a:avLst/>
          </a:prstGeom>
          <a:solidFill>
            <a:srgbClr val="B5462F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15568" y="2157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Subsidiary investigation (GATING)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15568" y="24323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A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committee at 100%-sub Akisoku — suspected forgery, concealment &amp; unpaid debt; FY26 impact undetermined and financials may be restated.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3017520"/>
            <a:ext cx="128016" cy="128016"/>
          </a:xfrm>
          <a:prstGeom prst="ellipse">
            <a:avLst/>
          </a:prstGeom>
          <a:solidFill>
            <a:srgbClr val="B5462F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15568" y="29352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/ cash burn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15568" y="32095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A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Q4-loaded revenue and a Q1–Q3 working-capital draw complicate debt service timing.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68680" y="3794760"/>
            <a:ext cx="128016" cy="128016"/>
          </a:xfrm>
          <a:prstGeom prst="ellipse">
            <a:avLst/>
          </a:prstGeom>
          <a:solidFill>
            <a:srgbClr val="B5462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15568" y="37124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losses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15568" y="39867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A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segment is not yet profitable; turnaround timing and capital needs are uncertain.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68680" y="4572000"/>
            <a:ext cx="128016" cy="128016"/>
          </a:xfrm>
          <a:prstGeom prst="ellipse">
            <a:avLst/>
          </a:prstGeom>
          <a:solidFill>
            <a:srgbClr val="B5462F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15568" y="4489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Public-budget reliance &amp; float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15568" y="47640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A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tied to government budgets; thin TSE Standard float and minority protections.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68680" y="5349240"/>
            <a:ext cx="128016" cy="128016"/>
          </a:xfrm>
          <a:prstGeom prst="ellipse">
            <a:avLst/>
          </a:prstGeom>
          <a:solidFill>
            <a:srgbClr val="B5462F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15568" y="52669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Sub-hurdle returns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15568" y="55412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A5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pre-restatement, base IRR ~15.6% (upside ~21%) is below a clean 20% PE hurdle.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72200" y="1417320"/>
            <a:ext cx="5468112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172200" y="1417320"/>
            <a:ext cx="5468112" cy="566928"/>
          </a:xfrm>
          <a:prstGeom prst="roundRect">
            <a:avLst>
              <a:gd name="adj" fmla="val 14516"/>
            </a:avLst>
          </a:prstGeom>
          <a:solidFill>
            <a:srgbClr val="2E7D52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172200" y="1783080"/>
            <a:ext cx="5468112" cy="201168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6400800" y="1481328"/>
            <a:ext cx="420624" cy="42062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30" name="Image 1" descr="assets/clipboard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162" y="1590690"/>
            <a:ext cx="201900" cy="2019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949440" y="148132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DD ITEMS</a:t>
            </a:r>
            <a:endParaRPr lang="en-US" sz="1500" dirty="0"/>
          </a:p>
        </p:txBody>
      </p:sp>
      <p:pic>
        <p:nvPicPr>
          <p:cNvPr id="32" name="Image 2" descr="asset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19456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739128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Special-investigation findings, scope &amp; quantified FY26 impact / restatement</a:t>
            </a:r>
            <a:endParaRPr lang="en-US" sz="1060" dirty="0"/>
          </a:p>
        </p:txBody>
      </p:sp>
      <p:pic>
        <p:nvPicPr>
          <p:cNvPr id="34" name="Image 3" descr="asset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674620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739128" y="26106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issues extend beyond Akisoku — group-wide internal controls</a:t>
            </a:r>
            <a:endParaRPr lang="en-US" sz="1060" dirty="0"/>
          </a:p>
        </p:txBody>
      </p:sp>
      <p:pic>
        <p:nvPicPr>
          <p:cNvPr id="36" name="Image 4" descr="asset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3154680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739128" y="3090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current cap table &amp; founder-family intent on an MBO / roll-over</a:t>
            </a:r>
            <a:endParaRPr lang="en-US" sz="1060" dirty="0"/>
          </a:p>
        </p:txBody>
      </p:sp>
      <p:pic>
        <p:nvPicPr>
          <p:cNvPr id="38" name="Image 5" descr="asset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634740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39128" y="35707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&amp; investment-securities mark at close; distributable reserves</a:t>
            </a:r>
            <a:endParaRPr lang="en-US" sz="1060" dirty="0"/>
          </a:p>
        </p:txBody>
      </p:sp>
      <p:pic>
        <p:nvPicPr>
          <p:cNvPr id="40" name="Image 6" descr="assets/che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411480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39128" y="40507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/ DX standalone P&amp;L and a credible path to breakeven</a:t>
            </a:r>
            <a:endParaRPr lang="en-US" sz="1060" dirty="0"/>
          </a:p>
        </p:txBody>
      </p:sp>
      <p:pic>
        <p:nvPicPr>
          <p:cNvPr id="42" name="Image 7" descr="assets/che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4594860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739128" y="45308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Public-revenue backlog, contract terms and budget sensitivity</a:t>
            </a:r>
            <a:endParaRPr lang="en-US" sz="1060" dirty="0"/>
          </a:p>
        </p:txBody>
      </p:sp>
      <p:pic>
        <p:nvPicPr>
          <p:cNvPr id="44" name="Image 8" descr="assets/check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4808" y="5074920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739128" y="50109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earnings on Q4-loaded revenue recognition; software cap. policy</a:t>
            </a:r>
            <a:endParaRPr lang="en-US" sz="1060" dirty="0"/>
          </a:p>
        </p:txBody>
      </p:sp>
      <p:pic>
        <p:nvPicPr>
          <p:cNvPr id="46" name="Image 9" descr="assets/chec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4808" y="5554980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739128" y="54909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6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appetite &amp; debt capacity given the seasonal cash profile</a:t>
            </a:r>
            <a:endParaRPr lang="en-US" sz="1060" dirty="0"/>
          </a:p>
        </p:txBody>
      </p:sp>
      <p:sp>
        <p:nvSpPr>
          <p:cNvPr id="48" name="Text 3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p:txBody>
      </p:sp>
      <p:sp>
        <p:nvSpPr>
          <p:cNvPr id="49" name="Text 37"/>
          <p:cNvSpPr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5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5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Gating Item — Subsidiary Probe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unresolved investigation at a 100%-owned subsidiary overrides the investment case until cleared</a:t>
            </a:r>
            <a:endParaRPr lang="en-US" sz="12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548640" y="1417320"/>
            <a:ext cx="61264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6" name="Shape 4"/>
          <ns0:cNvSpPr/>
          <ns0:nvPr/>
        </ns0:nvSpPr>
        <ns0:spPr>
          <a:xfrm>
            <a:off x="777240" y="1591056"/>
            <a:ext cx="457200" cy="457200"/>
          </a:xfrm>
          <a:prstGeom prst="ellipse">
            <a:avLst/>
          </a:prstGeom>
          <a:solidFill>
            <a:srgbClr val="B5462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ns0:spPr>
        <ns0:txBody>
          <a:bodyPr/>
          <a:p/>
        </ns0:txBody>
      </ns0:sp>
      <ns0:pic>
        <ns0:nvPicPr>
          <ns0:cNvPr id="7" name="Image 0" descr="assets/warning_white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896112" y="1709928"/>
            <a:ext cx="219456" cy="219456"/>
          </a:xfrm>
          <a:prstGeom prst="rect">
            <a:avLst/>
          </a:prstGeom>
        </ns0:spPr>
      </ns0:pic>
      <ns0:sp>
        <ns0:nvSpPr>
          <ns0:cNvPr id="8" name="Text 5"/>
          <ns0:cNvSpPr/>
          <ns0:nvPr/>
        </ns0:nvSpPr>
        <ns0:spPr>
          <a:xfrm>
            <a:off x="1371600" y="1664208"/>
            <a:ext cx="521208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— AKISOKU (有限会社秋測)</a:t>
            </a:r>
            <a:endParaRPr lang="en-US" sz="1100" dirty="0"/>
          </a:p>
        </ns0:txBody>
      </ns0:sp>
      <ns0:sp>
        <ns0:nvSpPr>
          <ns0:cNvPr id="9" name="Shape 6"/>
          <ns0:cNvSpPr/>
          <ns0:nvPr/>
        </ns0:nvSpPr>
        <ns0:spPr>
          <a:xfrm>
            <a:off x="886968" y="2276856"/>
            <a:ext cx="146304" cy="146304"/>
          </a:xfrm>
          <a:prstGeom prst="ellipse">
            <a:avLst/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10" name="Shape 7"/>
          <ns0:cNvSpPr/>
          <ns0:nvPr/>
        </ns0:nvSpPr>
        <ns0:spPr>
          <a:xfrm>
            <a:off x="960120" y="2423160"/>
            <a:ext cx="0" cy="457200"/>
          </a:xfrm>
          <a:prstGeom prst="line">
            <a:avLst/>
          </a:prstGeom>
          <a:noFill/>
          <a:ln w="19050">
            <a:solidFill>
              <a:srgbClr val="DDE3F0"/>
            </a:solidFill>
            <a:prstDash val="solid"/>
          </a:ln>
        </ns0:spPr>
        <ns0:txBody>
          <a:bodyPr/>
          <a:p/>
        </ns0:txBody>
      </ns0:sp>
      <ns0:sp>
        <ns0:nvSpPr>
          <ns0:cNvPr id="11" name="Text 8"/>
          <ns0:cNvSpPr/>
          <ns0:nvPr/>
        </ns0:nvSpPr>
        <ns0:spPr>
          <a:xfrm>
            <a:off x="1143000" y="2203704"/>
            <a:ext cx="16916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</a:t>
            </a:r>
            <a:endParaRPr lang="en-US" sz="1000" dirty="0"/>
          </a:p>
        </ns0:txBody>
      </ns0:sp>
      <ns0:sp>
        <ns0:nvSpPr>
          <ns0:cNvPr id="12" name="Text 9"/>
          <ns0:cNvSpPr/>
          <ns0:nvPr/>
        </ns0:nvSpPr>
        <ns0:spPr>
          <a:xfrm>
            <a:off x="2880360" y="2203704"/>
            <a:ext cx="365760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AISAN acquires 100% of Akisoku, an Akita-based survey-instrument sales / repair firm.</a:t>
            </a:r>
            <a:endParaRPr lang="en-US" sz="970" dirty="0"/>
          </a:p>
        </ns0:txBody>
      </ns0:sp>
      <ns0:sp>
        <ns0:nvSpPr>
          <ns0:cNvPr id="13" name="Shape 10"/>
          <ns0:cNvSpPr/>
          <ns0:nvPr/>
        </ns0:nvSpPr>
        <ns0:spPr>
          <a:xfrm>
            <a:off x="886968" y="2907792"/>
            <a:ext cx="146304" cy="146304"/>
          </a:xfrm>
          <a:prstGeom prst="ellipse">
            <a:avLst/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14" name="Shape 11"/>
          <ns0:cNvSpPr/>
          <ns0:nvPr/>
        </ns0:nvSpPr>
        <ns0:spPr>
          <a:xfrm>
            <a:off x="960120" y="3054096"/>
            <a:ext cx="0" cy="457200"/>
          </a:xfrm>
          <a:prstGeom prst="line">
            <a:avLst/>
          </a:prstGeom>
          <a:noFill/>
          <a:ln w="19050">
            <a:solidFill>
              <a:srgbClr val="DDE3F0"/>
            </a:solidFill>
            <a:prstDash val="solid"/>
          </a:ln>
        </ns0:spPr>
        <ns0:txBody>
          <a:bodyPr/>
          <a:p/>
        </ns0:txBody>
      </ns0:sp>
      <ns0:sp>
        <ns0:nvSpPr>
          <ns0:cNvPr id="15" name="Text 12"/>
          <ns0:cNvSpPr/>
          <ns0:nvPr/>
        </ns0:nvSpPr>
        <ns0:spPr>
          <a:xfrm>
            <a:off x="1143000" y="2834640"/>
            <a:ext cx="16916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Mar 2026</a:t>
            </a:r>
            <a:endParaRPr lang="en-US" sz="1000" dirty="0"/>
          </a:p>
        </ns0:txBody>
      </ns0:sp>
      <ns0:sp>
        <ns0:nvSpPr>
          <ns0:cNvPr id="16" name="Text 13"/>
          <ns0:cNvSpPr/>
          <ns0:nvPr/>
        </ns0:nvSpPr>
        <ns0:spPr>
          <a:xfrm>
            <a:off x="2880360" y="2834640"/>
            <a:ext cx="365760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queries unpaid debt at the subsidiary's marketing centre (Ueda, Nagano) — the trigger.</a:t>
            </a:r>
            <a:endParaRPr lang="en-US" sz="970" dirty="0"/>
          </a:p>
        </ns0:txBody>
      </ns0:sp>
      <ns0:sp>
        <ns0:nvSpPr>
          <ns0:cNvPr id="17" name="Shape 14"/>
          <ns0:cNvSpPr/>
          <ns0:nvPr/>
        </ns0:nvSpPr>
        <ns0:spPr>
          <a:xfrm>
            <a:off x="886968" y="3538728"/>
            <a:ext cx="146304" cy="146304"/>
          </a:xfrm>
          <a:prstGeom prst="ellipse">
            <a:avLst/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18" name="Shape 15"/>
          <ns0:cNvSpPr/>
          <ns0:nvPr/>
        </ns0:nvSpPr>
        <ns0:spPr>
          <a:xfrm>
            <a:off x="960120" y="3685032"/>
            <a:ext cx="0" cy="457200"/>
          </a:xfrm>
          <a:prstGeom prst="line">
            <a:avLst/>
          </a:prstGeom>
          <a:noFill/>
          <a:ln w="19050">
            <a:solidFill>
              <a:srgbClr val="DDE3F0"/>
            </a:solidFill>
            <a:prstDash val="solid"/>
          </a:ln>
        </ns0:spPr>
        <ns0:txBody>
          <a:bodyPr/>
          <a:p/>
        </ns0:txBody>
      </ns0:sp>
      <ns0:sp>
        <ns0:nvSpPr>
          <ns0:cNvPr id="19" name="Text 16"/>
          <ns0:cNvSpPr/>
          <ns0:nvPr/>
        </ns0:nvSpPr>
        <ns0:spPr>
          <a:xfrm>
            <a:off x="1143000" y="3465576"/>
            <a:ext cx="16916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</a:t>
            </a:r>
            <a:endParaRPr lang="en-US" sz="1000" dirty="0"/>
          </a:p>
        </ns0:txBody>
      </ns0:sp>
      <ns0:sp>
        <ns0:nvSpPr>
          <ns0:cNvPr id="20" name="Text 17"/>
          <ns0:cNvSpPr/>
          <ns0:nvPr/>
        </ns0:nvSpPr>
        <ns0:spPr>
          <a:xfrm>
            <a:off x="2880360" y="3465576"/>
            <a:ext cx="365760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improper transactions by a subsidiary director; forgery &amp; concealment of documents.</a:t>
            </a:r>
            <a:endParaRPr lang="en-US" sz="970" dirty="0"/>
          </a:p>
        </ns0:txBody>
      </ns0:sp>
      <ns0:sp>
        <ns0:nvSpPr>
          <ns0:cNvPr id="21" name="Shape 18"/>
          <ns0:cNvSpPr/>
          <ns0:nvPr/>
        </ns0:nvSpPr>
        <ns0:spPr>
          <a:xfrm>
            <a:off x="886968" y="4169664"/>
            <a:ext cx="146304" cy="146304"/>
          </a:xfrm>
          <a:prstGeom prst="ellipse">
            <a:avLst/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22" name="Shape 19"/>
          <ns0:cNvSpPr/>
          <ns0:nvPr/>
        </ns0:nvSpPr>
        <ns0:spPr>
          <a:xfrm>
            <a:off x="960120" y="4315968"/>
            <a:ext cx="0" cy="457200"/>
          </a:xfrm>
          <a:prstGeom prst="line">
            <a:avLst/>
          </a:prstGeom>
          <a:noFill/>
          <a:ln w="19050">
            <a:solidFill>
              <a:srgbClr val="DDE3F0"/>
            </a:solidFill>
            <a:prstDash val="solid"/>
          </a:ln>
        </ns0:spPr>
        <ns0:txBody>
          <a:bodyPr/>
          <a:p/>
        </ns0:txBody>
      </ns0:sp>
      <ns0:sp>
        <ns0:nvSpPr>
          <ns0:cNvPr id="23" name="Text 20"/>
          <ns0:cNvSpPr/>
          <ns0:nvPr/>
        </ns0:nvSpPr>
        <ns0:spPr>
          <a:xfrm>
            <a:off x="1143000" y="4096512"/>
            <a:ext cx="16916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</a:t>
            </a:r>
            <a:endParaRPr lang="en-US" sz="1000" dirty="0"/>
          </a:p>
        </ns0:txBody>
      </ns0:sp>
      <ns0:sp>
        <ns0:nvSpPr>
          <ns0:cNvPr id="24" name="Text 21"/>
          <ns0:cNvSpPr/>
          <ns0:nvPr/>
        </ns0:nvSpPr>
        <ns0:spPr>
          <a:xfrm>
            <a:off x="2880360" y="4096512"/>
            <a:ext cx="365760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suspected forged documents and concealment of inventory losses / unpaid debts.</a:t>
            </a:r>
            <a:endParaRPr lang="en-US" sz="970" dirty="0"/>
          </a:p>
        </ns0:txBody>
      </ns0:sp>
      <ns0:sp>
        <ns0:nvSpPr>
          <ns0:cNvPr id="25" name="Shape 22"/>
          <ns0:cNvSpPr/>
          <ns0:nvPr/>
        </ns0:nvSpPr>
        <ns0:spPr>
          <a:xfrm>
            <a:off x="886968" y="4800600"/>
            <a:ext cx="146304" cy="146304"/>
          </a:xfrm>
          <a:prstGeom prst="ellipse">
            <a:avLst/>
          </a:prstGeom>
          <a:solidFill>
            <a:srgbClr val="B5462F"/>
          </a:solidFill>
          <a:ln/>
        </ns0:spPr>
        <ns0:txBody>
          <a:bodyPr/>
          <a:p/>
        </ns0:txBody>
      </ns0:sp>
      <ns0:sp>
        <ns0:nvSpPr>
          <ns0:cNvPr id="26" name="Shape 23"/>
          <ns0:cNvSpPr/>
          <ns0:nvPr/>
        </ns0:nvSpPr>
        <ns0:spPr>
          <a:xfrm>
            <a:off x="960120" y="4946904"/>
            <a:ext cx="0" cy="457200"/>
          </a:xfrm>
          <a:prstGeom prst="line">
            <a:avLst/>
          </a:prstGeom>
          <a:noFill/>
          <a:ln w="19050">
            <a:solidFill>
              <a:srgbClr val="DDE3F0"/>
            </a:solidFill>
            <a:prstDash val="solid"/>
          </a:ln>
        </ns0:spPr>
        <ns0:txBody>
          <a:bodyPr/>
          <a:p/>
        </ns0:txBody>
      </ns0:sp>
      <ns0:sp>
        <ns0:nvSpPr>
          <ns0:cNvPr id="27" name="Text 24"/>
          <ns0:cNvSpPr/>
          <ns0:nvPr/>
        </ns0:nvSpPr>
        <ns0:spPr>
          <a:xfrm>
            <a:off x="1143000" y="4727448"/>
            <a:ext cx="16916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Apr 2026</a:t>
            </a:r>
            <a:endParaRPr lang="en-US" sz="1000" dirty="0"/>
          </a:p>
        </ns0:txBody>
      </ns0:sp>
      <ns0:sp>
        <ns0:nvSpPr>
          <ns0:cNvPr id="28" name="Text 25"/>
          <ns0:cNvSpPr/>
          <ns0:nvPr/>
        </ns0:nvSpPr>
        <ns0:spPr>
          <a:xfrm>
            <a:off x="2880360" y="4727448"/>
            <a:ext cx="365760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Investigation Committee established (external lawyer + CPAs, outside directors / auditors).</a:t>
            </a:r>
            <a:endParaRPr lang="en-US" sz="970" dirty="0"/>
          </a:p>
        </ns0:txBody>
      </ns0:sp>
      <ns0:sp>
        <ns0:nvSpPr>
          <ns0:cNvPr id="29" name="Shape 26"/>
          <ns0:cNvSpPr/>
          <ns0:nvPr/>
        </ns0:nvSpPr>
        <ns0:spPr>
          <a:xfrm>
            <a:off x="886968" y="5431536"/>
            <a:ext cx="146304" cy="146304"/>
          </a:xfrm>
          <a:prstGeom prst="ellipse">
            <a:avLst/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30" name="Text 27"/>
          <ns0:cNvSpPr/>
          <ns0:nvPr/>
        </ns0:nvSpPr>
        <ns0:spPr>
          <a:xfrm>
            <a:off x="1143000" y="5358384"/>
            <a:ext cx="16916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ns0:txBody>
      </ns0:sp>
      <ns0:sp>
        <ns0:nvSpPr>
          <ns0:cNvPr id="31" name="Text 28"/>
          <ns0:cNvSpPr/>
          <ns0:nvPr/>
        </ns0:nvSpPr>
        <ns0:spPr>
          <a:xfrm>
            <a:off x="2880360" y="5358384"/>
            <a:ext cx="3657600" cy="60350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fell sharply to ~¥1,643 intraday on disclosure and drifted to ~¥1,490s by May; FY26 impact undetermined.</a:t>
            </a:r>
            <a:endParaRPr lang="en-US" sz="970" dirty="0"/>
          </a:p>
        </ns0:txBody>
      </ns0:sp>
      <ns0:sp>
        <ns0:nvSpPr>
          <ns0:cNvPr id="32" name="Shape 29"/>
          <ns0:cNvSpPr/>
          <ns0:nvPr/>
        </ns0:nvSpPr>
        <ns0:spPr>
          <a:xfrm>
            <a:off x="6903720" y="1417320"/>
            <a:ext cx="473659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3" name="Text 30"/>
          <ns0:cNvSpPr/>
          <ns0:nvPr/>
        </ns0:nvSpPr>
        <ns0:spPr>
          <a:xfrm>
            <a:off x="7178040" y="1572768"/>
            <a:ext cx="42062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A GATING ITEM</a:t>
            </a:r>
            <a:endParaRPr lang="en-US" sz="1050" dirty="0"/>
          </a:p>
        </ns0:txBody>
      </ns0:sp>
      <ns0:sp>
        <ns0:nvSpPr>
          <ns0:cNvPr id="34" name="Text 31"/>
          <ns0:cNvSpPr/>
          <ns0:nvPr/>
        </ns0:nvSpPr>
        <ns0:spPr>
          <a:xfrm>
            <a:off x="7196328" y="1920240"/>
            <a:ext cx="4297680" cy="16459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consolidated impact undetermined — guidance and entry EBITDA may be restated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post-news reference price is already investigation-depressed — premium must re-base on a clean price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forgery at a recently-bought subsidiary signals weak group controls &amp; integration DD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and scope unknown; FY26 results announcement formally delayed (30-Apr-26 notice)</a:t>
            </a:r>
            <a:endParaRPr lang="en-US" sz="1000" dirty="0"/>
          </a:p>
        </ns0:txBody>
      </ns0:sp>
      <ns0:sp>
        <ns0:nvSpPr>
          <ns0:cNvPr id="35" name="Shape 32"/>
          <ns0:cNvSpPr/>
          <ns0:nvPr/>
        </ns0:nvSpPr>
        <ns0:spPr>
          <a:xfrm>
            <a:off x="6903720" y="3794760"/>
            <a:ext cx="473659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B5">
                <a:alpha val="22000"/>
              </a:srgbClr>
            </a:outerShdw>
          </a:effectLst>
        </ns0:spPr>
        <ns0:txBody>
          <a:bodyPr/>
          <a:p/>
        </ns0:txBody>
      </ns0:sp>
      <ns0:sp>
        <ns0:nvSpPr>
          <ns0:cNvPr id="36" name="Shape 33"/>
          <ns0:cNvSpPr/>
          <ns0:nvPr/>
        </ns0:nvSpPr>
        <ns0:spPr>
          <a:xfrm>
            <a:off x="6903720" y="3794760"/>
            <a:ext cx="4736592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37" name="Shape 34"/>
          <ns0:cNvSpPr/>
          <ns0:nvPr/>
        </ns0:nvSpPr>
        <ns0:spPr>
          <a:xfrm>
            <a:off x="6903720" y="4069080"/>
            <a:ext cx="4736592" cy="182880"/>
          </a:xfrm>
          <a:prstGeom prst="rect">
            <a:avLst/>
          </a:prstGeom>
          <a:solidFill>
            <a:srgbClr val="1E2761"/>
          </a:solidFill>
          <a:ln/>
        </ns0:spPr>
        <ns0:txBody>
          <a:bodyPr/>
          <a:p/>
        </ns0:txBody>
      </ns0:sp>
      <ns0:sp>
        <ns0:nvSpPr>
          <ns0:cNvPr id="38" name="Text 35"/>
          <ns0:cNvSpPr/>
          <ns0:nvPr/>
        </ns0:nvSpPr>
        <ns0:spPr>
          <a:xfrm>
            <a:off x="7178040" y="3813048"/>
            <a:ext cx="438912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— REQUIRED BEFORE ANY BID</a:t>
            </a:r>
            <a:endParaRPr lang="en-US" sz="1250" dirty="0"/>
          </a:p>
        </ns0:txBody>
      </ns0:sp>
      <ns0:pic>
        <ns0:nvPicPr>
          <ns0:cNvPr id="39" name="Image 1" descr="assets/check_navy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7196328" y="4453128"/>
            <a:ext cx="182880" cy="182880"/>
          </a:xfrm>
          <a:prstGeom prst="rect">
            <a:avLst/>
          </a:prstGeom>
        </ns0:spPr>
      </ns0:pic>
      <ns0:sp>
        <ns0:nvSpPr>
          <ns0:cNvPr id="40" name="Text 36"/>
          <ns0:cNvSpPr/>
          <ns0:nvPr/>
        </ns0:nvSpPr>
        <ns0:spPr>
          <a:xfrm>
            <a:off x="7470648" y="4398264"/>
            <a:ext cx="39776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investigation report &amp; quantified financial impact</a:t>
            </a:r>
            <a:endParaRPr lang="en-US" sz="1000" dirty="0"/>
          </a:p>
        </ns0:txBody>
      </ns0:sp>
      <ns0:pic>
        <ns0:nvPicPr>
          <ns0:cNvPr id="41" name="Image 2" descr="assets/check_navy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196328" y="4837176"/>
            <a:ext cx="182880" cy="182880"/>
          </a:xfrm>
          <a:prstGeom prst="rect">
            <a:avLst/>
          </a:prstGeom>
        </ns0:spPr>
      </ns0:pic>
      <ns0:sp>
        <ns0:nvSpPr>
          <ns0:cNvPr id="42" name="Text 37"/>
          <ns0:cNvSpPr/>
          <ns0:nvPr/>
        </ns0:nvSpPr>
        <ns0:spPr>
          <a:xfrm>
            <a:off x="7470648" y="4782312"/>
            <a:ext cx="39776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Restated / audited financial statements</a:t>
            </a:r>
            <a:endParaRPr lang="en-US" sz="1000" dirty="0"/>
          </a:p>
        </ns0:txBody>
      </ns0:sp>
      <ns0:pic>
        <ns0:nvPicPr>
          <ns0:cNvPr id="43" name="Image 3" descr="assets/check_navy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7196328" y="5221224"/>
            <a:ext cx="182880" cy="182880"/>
          </a:xfrm>
          <a:prstGeom prst="rect">
            <a:avLst/>
          </a:prstGeom>
        </ns0:spPr>
      </ns0:pic>
      <ns0:sp>
        <ns0:nvSpPr>
          <ns0:cNvPr id="44" name="Text 38"/>
          <ns0:cNvSpPr/>
          <ns0:nvPr/>
        </ns0:nvSpPr>
        <ns0:spPr>
          <a:xfrm>
            <a:off x="7470648" y="5166360"/>
            <a:ext cx="39776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the issues are contained to Akisoku</a:t>
            </a:r>
            <a:endParaRPr lang="en-US" sz="1000" dirty="0"/>
          </a:p>
        </ns0:txBody>
      </ns0:sp>
      <ns0:pic>
        <ns0:nvPicPr>
          <ns0:cNvPr id="45" name="Image 4" descr="assets/check_navy.png">    </ns0:cNvPr>
          <ns0:cNvPicPr>
            <a:picLocks noChangeAspect="1"/>
          </ns0:cNvPicPr>
          <ns0:nvPr/>
        </ns0:nvPicPr>
        <ns0:blipFill>
          <a:blip ns2:embed="rId5"/>
          <a:stretch>
            <a:fillRect/>
          </a:stretch>
        </ns0:blipFill>
        <ns0:spPr>
          <a:xfrm>
            <a:off x="7196328" y="5605272"/>
            <a:ext cx="182880" cy="182880"/>
          </a:xfrm>
          <a:prstGeom prst="rect">
            <a:avLst/>
          </a:prstGeom>
        </ns0:spPr>
      </ns0:pic>
      <ns0:sp>
        <ns0:nvSpPr>
          <ns0:cNvPr id="46" name="Text 39"/>
          <ns0:cNvSpPr/>
          <ns0:nvPr/>
        </ns0:nvSpPr>
        <ns0:spPr>
          <a:xfrm>
            <a:off x="7470648" y="5550408"/>
            <a:ext cx="397764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333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of group-wide internal controls</a:t>
            </a:r>
            <a:endParaRPr lang="en-US" sz="1000" dirty="0"/>
          </a:p>
        </ns0:txBody>
      </ns0:sp>
      <ns0:sp>
        <ns0:nvSpPr>
          <ns0:cNvPr id="47" name="Text 40"/>
          <ns0:cNvSpPr/>
          <ns0:nvPr/>
        </ns0:nvSpPr>
        <ns0:spPr>
          <a:xfrm>
            <a:off x="548640" y="6163056"/>
            <a:ext cx="82296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AISAN IR (3 Apr 2026); Nikkei; Yahoo Finance JP (Apr 2026). See source appendix.</a:t>
            </a:r>
            <a:endParaRPr lang="en-US" sz="800" dirty="0"/>
          </a:p>
        </ns0:txBody>
      </ns0:sp>
      <ns0:sp>
        <ns0:nvSpPr>
          <ns0:cNvPr id="48" name="Text 41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49" name="Text 42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ns0:txBody>
      </ns0:sp>
    </ns0:spTree>
  </ns0:cSld>
  <ns0:clrMapOvr>
    <a:masterClrMapping/>
  </ns0:clrMapOvr>
</ns0:sld>
</file>

<file path=ppt/slides/slide19.xml><?xml version="1.0" encoding="utf-8"?>
<ns0:sld xmlns:a="http://schemas.openxmlformats.org/drawingml/2006/main" xmlns:ns0="http://schemas.openxmlformats.org/presentationml/2006/main">
  <ns0:cSld name="Slide 16">
    <ns0:bg>
      <ns0:bgPr>
        <a:solidFill>
          <a:srgbClr val="11163D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-2194560" y="3291840"/>
            <a:ext cx="6400800" cy="6400800"/>
          </a:xfrm>
          <a:prstGeom prst="ellipse">
            <a:avLst/>
          </a:prstGeom>
          <a:ln w="12700">
            <a:solidFill>
              <a:srgbClr val="2A3470"/>
            </a:solidFill>
            <a:prstDash val="solid"/>
          </a:ln>
        </ns0:spPr>
        <ns0:txBody>
          <a:bodyPr/>
          <a:p/>
        </ns0:txBody>
      </ns0:sp>
      <ns0:sp>
        <ns0:nvSpPr>
          <ns0:cNvPr id="3" name="Shape 1"/>
          <ns0:cNvSpPr/>
          <ns0:nvPr/>
        </ns0:nvSpPr>
        <ns0:spPr>
          <a:xfrm>
            <a:off x="-1188720" y="4297680"/>
            <a:ext cx="4572000" cy="4572000"/>
          </a:xfrm>
          <a:prstGeom prst="ellipse">
            <a:avLst/>
          </a:prstGeom>
          <a:ln w="12700">
            <a:solidFill>
              <a:srgbClr val="C8A951"/>
            </a:solidFill>
            <a:prstDash val="solid"/>
          </a:ln>
        </ns0:spPr>
        <ns0:txBody>
          <a:bodyPr/>
          <a:p/>
        </ns0:txBody>
      </ns0:sp>
      <ns0:sp>
        <ns0:nvSpPr>
          <ns0:cNvPr id="4" name="Shape 2"/>
          <ns0:cNvSpPr/>
          <ns0:nvPr/>
        </ns0:nvSpPr>
        <ns0:spPr>
          <a:xfrm>
            <a:off x="822960" y="777240"/>
            <a:ext cx="1828800" cy="64008"/>
          </a:xfrm>
          <a:prstGeom prst="roundRect">
            <a:avLst>
              <a:gd name="adj" fmla="val 85714"/>
            </a:avLst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5" name="Text 3"/>
          <ns0:cNvSpPr/>
          <ns0:nvPr/>
        </ns0:nvSpPr>
        <ns0:spPr>
          <a:xfrm>
            <a:off x="777240" y="960120"/>
            <a:ext cx="82296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777240" y="1417320"/>
            <a:ext cx="7863840" cy="13716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fundamentally interesting, cash-rich target — </a:t>
            </a:r>
            <a:pPr indent="0" marL="0">
              <a:lnSpc>
                <a:spcPct val="105000"/>
              </a:lnSpc>
              <a:buNone/>
            </a:pPr>
            <a:r>
              <a:rPr lang="en-US" sz="25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a live investigation and sub-hurdle returns mean we should not bid now.</a:t>
            </a:r>
            <a:endParaRPr lang="en-US" sz="25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777240" y="2971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2A3470"/>
            </a:solidFill>
            <a:prstDash val="solid"/>
          </a:ln>
        </ns0:spPr>
        <ns0:txBody>
          <a:bodyPr/>
          <a:p/>
        </ns0:txBody>
      </ns0:sp>
      <ns0:sp>
        <ns0:nvSpPr>
          <ns0:cNvPr id="8" name="Text 6"/>
          <ns0:cNvSpPr/>
          <ns0:nvPr/>
        </ns0:nvSpPr>
        <ns0:spPr>
          <a:xfrm>
            <a:off x="1005840" y="3108960"/>
            <a:ext cx="21031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1005840" y="3383280"/>
            <a:ext cx="214884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early; </a:t>
            </a:r>
            <a:endParaRPr lang="en-US" sz="19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1005840" y="3840480"/>
            <a:ext cx="21488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confirmatory DD only</a:t>
            </a:r>
            <a:endParaRPr lang="en-US" sz="9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3447288" y="2971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2A3470"/>
            </a:solidFill>
            <a:prstDash val="solid"/>
          </a:ln>
        </ns0:spPr>
        <ns0:txBody>
          <a:bodyPr/>
          <a:p/>
        </ns0:txBody>
      </ns0:sp>
      <ns0:sp>
        <ns0:nvSpPr>
          <ns0:cNvPr id="12" name="Text 10"/>
          <ns0:cNvSpPr/>
          <ns0:nvPr/>
        </ns0:nvSpPr>
        <ns0:spPr>
          <a:xfrm>
            <a:off x="3675888" y="3108960"/>
            <a:ext cx="21031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9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3675888" y="3383280"/>
            <a:ext cx="214884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2.07x / 15.6%</a:t>
            </a:r>
            <a:endParaRPr lang="en-US" sz="19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3675888" y="3840480"/>
            <a:ext cx="21488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hurdle</a:t>
            </a:r>
            <a:endParaRPr lang="en-US" sz="9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6117336" y="2971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2A3470"/>
            </a:solidFill>
            <a:prstDash val="solid"/>
          </a:ln>
        </ns0:spPr>
        <ns0:txBody>
          <a:bodyPr/>
          <a:p/>
        </ns0:txBody>
      </ns0:sp>
      <ns0:sp>
        <ns0:nvSpPr>
          <ns0:cNvPr id="16" name="Text 14"/>
          <ns0:cNvSpPr/>
          <ns0:nvPr/>
        </ns0:nvSpPr>
        <ns0:spPr>
          <a:xfrm>
            <a:off x="6345936" y="3108960"/>
            <a:ext cx="21031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9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6345936" y="3383280"/>
            <a:ext cx="214884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2.63x / 21.3%</a:t>
            </a:r>
            <a:endParaRPr lang="en-US" sz="19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6345936" y="3840480"/>
            <a:ext cx="214884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cleared</a:t>
            </a:r>
            <a:endParaRPr lang="en-US" sz="9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9098280" y="1417320"/>
            <a:ext cx="2743200" cy="3200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9098280" y="1783080"/>
            <a:ext cx="2697480" cy="26517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the special-investigation report &amp; any restatement before any bid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Re-underwrite on restated financials; re-base the offer off a clean price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Confirmatory diligence per the priority checklist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 outreach plan subject to explicit authorization (no contact under current data policy)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 watchlist; bid only after the probe clears, financials are re-underwritten, excess-cash availability is verified, and walk-to-price (~¥2,031/share) supports a clean 20%+ gross IRR</a:t>
            </a:r>
            <a:endParaRPr lang="en-US" sz="105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777240" y="5440680"/>
            <a:ext cx="1101852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ns0:spPr>
        <ns0:txBody>
          <a:bodyPr/>
          <a:p/>
        </ns0:txBody>
      </ns0:sp>
      <ns0:sp>
        <ns0:nvSpPr>
          <ns0:cNvPr id="22" name="Text 20"/>
          <ns0:cNvSpPr/>
          <ns0:nvPr/>
        </ns0:nvSpPr>
        <ns0:spPr>
          <a:xfrm>
            <a:off x="777240" y="5577840"/>
            <a:ext cx="8229600" cy="7772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case study for internal discussion only — not investment advice, a valuation opinion or an offer. No contact has been made with the company, its shareholders or management; analysis uses public information only, which requires verification. Figures are pre-restatement and may change with the investigation outcome.</a:t>
            </a:r>
            <a:endParaRPr lang="en-US" sz="85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9144000" y="5943600"/>
            <a:ext cx="2651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June 2026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20.xml><?xml version="1.0" encoding="utf-8"?>
<ns0:sld xmlns:a="http://schemas.openxmlformats.org/drawingml/2006/main" xmlns:ns0="http://schemas.openxmlformats.org/presentationml/2006/main">
  <ns0:cSld name="Slide 17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548640" y="420624"/>
            <a:ext cx="566928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r>
              <a:rPr sz="1500" b="1">
                <a:solidFill>
                  <a:srgbClr val="C8A951"/>
                </a:solidFill>
                <a:latin typeface="Georgia"/>
              </a:rPr>
              <a:t>A</a:t>
            </a:r>
          </a:p>
        </ns0:txBody>
      </ns0:sp>
      <ns0:sp>
        <ns0:nvSpPr>
          <ns0:cNvPr id="3" name="Text 1"/>
          <ns0:cNvSpPr/>
          <ns0:nvPr/>
        </ns0:nvSpPr>
        <ns0:spPr>
          <a:xfrm>
            <a:off x="1078992" y="365760"/>
            <a:ext cx="877824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Appendix</a:t>
            </a:r>
            <a:endParaRPr lang="en-US" sz="27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1097280" y="914400"/>
            <a:ext cx="10424160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public sources — every factual claim is to be verified in confirmatory diligence</a:t>
            </a:r>
            <a:endParaRPr lang="en-US" sz="1250" dirty="0"/>
          </a:p>
        </ns0:txBody>
      </ns0:sp>
      <ns0:sp>
        <ns0:nvSpPr>
          <ns0:cNvPr id="5" name="Text 3"/>
          <ns0:cNvSpPr/>
          <ns0:nvPr/>
        </ns0:nvSpPr>
        <ns0:spPr>
          <a:xfrm>
            <a:off x="548640" y="1371600"/>
            <a:ext cx="36576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932688" y="1371600"/>
            <a:ext cx="106984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AISAN IR — Special Investigation Committee notice (3 Apr 2026)</a:t>
            </a:r>
            <a:pPr indent="0" marL="0">
              <a:lnSpc>
                <a:spcPct val="95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subsidiary investigation (suspected misconduct): scope, trigger, committee composition</a:t>
            </a:r>
            <a:endParaRPr lang="en-US" sz="970" dirty="0"/>
          </a:p>
        </ns0:txBody>
      </ns0:sp>
      <ns0:sp>
        <ns0:nvSpPr>
          <ns0:cNvPr id="7" name="Text 5"/>
          <ns0:cNvSpPr/>
          <ns0:nvPr/>
        </ns0:nvSpPr>
        <ns0:spPr>
          <a:xfrm>
            <a:off x="932688" y="1618488"/>
            <a:ext cx="1069848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https://www.aisantec.co.jp/information/4167/   ·   retrieved 7 Jun 2026</a:t>
            </a:r>
            <a:endParaRPr lang="en-US" sz="8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548640" y="1920240"/>
            <a:ext cx="36576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932688" y="1920240"/>
            <a:ext cx="106984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AISAN IR — share status / major shareholders</a:t>
            </a:r>
            <a:pPr indent="0" marL="0">
              <a:lnSpc>
                <a:spcPct val="95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issued shares 5,548,979; treasury shares 268,816; top holders</a:t>
            </a:r>
            <a:endParaRPr lang="en-US" sz="97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932688" y="2167128"/>
            <a:ext cx="1069848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https://www.aisantec.co.jp/ir/stock/status/   ·   retrieved 7 Jun 2026</a:t>
            </a:r>
            <a:endParaRPr lang="en-US" sz="8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548640" y="2468880"/>
            <a:ext cx="36576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932688" y="2468880"/>
            <a:ext cx="106984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AISAN IR — FY2025 results &amp; FY2026 guidance (決算短信; results normally announced May)</a:t>
            </a:r>
            <a:pPr indent="0" marL="0">
              <a:lnSpc>
                <a:spcPct val="95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FY25A rev ¥6.22bn / OP ¥0.44bn; FY26E guidance ¥7.2bn / ¥0.6bn; FY26 results delayed (30-Apr-26 notice)</a:t>
            </a:r>
            <a:endParaRPr lang="en-US" sz="97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932688" y="2715768"/>
            <a:ext cx="1069848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https://www.aisantec.co.jp/ir/investors/   ·   FY26 delay notice: https://irbank.net/4667/140120260430514374   ·   retrieved 7 Jun 2026</a:t>
            </a:r>
            <a:endParaRPr lang="en-US" sz="8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548640" y="3017520"/>
            <a:ext cx="36576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932688" y="3017520"/>
            <a:ext cx="106984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Nikkei — “アイサン、特別調査委設置 子会社で不適切取引の疑い” (3 Apr 2026)</a:t>
            </a:r>
            <a:pPr indent="0" marL="0">
              <a:lnSpc>
                <a:spcPct val="95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independent confirmation of the investigation</a:t>
            </a:r>
            <a:endParaRPr lang="en-US" sz="97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932688" y="3264408"/>
            <a:ext cx="1069848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https://www.nikkei.com/nkd/industry/article/?DisplayType=1&amp;n_m_code=146&amp;ng=DGXZQOFD03A3V0T00C26A4000000   ·   retrieved 7 Jun 2026</a:t>
            </a:r>
            <a:endParaRPr lang="en-US" sz="8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548640" y="3566160"/>
            <a:ext cx="36576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932688" y="3566160"/>
            <a:ext cx="106984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JP — market news &amp; quote (4667; Apr 2026)</a:t>
            </a:r>
            <a:pPr indent="0" marL="0">
              <a:lnSpc>
                <a:spcPct val="95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market reaction; ~¥1,643 intraday on disclosure; ~¥1,490s close in May; share price reference</a:t>
            </a:r>
            <a:endParaRPr lang="en-US" sz="97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932688" y="3813048"/>
            <a:ext cx="1069848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https://finance.yahoo.co.jp/news/detail/5c27f0e1919b1e7001799004888f00d95af6ee3d   ·   retrieved 7 Jun 2026</a:t>
            </a:r>
            <a:endParaRPr lang="en-US" sz="8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548640" y="4114800"/>
            <a:ext cx="36576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932688" y="4114800"/>
            <a:ext cx="106984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IRBANK — 4667 / E04980 (P&amp;L, balance sheet, cash flow, segment)</a:t>
            </a:r>
            <a:pPr indent="0" marL="0">
              <a:lnSpc>
                <a:spcPct val="95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financial history &amp; multiples (FY24–FY26E)</a:t>
            </a:r>
            <a:endParaRPr lang="en-US" sz="97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932688" y="4361688"/>
            <a:ext cx="1069848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https://irbank.net/E04980/pl  (also /bs, /cf)   ·   retrieved 7 Jun 2026</a:t>
            </a:r>
            <a:endParaRPr lang="en-US" sz="8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548640" y="4663440"/>
            <a:ext cx="365760" cy="23774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932688" y="4663440"/>
            <a:ext cx="1069848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Online — Akisoku acquisition (Oct 2023; executed Jan 2024)</a:t>
            </a:r>
            <a:pPr indent="0" marL="0">
              <a:lnSpc>
                <a:spcPct val="95000"/>
              </a:lnSpc>
              <a:buNone/>
            </a:pPr>
            <a:r>
              <a:rPr lang="en-US" sz="970" dirty="0">
                <a:solidFill>
                  <a:srgbClr val="3A4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subsidiary acquisition; corporate history</a:t>
            </a:r>
            <a:endParaRPr lang="en-US" sz="97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932688" y="4910328"/>
            <a:ext cx="1069848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https://maonline.jp/news/20231013b   ·   retrieved 7 Jun 2026</a:t>
            </a:r>
            <a:endParaRPr lang="en-US" sz="80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548640" y="528523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ns0:spPr>
        <ns0:txBody>
          <a:bodyPr/>
          <a:p/>
        </ns0:txBody>
      </ns0:sp>
      <ns0:sp>
        <ns0:nvSpPr>
          <ns0:cNvPr id="27" name="Shape 25"/>
          <ns0:cNvSpPr/>
          <ns0:nvPr/>
        </ns0:nvSpPr>
        <ns0:spPr>
          <a:xfrm>
            <a:off x="548640" y="5285232"/>
            <a:ext cx="91440" cy="1078992"/>
          </a:xfrm>
          <a:prstGeom prst="roundRect">
            <a:avLst>
              <a:gd name="adj" fmla="val 60000"/>
            </a:avLst>
          </a:prstGeom>
          <a:solidFill>
            <a:srgbClr val="C8A951"/>
          </a:solidFill>
          <a:ln/>
        </ns0:spPr>
        <ns0:txBody>
          <a:bodyPr/>
          <a:p/>
        </ns0:txBody>
      </ns0:sp>
      <ns0:sp>
        <ns0:nvSpPr>
          <ns0:cNvPr id="28" name="Text 26"/>
          <ns0:cNvSpPr/>
          <ns0:nvPr/>
        </ns0:nvSpPr>
        <ns0:spPr>
          <a:xfrm>
            <a:off x="868680" y="5376672"/>
            <a:ext cx="10515600" cy="9144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r>
              <a:rPr sz="850"/>
              <a:t>Reported / estimated / to be verified in DD: founder / related-holder stake, segment margins, peer multiples, investment-securities mark, FY2026E guidance and Akisoku impact. Peer multiples: yfinance snapshots, 7-Jun-2026. Precedent premia — SECOM/ITOCHU notice (5-Sep-2024): secom.co.jp/english/ir/lib_2024/notice20240905-1.pdf · Topcon disclosure (29-Jul-2025): global.topcon.com/invest/wp-content/uploads/library/financial/2025/release_20250729_01_EN.pdf · M&amp;A Online (Tecnos 4-Feb-2025; Kaonavi 13-Feb-2025).</a:t>
            </a:r>
          </a:p>
        </ns0:txBody>
      </ns0:sp>
      <ns0:sp>
        <ns0:nvSpPr>
          <ns0:cNvPr id="29" name="Text 27"/>
          <ns0:cNvSpPr/>
          <ns0:nvPr/>
        </ns0:nvSpPr>
        <ns0:spPr>
          <a:xfrm>
            <a:off x="548640" y="6455664"/>
            <a:ext cx="731520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Measure  ·  Strictly Private &amp; Confidential</a:t>
            </a:r>
            <a:endParaRPr lang="en-US" sz="850" dirty="0"/>
          </a:p>
        </ns0:txBody>
      </ns0:sp>
      <ns0:sp>
        <ns0:nvSpPr>
          <ns0:cNvPr id="30" name="Text 28"/>
          <ns0:cNvSpPr/>
          <ns0:nvPr/>
        </ns0:nvSpPr>
        <ns0:spPr>
          <a:xfrm>
            <a:off x="11338560" y="6455664"/>
            <a:ext cx="36576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r>
              <a:rPr sz="750"/>
              <a:t>20</a:t>
            </a:r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Investment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Measure — AISAN TECHNOLOGY Take-Private</dc:title>
  <dc:subject>Take-Private (LBO) Case Study — AISAN TECHNOLOGY (TSE 4667)</dc:subject>
  <dc:creator>Investment Team</dc:creator>
  <cp:lastModifiedBy>Investment Team</cp:lastModifiedBy>
  <cp:revision>1</cp:revision>
  <dcterms:created xsi:type="dcterms:W3CDTF">2026-06-07T12:40:10Z</dcterms:created>
  <dcterms:modified xsi:type="dcterms:W3CDTF">2026-06-07T12:40:10Z</dcterms:modified>
</cp:coreProperties>
</file>