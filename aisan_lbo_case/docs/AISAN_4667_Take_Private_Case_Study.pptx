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5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E2761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FY24A</c:v>
                  </c:pt>
                  <c:pt idx="1">
                    <c:v>FY25A</c:v>
                  </c:pt>
                  <c:pt idx="2">
                    <c:v>FY26E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5.48</c:v>
                </c:pt>
                <c:pt idx="1">
                  <c:v>6.22</c:v>
                </c:pt>
                <c:pt idx="2">
                  <c:v>7.2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1" i="0" strike="noStrike" sz="1000" u="none">
                  <a:solidFill>
                    <a:srgbClr val="1E2761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48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.2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A4059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FY24A</c:v>
                  </c:pt>
                  <c:pt idx="1">
                    <c:v>FY25A</c:v>
                  </c:pt>
                  <c:pt idx="2">
                    <c:v>FY26E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5479</c:v>
                </c:pt>
                <c:pt idx="1">
                  <c:v>6221</c:v>
                </c:pt>
                <c:pt idx="2">
                  <c:v>7200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Operating profit</c:v>
                </c:pt>
              </c:strCache>
            </c:strRef>
          </c:tx>
          <c:spPr>
            <a:solidFill>
              <a:srgbClr val="C8A95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A4059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FY24A</c:v>
                  </c:pt>
                  <c:pt idx="1">
                    <c:v>FY25A</c:v>
                  </c:pt>
                  <c:pt idx="2">
                    <c:v>FY26E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450</c:v>
                </c:pt>
                <c:pt idx="1">
                  <c:v>449</c:v>
                </c:pt>
                <c:pt idx="2">
                  <c:v>600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A4059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48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7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5B6485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Ownership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8A951"/>
              </a:solidFill>
              <a:effectLst/>
            </c:spPr>
          </c:dPt>
          <c:dPt>
            <c:idx val="1"/>
            <c:bubble3D val="0"/>
            <c:spPr>
              <a:solidFill>
                <a:srgbClr val="D9DEEC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1E2761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1E2761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Founder family</c:v>
                </c:pt>
                <c:pt idx="1">
                  <c:v>Other / free float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18.5</c:v>
                </c:pt>
                <c:pt idx="1">
                  <c:v>81.5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New senior term loan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Sources</c:v>
                  </c:pt>
                  <c:pt idx="1">
                    <c:v>Uses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0.8</c:v>
                </c:pt>
                <c:pt idx="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Excess balance-sheet cash</c:v>
                </c:pt>
              </c:strCache>
            </c:strRef>
          </c:tx>
          <c:spPr>
            <a:solidFill>
              <a:srgbClr val="C8A95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Sources</c:v>
                  </c:pt>
                  <c:pt idx="1">
                    <c:v>Uses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3.4</c:v>
                </c:pt>
                <c:pt idx="1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Sponsor equity</c:v>
                </c:pt>
              </c:strCache>
            </c:strRef>
          </c:tx>
          <c:spPr>
            <a:solidFill>
              <a:srgbClr val="A9BCE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Sources</c:v>
                  </c:pt>
                  <c:pt idx="1">
                    <c:v>Uses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9.03</c:v>
                </c:pt>
                <c:pt idx="1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Equity purchase</c:v>
                </c:pt>
              </c:strCache>
            </c:strRef>
          </c:tx>
          <c:spPr>
            <a:solidFill>
              <a:srgbClr val="2A347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Sources</c:v>
                  </c:pt>
                  <c:pt idx="1">
                    <c:v>Uses</c:v>
                  </c:pt>
                </c:lvl>
              </c:multiLvlStrCache>
            </c:multiLvl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0</c:v>
                </c:pt>
                <c:pt idx="1">
                  <c:v>12.73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Refi debt &amp; fees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Sources</c:v>
                  </c:pt>
                  <c:pt idx="1">
                    <c:v>Uses</c:v>
                  </c:pt>
                </c:lvl>
              </c:multiLvlStrCache>
            </c:multiLvlStrRef>
          </c:cat>
          <c:val>
            <c:numRef>
              <c:f>Sheet1!$F$2:$F$3</c:f>
              <c:numCache>
                <c:formatCode>General</c:formatCode>
                <c:ptCount val="2"/>
                <c:pt idx="0">
                  <c:v>0</c:v>
                </c:pt>
                <c:pt idx="1">
                  <c:v>0.5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7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E2761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.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50">
              <a:solidFill>
                <a:srgbClr val="5B6485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A4059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FY26E</c:v>
                  </c:pt>
                  <c:pt idx="1">
                    <c:v>FY27E</c:v>
                  </c:pt>
                  <c:pt idx="2">
                    <c:v>FY28E</c:v>
                  </c:pt>
                  <c:pt idx="3">
                    <c:v>FY29E</c:v>
                  </c:pt>
                  <c:pt idx="4">
                    <c:v>FY30E</c:v>
                  </c:pt>
                  <c:pt idx="5">
                    <c:v>FY31E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7200</c:v>
                </c:pt>
                <c:pt idx="1">
                  <c:v>7704</c:v>
                </c:pt>
                <c:pt idx="2">
                  <c:v>8243</c:v>
                </c:pt>
                <c:pt idx="3">
                  <c:v>8738</c:v>
                </c:pt>
                <c:pt idx="4">
                  <c:v>9262</c:v>
                </c:pt>
                <c:pt idx="5">
                  <c:v>9725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EBITDA</c:v>
                </c:pt>
              </c:strCache>
            </c:strRef>
          </c:tx>
          <c:spPr>
            <a:solidFill>
              <a:srgbClr val="C8A95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A4059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FY26E</c:v>
                  </c:pt>
                  <c:pt idx="1">
                    <c:v>FY27E</c:v>
                  </c:pt>
                  <c:pt idx="2">
                    <c:v>FY28E</c:v>
                  </c:pt>
                  <c:pt idx="3">
                    <c:v>FY29E</c:v>
                  </c:pt>
                  <c:pt idx="4">
                    <c:v>FY30E</c:v>
                  </c:pt>
                  <c:pt idx="5">
                    <c:v>FY31E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800</c:v>
                </c:pt>
                <c:pt idx="1">
                  <c:v>919</c:v>
                </c:pt>
                <c:pt idx="2">
                  <c:v>1044</c:v>
                </c:pt>
                <c:pt idx="3">
                  <c:v>1179</c:v>
                </c:pt>
                <c:pt idx="4">
                  <c:v>1306</c:v>
                </c:pt>
                <c:pt idx="5">
                  <c:v>1432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3A4059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5B648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4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5B6485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image" Target="../media/image-8-1.png"/><Relationship Id="rId3" Type="http://schemas.openxmlformats.org/officeDocument/2006/relationships/image" Target="../media/image-8-2.png"/><Relationship Id="rId4" Type="http://schemas.openxmlformats.org/officeDocument/2006/relationships/image" Target="../media/image-8-3.png"/><Relationship Id="rId5" Type="http://schemas.openxmlformats.org/officeDocument/2006/relationships/image" Target="../media/image-8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3.png"/><Relationship Id="rId5" Type="http://schemas.openxmlformats.org/officeDocument/2006/relationships/image" Target="../media/image-14-3.png"/><Relationship Id="rId6" Type="http://schemas.openxmlformats.org/officeDocument/2006/relationships/image" Target="../media/image-14-3.png"/><Relationship Id="rId7" Type="http://schemas.openxmlformats.org/officeDocument/2006/relationships/image" Target="../media/image-14-3.png"/><Relationship Id="rId8" Type="http://schemas.openxmlformats.org/officeDocument/2006/relationships/image" Target="../media/image-14-3.png"/><Relationship Id="rId9" Type="http://schemas.openxmlformats.org/officeDocument/2006/relationships/image" Target="../media/image-14-3.png"/><Relationship Id="rId10" Type="http://schemas.openxmlformats.org/officeDocument/2006/relationships/image" Target="../media/image-14-3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2.png"/><Relationship Id="rId4" Type="http://schemas.openxmlformats.org/officeDocument/2006/relationships/image" Target="../media/image-15-2.png"/><Relationship Id="rId5" Type="http://schemas.openxmlformats.org/officeDocument/2006/relationships/image" Target="../media/image-15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377440"/>
            <a:ext cx="6583680" cy="6583680"/>
          </a:xfrm>
          <a:prstGeom prst="ellipse">
            <a:avLst/>
          </a:prstGeom>
          <a:ln w="15240">
            <a:solidFill>
              <a:srgbClr val="2A347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-1280160"/>
            <a:ext cx="4937760" cy="4937760"/>
          </a:xfrm>
          <a:prstGeom prst="ellipse">
            <a:avLst/>
          </a:prstGeom>
          <a:ln w="12700">
            <a:solidFill>
              <a:srgbClr val="2A347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15600" y="-457200"/>
            <a:ext cx="3291840" cy="3291840"/>
          </a:xfrm>
          <a:prstGeom prst="ellipse">
            <a:avLst/>
          </a:prstGeom>
          <a:ln w="12700">
            <a:solidFill>
              <a:srgbClr val="C8A95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14400"/>
            <a:ext cx="1828800" cy="64008"/>
          </a:xfrm>
          <a:prstGeom prst="roundRect">
            <a:avLst>
              <a:gd name="adj" fmla="val 85714"/>
            </a:avLst>
          </a:prstGeom>
          <a:solidFill>
            <a:srgbClr val="C8A951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097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MEASURE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1783080"/>
            <a:ext cx="10424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AISAN TECHNOLOGY CO., LTD.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Take-Private (LBO) Case Study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822960" y="41605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50" kern="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TSE STANDARD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822960" y="4416552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4667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3364992" y="4206240"/>
            <a:ext cx="0" cy="502920"/>
          </a:xfrm>
          <a:prstGeom prst="line">
            <a:avLst/>
          </a:prstGeom>
          <a:noFill/>
          <a:ln w="12700">
            <a:solidFill>
              <a:srgbClr val="2A347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0440" y="41605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50" kern="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HQ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520440" y="4416552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Nagoya, Japan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6062472" y="4206240"/>
            <a:ext cx="0" cy="502920"/>
          </a:xfrm>
          <a:prstGeom prst="line">
            <a:avLst/>
          </a:prstGeom>
          <a:noFill/>
          <a:ln w="12700">
            <a:solidFill>
              <a:srgbClr val="2A347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17920" y="41605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50" kern="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FOUNDED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217920" y="4416552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1970</a:t>
            </a:r>
            <a:endParaRPr lang="en-US" sz="1550" dirty="0"/>
          </a:p>
        </p:txBody>
      </p:sp>
      <p:sp>
        <p:nvSpPr>
          <p:cNvPr id="16" name="Shape 14"/>
          <p:cNvSpPr/>
          <p:nvPr/>
        </p:nvSpPr>
        <p:spPr>
          <a:xfrm>
            <a:off x="8759952" y="4206240"/>
            <a:ext cx="0" cy="502920"/>
          </a:xfrm>
          <a:prstGeom prst="line">
            <a:avLst/>
          </a:prstGeom>
          <a:noFill/>
          <a:ln w="12700">
            <a:solidFill>
              <a:srgbClr val="2A347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915400" y="41605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50" kern="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8915400" y="4416552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Geospatial software / HD maps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822960" y="5212080"/>
            <a:ext cx="10515600" cy="0"/>
          </a:xfrm>
          <a:prstGeom prst="line">
            <a:avLst/>
          </a:prstGeom>
          <a:noFill/>
          <a:ln w="12700">
            <a:solidFill>
              <a:srgbClr val="2A347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532180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A9B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Recommendation, business &amp; industry analysis · projections &amp; returns · value-up theses · key DD items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22960" y="62636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Strictly Private &amp; Confidential  ·  Prepared for the Investment Committee  ·  June 2026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20624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78992" y="365760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Executive Summary &amp; Recommendation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097280" y="914400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Fundamentally interesting, but an active subsidiary fraud investigation and sub-hurdle returns make a bid premature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11091672" cy="1078992"/>
          </a:xfrm>
          <a:prstGeom prst="roundRect">
            <a:avLst>
              <a:gd name="adj" fmla="val 8475"/>
            </a:avLst>
          </a:prstGeom>
          <a:solidFill>
            <a:srgbClr val="1E2761"/>
          </a:solidFill>
          <a:ln/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68680" y="1591056"/>
            <a:ext cx="640080" cy="640080"/>
          </a:xfrm>
          <a:prstGeom prst="ellipse">
            <a:avLst/>
          </a:prstGeom>
          <a:solidFill>
            <a:srgbClr val="C8A951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0" descr="assets/warning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5101" y="1757477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45920" y="1463040"/>
            <a:ext cx="978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spc="20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   </a:t>
            </a:r>
            <a:pPr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early; proceed to confirmatory DD only. </a:t>
            </a:r>
            <a:pPr indent="0" marL="0">
              <a:lnSpc>
                <a:spcPct val="100000"/>
              </a:lnSpc>
              <a:buNone/>
            </a:pPr>
            <a:r>
              <a:rPr lang="en-US" sz="130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bid pending the investigation report, audited / restated FY2026 financials, QoE, cash-availability analysis and clean re-underwriting.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On 3 Apr 2026 AISAN set up a special committee after suspected forgery, concealment and improper transactions at a 100%-owned subsidiary; the FY26 impact is undetermined. Even on pre-restatement figures, corrected base-case returns are ~14% IRR / 1.9x — below a typical PE hurdle.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2697480"/>
            <a:ext cx="2670048" cy="148132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49808" y="2916936"/>
            <a:ext cx="512064" cy="512064"/>
          </a:xfrm>
          <a:prstGeom prst="ellipse">
            <a:avLst/>
          </a:prstGeom>
          <a:solidFill>
            <a:srgbClr val="F4F6FB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pic>
        <p:nvPicPr>
          <p:cNvPr id="11" name="Image 1" descr="assets/chart_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945" y="3050073"/>
            <a:ext cx="245791" cy="245791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371600" y="2935224"/>
            <a:ext cx="1755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 BASE IRR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749808" y="3374136"/>
            <a:ext cx="23042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14.1%</a:t>
            </a:r>
            <a:endParaRPr lang="en-US" sz="3000" dirty="0"/>
          </a:p>
        </p:txBody>
      </p:sp>
      <p:sp>
        <p:nvSpPr>
          <p:cNvPr id="14" name="Text 10"/>
          <p:cNvSpPr/>
          <p:nvPr/>
        </p:nvSpPr>
        <p:spPr>
          <a:xfrm>
            <a:off x="749808" y="3867912"/>
            <a:ext cx="2304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MOIC 1.93x · 5-yr hold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3346704" y="2697480"/>
            <a:ext cx="2670048" cy="148132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3547872" y="2916936"/>
            <a:ext cx="512064" cy="512064"/>
          </a:xfrm>
          <a:prstGeom prst="ellipse">
            <a:avLst/>
          </a:prstGeom>
          <a:solidFill>
            <a:srgbClr val="F4F6FB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pic>
        <p:nvPicPr>
          <p:cNvPr id="17" name="Image 2" descr="assets/money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1009" y="3050073"/>
            <a:ext cx="245791" cy="24579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4169664" y="2935224"/>
            <a:ext cx="1755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 / SHARE</a:t>
            </a:r>
            <a:endParaRPr lang="en-US" sz="950" dirty="0"/>
          </a:p>
        </p:txBody>
      </p:sp>
      <p:sp>
        <p:nvSpPr>
          <p:cNvPr id="19" name="Text 14"/>
          <p:cNvSpPr/>
          <p:nvPr/>
        </p:nvSpPr>
        <p:spPr>
          <a:xfrm>
            <a:off x="3547872" y="3374136"/>
            <a:ext cx="23042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¥2,295</a:t>
            </a:r>
            <a:endParaRPr lang="en-US" sz="3000" dirty="0"/>
          </a:p>
        </p:txBody>
      </p:sp>
      <p:sp>
        <p:nvSpPr>
          <p:cNvPr id="20" name="Text 15"/>
          <p:cNvSpPr/>
          <p:nvPr/>
        </p:nvSpPr>
        <p:spPr>
          <a:xfrm>
            <a:off x="3547872" y="3867912"/>
            <a:ext cx="2304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+37% to fraud-hit ¥1,675</a:t>
            </a:r>
            <a:endParaRPr 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6144768" y="2697480"/>
            <a:ext cx="2670048" cy="148132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6345936" y="2916936"/>
            <a:ext cx="512064" cy="512064"/>
          </a:xfrm>
          <a:prstGeom prst="ellipse">
            <a:avLst/>
          </a:prstGeom>
          <a:solidFill>
            <a:srgbClr val="F4F6FB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pic>
        <p:nvPicPr>
          <p:cNvPr id="23" name="Image 3" descr="assets/warning_gol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9073" y="3050073"/>
            <a:ext cx="245791" cy="245791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6967728" y="2935224"/>
            <a:ext cx="1755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GATING ITEM</a:t>
            </a:r>
            <a:endParaRPr lang="en-US" sz="950" dirty="0"/>
          </a:p>
        </p:txBody>
      </p:sp>
      <p:sp>
        <p:nvSpPr>
          <p:cNvPr id="25" name="Text 19"/>
          <p:cNvSpPr/>
          <p:nvPr/>
        </p:nvSpPr>
        <p:spPr>
          <a:xfrm>
            <a:off x="6345936" y="3374136"/>
            <a:ext cx="23042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Fraud probe</a:t>
            </a:r>
            <a:endParaRPr lang="en-US" sz="2300" dirty="0"/>
          </a:p>
        </p:txBody>
      </p:sp>
      <p:sp>
        <p:nvSpPr>
          <p:cNvPr id="26" name="Text 20"/>
          <p:cNvSpPr/>
          <p:nvPr/>
        </p:nvSpPr>
        <p:spPr>
          <a:xfrm>
            <a:off x="6345936" y="3867912"/>
            <a:ext cx="2304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100%-sub special investigation</a:t>
            </a:r>
            <a:endParaRPr lang="en-US" sz="950" dirty="0"/>
          </a:p>
        </p:txBody>
      </p:sp>
      <p:sp>
        <p:nvSpPr>
          <p:cNvPr id="27" name="Shape 21"/>
          <p:cNvSpPr/>
          <p:nvPr/>
        </p:nvSpPr>
        <p:spPr>
          <a:xfrm>
            <a:off x="8942832" y="2697480"/>
            <a:ext cx="2670048" cy="148132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9144000" y="2916936"/>
            <a:ext cx="512064" cy="512064"/>
          </a:xfrm>
          <a:prstGeom prst="ellipse">
            <a:avLst/>
          </a:prstGeom>
          <a:solidFill>
            <a:srgbClr val="F4F6FB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pic>
        <p:nvPicPr>
          <p:cNvPr id="29" name="Image 4" descr="assets/coins_gol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77137" y="3050073"/>
            <a:ext cx="245791" cy="245791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9765792" y="2935224"/>
            <a:ext cx="1755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CASH</a:t>
            </a:r>
            <a:endParaRPr lang="en-US" sz="950" dirty="0"/>
          </a:p>
        </p:txBody>
      </p:sp>
      <p:sp>
        <p:nvSpPr>
          <p:cNvPr id="31" name="Text 24"/>
          <p:cNvSpPr/>
          <p:nvPr/>
        </p:nvSpPr>
        <p:spPr>
          <a:xfrm>
            <a:off x="9144000" y="3374136"/>
            <a:ext cx="23042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¥4.1bn</a:t>
            </a:r>
            <a:endParaRPr lang="en-US" sz="3000" dirty="0"/>
          </a:p>
        </p:txBody>
      </p:sp>
      <p:sp>
        <p:nvSpPr>
          <p:cNvPr id="32" name="Text 25"/>
          <p:cNvSpPr/>
          <p:nvPr/>
        </p:nvSpPr>
        <p:spPr>
          <a:xfrm>
            <a:off x="9144000" y="3867912"/>
            <a:ext cx="2304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≈44% of mkt cap; reliability TBC</a:t>
            </a:r>
            <a:endParaRPr lang="en-US" sz="950" dirty="0"/>
          </a:p>
        </p:txBody>
      </p:sp>
      <p:sp>
        <p:nvSpPr>
          <p:cNvPr id="33" name="Shape 26"/>
          <p:cNvSpPr/>
          <p:nvPr/>
        </p:nvSpPr>
        <p:spPr>
          <a:xfrm>
            <a:off x="548640" y="4370832"/>
            <a:ext cx="5468112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548640" y="4370832"/>
            <a:ext cx="91440" cy="1828800"/>
          </a:xfrm>
          <a:prstGeom prst="roundRect">
            <a:avLst>
              <a:gd name="adj" fmla="val 60000"/>
            </a:avLst>
          </a:prstGeom>
          <a:solidFill>
            <a:srgbClr val="2E7D52"/>
          </a:solidFill>
          <a:ln/>
        </p:spPr>
      </p:sp>
      <p:sp>
        <p:nvSpPr>
          <p:cNvPr id="35" name="Text 28"/>
          <p:cNvSpPr/>
          <p:nvPr/>
        </p:nvSpPr>
        <p:spPr>
          <a:xfrm>
            <a:off x="822960" y="4517136"/>
            <a:ext cx="5010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E7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FUNDAMENTAL ATTRACTIONS</a:t>
            </a:r>
            <a:endParaRPr lang="en-US" sz="1100" dirty="0"/>
          </a:p>
        </p:txBody>
      </p:sp>
      <p:sp>
        <p:nvSpPr>
          <p:cNvPr id="36" name="Text 29"/>
          <p:cNvSpPr/>
          <p:nvPr/>
        </p:nvSpPr>
        <p:spPr>
          <a:xfrm>
            <a:off x="868680" y="4882896"/>
            <a:ext cx="49194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Recurring, high-margin surveying-software core (cash cow)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Over-capitalised balance sheet: ~¥4.1bn net cash to deploy (subject to verification)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/ related holders ~18.5% (reported) may facilitate an MBO if aligned — willingness is a DD item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HD-map &amp; Level-4 autonomous-driving optionality for a strategic exit</a:t>
            </a:r>
            <a:endParaRPr lang="en-US" sz="1150" dirty="0"/>
          </a:p>
        </p:txBody>
      </p:sp>
      <p:sp>
        <p:nvSpPr>
          <p:cNvPr id="37" name="Shape 30"/>
          <p:cNvSpPr/>
          <p:nvPr/>
        </p:nvSpPr>
        <p:spPr>
          <a:xfrm>
            <a:off x="6172200" y="4370832"/>
            <a:ext cx="5468112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p:spPr>
      </p:sp>
      <p:sp>
        <p:nvSpPr>
          <p:cNvPr id="38" name="Shape 31"/>
          <p:cNvSpPr/>
          <p:nvPr/>
        </p:nvSpPr>
        <p:spPr>
          <a:xfrm>
            <a:off x="6172200" y="4370832"/>
            <a:ext cx="91440" cy="1828800"/>
          </a:xfrm>
          <a:prstGeom prst="roundRect">
            <a:avLst>
              <a:gd name="adj" fmla="val 60000"/>
            </a:avLst>
          </a:prstGeom>
          <a:solidFill>
            <a:srgbClr val="B5462F"/>
          </a:solidFill>
          <a:ln/>
        </p:spPr>
      </p:sp>
      <p:sp>
        <p:nvSpPr>
          <p:cNvPr id="39" name="Text 32"/>
          <p:cNvSpPr/>
          <p:nvPr/>
        </p:nvSpPr>
        <p:spPr>
          <a:xfrm>
            <a:off x="6446520" y="4517136"/>
            <a:ext cx="5010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B54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NOT NOW</a:t>
            </a:r>
            <a:endParaRPr lang="en-US" sz="1100" dirty="0"/>
          </a:p>
        </p:txBody>
      </p:sp>
      <p:sp>
        <p:nvSpPr>
          <p:cNvPr id="40" name="Text 33"/>
          <p:cNvSpPr/>
          <p:nvPr/>
        </p:nvSpPr>
        <p:spPr>
          <a:xfrm>
            <a:off x="6492240" y="4882896"/>
            <a:ext cx="49194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Subsidiary (Akisoku) under special investigation — forgery &amp; concealment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Financials unreliable until restated; possible revision / delayed filings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 base IRR ~14% (upside ~20%, downside a capital loss) — sub-hurdle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Lumpy Q4-weighted revenue; loss-making Mobility; thin Standard float</a:t>
            </a:r>
            <a:endParaRPr lang="en-US" sz="1150" dirty="0"/>
          </a:p>
        </p:txBody>
      </p:sp>
      <p:sp>
        <p:nvSpPr>
          <p:cNvPr id="41" name="Text 34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Measure  ·  Strictly Private &amp; Confidential</a:t>
            </a:r>
            <a:endParaRPr lang="en-US" sz="850" dirty="0"/>
          </a:p>
        </p:txBody>
      </p:sp>
      <p:sp>
        <p:nvSpPr>
          <p:cNvPr id="42" name="Text 35"/>
          <p:cNvSpPr/>
          <p:nvPr/>
        </p:nvSpPr>
        <p:spPr>
          <a:xfrm>
            <a:off x="11338560" y="64556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20624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78992" y="365760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Investment Highlights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097280" y="914400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reasons AISAN screens as a differentiated take-private opportunity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11091672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591056"/>
            <a:ext cx="566928" cy="566928"/>
          </a:xfrm>
          <a:prstGeom prst="ellipse">
            <a:avLst/>
          </a:prstGeom>
          <a:solidFill>
            <a:srgbClr val="2E7D52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0" descr="assets/shield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4641" y="1738457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81328" y="1527048"/>
            <a:ext cx="640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9BC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2148840" y="1536192"/>
            <a:ext cx="3383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Defensive, recurring core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5623560" y="1508760"/>
            <a:ext cx="5852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6000"/>
              </a:lnSpc>
              <a:buNone/>
            </a:pPr>
            <a:r>
              <a:rPr lang="en-US" sz="108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Public segment (surveying &amp; civil-engineering software for licensed land/house surveyors and government) is sticky, budget-linked and runs at a ~26% segment margin — a genuine cash cow underpinning downside protection.</a:t>
            </a:r>
            <a:endParaRPr lang="en-US" sz="1080" dirty="0"/>
          </a:p>
        </p:txBody>
      </p:sp>
      <p:sp>
        <p:nvSpPr>
          <p:cNvPr id="11" name="Shape 8"/>
          <p:cNvSpPr/>
          <p:nvPr/>
        </p:nvSpPr>
        <p:spPr>
          <a:xfrm>
            <a:off x="548640" y="2350008"/>
            <a:ext cx="11091672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777240" y="2523744"/>
            <a:ext cx="566928" cy="566928"/>
          </a:xfrm>
          <a:prstGeom prst="ellipse">
            <a:avLst/>
          </a:prstGeom>
          <a:solidFill>
            <a:srgbClr val="C8A951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pic>
        <p:nvPicPr>
          <p:cNvPr id="13" name="Image 1" descr="assets/coins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4641" y="2671145"/>
            <a:ext cx="272125" cy="272125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481328" y="2459736"/>
            <a:ext cx="640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9BC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15" name="Text 11"/>
          <p:cNvSpPr/>
          <p:nvPr/>
        </p:nvSpPr>
        <p:spPr>
          <a:xfrm>
            <a:off x="2148840" y="2468880"/>
            <a:ext cx="3383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Over-capitalised balance sheet</a:t>
            </a:r>
            <a:endParaRPr lang="en-US" sz="1450" dirty="0"/>
          </a:p>
        </p:txBody>
      </p:sp>
      <p:sp>
        <p:nvSpPr>
          <p:cNvPr id="16" name="Text 12"/>
          <p:cNvSpPr/>
          <p:nvPr/>
        </p:nvSpPr>
        <p:spPr>
          <a:xfrm>
            <a:off x="5623560" y="2441448"/>
            <a:ext cx="5852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6000"/>
              </a:lnSpc>
              <a:buNone/>
            </a:pPr>
            <a:r>
              <a:rPr lang="en-US" sz="108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FY25A net cash of ~¥4.1bn (≈44% of market cap) plus an investment-securities portfolio sit idle. TSE capital-efficiency pressure makes balance-sheet optimisation a natural focus — though it is DD-gated, not yet underwritable.</a:t>
            </a:r>
            <a:endParaRPr lang="en-US" sz="1080" dirty="0"/>
          </a:p>
        </p:txBody>
      </p:sp>
      <p:sp>
        <p:nvSpPr>
          <p:cNvPr id="17" name="Shape 13"/>
          <p:cNvSpPr/>
          <p:nvPr/>
        </p:nvSpPr>
        <p:spPr>
          <a:xfrm>
            <a:off x="548640" y="3282696"/>
            <a:ext cx="11091672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777240" y="3456432"/>
            <a:ext cx="566928" cy="566928"/>
          </a:xfrm>
          <a:prstGeom prst="ellipse">
            <a:avLst/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pic>
        <p:nvPicPr>
          <p:cNvPr id="19" name="Image 2" descr="assets/chart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4641" y="3603833"/>
            <a:ext cx="272125" cy="272125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481328" y="3392424"/>
            <a:ext cx="640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9BC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21" name="Text 16"/>
          <p:cNvSpPr/>
          <p:nvPr/>
        </p:nvSpPr>
        <p:spPr>
          <a:xfrm>
            <a:off x="2148840" y="3401568"/>
            <a:ext cx="3383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Visible margin upside</a:t>
            </a:r>
            <a:endParaRPr lang="en-US" sz="1450" dirty="0"/>
          </a:p>
        </p:txBody>
      </p:sp>
      <p:sp>
        <p:nvSpPr>
          <p:cNvPr id="22" name="Text 17"/>
          <p:cNvSpPr/>
          <p:nvPr/>
        </p:nvSpPr>
        <p:spPr>
          <a:xfrm>
            <a:off x="5623560" y="3374136"/>
            <a:ext cx="5852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6000"/>
              </a:lnSpc>
              <a:buNone/>
            </a:pPr>
            <a:r>
              <a:rPr lang="en-US" sz="108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margin of ~8% sits far below the software core. Overhead rationalisation and a turnaround / partnering of loss-making Mobility can lift blended margin toward 12%+.</a:t>
            </a:r>
            <a:endParaRPr lang="en-US" sz="1080" dirty="0"/>
          </a:p>
        </p:txBody>
      </p:sp>
      <p:sp>
        <p:nvSpPr>
          <p:cNvPr id="23" name="Shape 18"/>
          <p:cNvSpPr/>
          <p:nvPr/>
        </p:nvSpPr>
        <p:spPr>
          <a:xfrm>
            <a:off x="548640" y="4215384"/>
            <a:ext cx="11091672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777240" y="4389120"/>
            <a:ext cx="566928" cy="566928"/>
          </a:xfrm>
          <a:prstGeom prst="ellipse">
            <a:avLst/>
          </a:prstGeom>
          <a:solidFill>
            <a:srgbClr val="2A3470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pic>
        <p:nvPicPr>
          <p:cNvPr id="25" name="Image 3" descr="assets/road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4641" y="4536521"/>
            <a:ext cx="272125" cy="272125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1481328" y="4325112"/>
            <a:ext cx="640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9BC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200" dirty="0"/>
          </a:p>
        </p:txBody>
      </p:sp>
      <p:sp>
        <p:nvSpPr>
          <p:cNvPr id="27" name="Text 21"/>
          <p:cNvSpPr/>
          <p:nvPr/>
        </p:nvSpPr>
        <p:spPr>
          <a:xfrm>
            <a:off x="2148840" y="4334256"/>
            <a:ext cx="3383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Autonomous-driving optionality</a:t>
            </a:r>
            <a:endParaRPr lang="en-US" sz="1450" dirty="0"/>
          </a:p>
        </p:txBody>
      </p:sp>
      <p:sp>
        <p:nvSpPr>
          <p:cNvPr id="28" name="Text 22"/>
          <p:cNvSpPr/>
          <p:nvPr/>
        </p:nvSpPr>
        <p:spPr>
          <a:xfrm>
            <a:off x="5623560" y="4306824"/>
            <a:ext cx="5852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6000"/>
              </a:lnSpc>
              <a:buNone/>
            </a:pPr>
            <a:r>
              <a:rPr lang="en-US" sz="108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MMS, high-precision 3D / HD ('dynamic') maps and Level-4 system integration give exposure to a structurally growing theme — and a credible strategic-exit angle to an OEM or geospatial consolidator.</a:t>
            </a:r>
            <a:endParaRPr lang="en-US" sz="1080" dirty="0"/>
          </a:p>
        </p:txBody>
      </p:sp>
      <p:sp>
        <p:nvSpPr>
          <p:cNvPr id="29" name="Shape 23"/>
          <p:cNvSpPr/>
          <p:nvPr/>
        </p:nvSpPr>
        <p:spPr>
          <a:xfrm>
            <a:off x="548640" y="5148072"/>
            <a:ext cx="11091672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p:spPr>
      </p:sp>
      <p:sp>
        <p:nvSpPr>
          <p:cNvPr id="30" name="Shape 24"/>
          <p:cNvSpPr/>
          <p:nvPr/>
        </p:nvSpPr>
        <p:spPr>
          <a:xfrm>
            <a:off x="777240" y="5321808"/>
            <a:ext cx="566928" cy="566928"/>
          </a:xfrm>
          <a:prstGeom prst="ellipse">
            <a:avLst/>
          </a:prstGeom>
          <a:solidFill>
            <a:srgbClr val="5B6485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pic>
        <p:nvPicPr>
          <p:cNvPr id="31" name="Image 4" descr="assets/user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4641" y="5469209"/>
            <a:ext cx="272125" cy="272125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1481328" y="5257800"/>
            <a:ext cx="640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9BC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2200" dirty="0"/>
          </a:p>
        </p:txBody>
      </p:sp>
      <p:sp>
        <p:nvSpPr>
          <p:cNvPr id="33" name="Text 26"/>
          <p:cNvSpPr/>
          <p:nvPr/>
        </p:nvSpPr>
        <p:spPr>
          <a:xfrm>
            <a:off x="2148840" y="5266944"/>
            <a:ext cx="3383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Potential deal structure</a:t>
            </a:r>
            <a:endParaRPr lang="en-US" sz="1450" dirty="0"/>
          </a:p>
        </p:txBody>
      </p:sp>
      <p:sp>
        <p:nvSpPr>
          <p:cNvPr id="34" name="Text 27"/>
          <p:cNvSpPr/>
          <p:nvPr/>
        </p:nvSpPr>
        <p:spPr>
          <a:xfrm>
            <a:off x="5623560" y="5239512"/>
            <a:ext cx="5852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6000"/>
              </a:lnSpc>
              <a:buNone/>
            </a:pPr>
            <a:r>
              <a:rPr lang="en-US" sz="108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/ related holders ~18.5% (reported) may facilitate an MBO if aligned; willingness &amp; roll-over economics are confirmatory DD items. Low debt and FCF are structurally supportive, but a take-private is DD-gated and not yet actionable.</a:t>
            </a:r>
            <a:endParaRPr lang="en-US" sz="1080" dirty="0"/>
          </a:p>
        </p:txBody>
      </p:sp>
      <p:sp>
        <p:nvSpPr>
          <p:cNvPr id="35" name="Text 28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Measure  ·  Strictly Private &amp; Confidential</a:t>
            </a:r>
            <a:endParaRPr lang="en-US" sz="850" dirty="0"/>
          </a:p>
        </p:txBody>
      </p:sp>
      <p:sp>
        <p:nvSpPr>
          <p:cNvPr id="36" name="Text 29"/>
          <p:cNvSpPr/>
          <p:nvPr/>
        </p:nvSpPr>
        <p:spPr>
          <a:xfrm>
            <a:off x="11338560" y="64556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20624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78992" y="365760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Company Overview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097280" y="914400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55-year-old Nagoya geospatial specialist bridging traditional surveying and autonomous-driving infrastructure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6583680" cy="4617720"/>
          </a:xfrm>
          <a:prstGeom prst="roundRect">
            <a:avLst>
              <a:gd name="adj" fmla="val 1782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591056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THEY ARE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68680" y="1920240"/>
            <a:ext cx="598932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spcAft>
                <a:spcPts val="800"/>
              </a:spcAft>
              <a:buNone/>
            </a:pPr>
            <a:r>
              <a:rPr lang="en-US" sz="116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AISAN TECHNOLOGY (TSE: 4667) is a Nagoya-headquartered software and geospatial-data company founded in 1970, operating through a parent and four subsidiaries.</a:t>
            </a:r>
            <a:endParaRPr lang="en-US" sz="1160" dirty="0"/>
          </a:p>
          <a:p>
            <a:pPr indent="0" marL="0">
              <a:lnSpc>
                <a:spcPct val="102000"/>
              </a:lnSpc>
              <a:spcAft>
                <a:spcPts val="800"/>
              </a:spcAft>
              <a:buNone/>
            </a:pPr>
            <a:r>
              <a:rPr lang="en-US" sz="116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heritage business equips Japan's licensed land &amp; house surveyors and public bodies with surveying / civil-engineering CAD and GIS software — products such as WingEarth, ANIST (point-cloud CAD) and GrandBase.</a:t>
            </a:r>
            <a:endParaRPr lang="en-US" sz="1160" dirty="0"/>
          </a:p>
          <a:p>
            <a:pPr indent="0" marL="0">
              <a:lnSpc>
                <a:spcPct val="102000"/>
              </a:lnSpc>
              <a:spcAft>
                <a:spcPts val="800"/>
              </a:spcAft>
              <a:buNone/>
            </a:pPr>
            <a:r>
              <a:rPr lang="en-US" sz="116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the last decade it has reinvested into mobility: Mobile Mapping Systems, high-precision 3D 'dynamic' maps and integration / proving-ground testing for Level-4 autonomous driving — positioning it as a niche supplier into a fast-growing ecosystem.</a:t>
            </a:r>
            <a:endParaRPr lang="en-US" sz="116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6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is highly seasonal: public projects close around the March fiscal year-end, concentrating sales and profit in Q4 and producing a working-capital cash draw earlier in the year.</a:t>
            </a:r>
            <a:endParaRPr lang="en-US" sz="1160" dirty="0"/>
          </a:p>
        </p:txBody>
      </p:sp>
      <p:sp>
        <p:nvSpPr>
          <p:cNvPr id="8" name="Shape 6"/>
          <p:cNvSpPr/>
          <p:nvPr/>
        </p:nvSpPr>
        <p:spPr>
          <a:xfrm>
            <a:off x="7315200" y="1417320"/>
            <a:ext cx="4325112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589520" y="15727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FACTS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589520" y="1901952"/>
            <a:ext cx="2148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Ticker / market</a:t>
            </a:r>
            <a:endParaRPr lang="en-US" sz="1030" dirty="0"/>
          </a:p>
        </p:txBody>
      </p:sp>
      <p:sp>
        <p:nvSpPr>
          <p:cNvPr id="11" name="Text 9"/>
          <p:cNvSpPr/>
          <p:nvPr/>
        </p:nvSpPr>
        <p:spPr>
          <a:xfrm>
            <a:off x="9646920" y="1901952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3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TSE Standard · 4667</a:t>
            </a:r>
            <a:endParaRPr lang="en-US" sz="1030" dirty="0"/>
          </a:p>
        </p:txBody>
      </p:sp>
      <p:sp>
        <p:nvSpPr>
          <p:cNvPr id="12" name="Text 10"/>
          <p:cNvSpPr/>
          <p:nvPr/>
        </p:nvSpPr>
        <p:spPr>
          <a:xfrm>
            <a:off x="7589520" y="2171700"/>
            <a:ext cx="2148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Shares outstanding</a:t>
            </a:r>
            <a:endParaRPr lang="en-US" sz="1030" dirty="0"/>
          </a:p>
        </p:txBody>
      </p:sp>
      <p:sp>
        <p:nvSpPr>
          <p:cNvPr id="13" name="Text 11"/>
          <p:cNvSpPr/>
          <p:nvPr/>
        </p:nvSpPr>
        <p:spPr>
          <a:xfrm>
            <a:off x="9646920" y="2171700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3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5.55m</a:t>
            </a:r>
            <a:endParaRPr lang="en-US" sz="1030" dirty="0"/>
          </a:p>
        </p:txBody>
      </p:sp>
      <p:sp>
        <p:nvSpPr>
          <p:cNvPr id="14" name="Text 12"/>
          <p:cNvSpPr/>
          <p:nvPr/>
        </p:nvSpPr>
        <p:spPr>
          <a:xfrm>
            <a:off x="7589520" y="2441448"/>
            <a:ext cx="2148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cap (unaffected)</a:t>
            </a:r>
            <a:endParaRPr lang="en-US" sz="1030" dirty="0"/>
          </a:p>
        </p:txBody>
      </p:sp>
      <p:sp>
        <p:nvSpPr>
          <p:cNvPr id="15" name="Text 13"/>
          <p:cNvSpPr/>
          <p:nvPr/>
        </p:nvSpPr>
        <p:spPr>
          <a:xfrm>
            <a:off x="9646920" y="2441448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3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~¥9.3bn</a:t>
            </a:r>
            <a:endParaRPr lang="en-US" sz="1030" dirty="0"/>
          </a:p>
        </p:txBody>
      </p:sp>
      <p:sp>
        <p:nvSpPr>
          <p:cNvPr id="16" name="Text 14"/>
          <p:cNvSpPr/>
          <p:nvPr/>
        </p:nvSpPr>
        <p:spPr>
          <a:xfrm>
            <a:off x="7589520" y="2711196"/>
            <a:ext cx="2148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Fwd P/E · P/B</a:t>
            </a:r>
            <a:endParaRPr lang="en-US" sz="1030" dirty="0"/>
          </a:p>
        </p:txBody>
      </p:sp>
      <p:sp>
        <p:nvSpPr>
          <p:cNvPr id="17" name="Text 15"/>
          <p:cNvSpPr/>
          <p:nvPr/>
        </p:nvSpPr>
        <p:spPr>
          <a:xfrm>
            <a:off x="9646920" y="2711196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3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23.2x · 1.4x</a:t>
            </a:r>
            <a:endParaRPr lang="en-US" sz="1030" dirty="0"/>
          </a:p>
        </p:txBody>
      </p:sp>
      <p:sp>
        <p:nvSpPr>
          <p:cNvPr id="18" name="Text 16"/>
          <p:cNvSpPr/>
          <p:nvPr/>
        </p:nvSpPr>
        <p:spPr>
          <a:xfrm>
            <a:off x="7589520" y="2980944"/>
            <a:ext cx="2148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Dividend yield</a:t>
            </a:r>
            <a:endParaRPr lang="en-US" sz="1030" dirty="0"/>
          </a:p>
        </p:txBody>
      </p:sp>
      <p:sp>
        <p:nvSpPr>
          <p:cNvPr id="19" name="Text 17"/>
          <p:cNvSpPr/>
          <p:nvPr/>
        </p:nvSpPr>
        <p:spPr>
          <a:xfrm>
            <a:off x="9646920" y="2980944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3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~2.1%</a:t>
            </a:r>
            <a:endParaRPr lang="en-US" sz="1030" dirty="0"/>
          </a:p>
        </p:txBody>
      </p:sp>
      <p:sp>
        <p:nvSpPr>
          <p:cNvPr id="20" name="Text 18"/>
          <p:cNvSpPr/>
          <p:nvPr/>
        </p:nvSpPr>
        <p:spPr>
          <a:xfrm>
            <a:off x="7589520" y="3250692"/>
            <a:ext cx="2148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holder</a:t>
            </a:r>
            <a:endParaRPr lang="en-US" sz="1030" dirty="0"/>
          </a:p>
        </p:txBody>
      </p:sp>
      <p:sp>
        <p:nvSpPr>
          <p:cNvPr id="21" name="Text 19"/>
          <p:cNvSpPr/>
          <p:nvPr/>
        </p:nvSpPr>
        <p:spPr>
          <a:xfrm>
            <a:off x="9646920" y="3250692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3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family ~18.5%</a:t>
            </a:r>
            <a:endParaRPr lang="en-US" sz="1030" dirty="0"/>
          </a:p>
        </p:txBody>
      </p:sp>
      <p:sp>
        <p:nvSpPr>
          <p:cNvPr id="22" name="Shape 20"/>
          <p:cNvSpPr/>
          <p:nvPr/>
        </p:nvSpPr>
        <p:spPr>
          <a:xfrm>
            <a:off x="7315200" y="3703320"/>
            <a:ext cx="4325112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589520" y="38404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(¥bn, consolidated)</a:t>
            </a:r>
            <a:endParaRPr lang="en-US" sz="1050" dirty="0"/>
          </a:p>
        </p:txBody>
      </p:sp>
      <p:graphicFrame>
        <p:nvGraphicFramePr>
          <p:cNvPr id="24" name="Chart 0" descr=""/>
          <p:cNvGraphicFramePr/>
          <p:nvPr/>
        </p:nvGraphicFramePr>
        <p:xfrm>
          <a:off x="7498080" y="4160520"/>
          <a:ext cx="3977640" cy="1783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Text 22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Measure  ·  Strictly Private &amp; Confidential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11338560" y="64556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20624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78992" y="365760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Business &amp; Segments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097280" y="914400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engines: a cash-generative software core and a growth-oriented mobility option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5468112" cy="4617720"/>
          </a:xfrm>
          <a:prstGeom prst="roundRect">
            <a:avLst>
              <a:gd name="adj" fmla="val 1782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417320"/>
            <a:ext cx="5468112" cy="841248"/>
          </a:xfrm>
          <a:prstGeom prst="roundRect">
            <a:avLst>
              <a:gd name="adj" fmla="val 9783"/>
            </a:avLst>
          </a:prstGeom>
          <a:solidFill>
            <a:srgbClr val="2E7D52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1874520"/>
            <a:ext cx="5468112" cy="384048"/>
          </a:xfrm>
          <a:prstGeom prst="rect">
            <a:avLst/>
          </a:prstGeom>
          <a:solidFill>
            <a:srgbClr val="2E7D52"/>
          </a:solidFill>
          <a:ln/>
        </p:spPr>
      </p:sp>
      <p:sp>
        <p:nvSpPr>
          <p:cNvPr id="8" name="Shape 6"/>
          <p:cNvSpPr/>
          <p:nvPr/>
        </p:nvSpPr>
        <p:spPr>
          <a:xfrm>
            <a:off x="777240" y="1581912"/>
            <a:ext cx="512064" cy="512064"/>
          </a:xfrm>
          <a:prstGeom prst="ellipse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pic>
        <p:nvPicPr>
          <p:cNvPr id="9" name="Image 0" descr="assets/satellite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0377" y="1715049"/>
            <a:ext cx="245791" cy="245791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417320" y="154533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PUBLIC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1417320" y="18745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Surveying &amp; civil-engineering software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4507992" y="170992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COW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868680" y="2496312"/>
            <a:ext cx="48737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  </a:t>
            </a:r>
            <a:pPr indent="0" marL="0">
              <a:lnSpc>
                <a:spcPct val="98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Licensed land/house surveyors &amp; government bodies</a:t>
            </a:r>
            <a:endParaRPr lang="en-US" sz="1100" dirty="0"/>
          </a:p>
          <a:p>
            <a:pPr indent="0" marL="0">
              <a:lnSpc>
                <a:spcPct val="98000"/>
              </a:lnSpc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  </a:t>
            </a:r>
            <a:pPr indent="0" marL="0">
              <a:lnSpc>
                <a:spcPct val="98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WingEarth · ANIST (point-cloud CAD) · GrandBase</a:t>
            </a:r>
            <a:endParaRPr lang="en-US" sz="1100" dirty="0"/>
          </a:p>
          <a:p>
            <a:pPr indent="0" marL="0">
              <a:lnSpc>
                <a:spcPct val="98000"/>
              </a:lnSpc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Economics   </a:t>
            </a:r>
            <a:pPr indent="0" marL="0">
              <a:lnSpc>
                <a:spcPct val="98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Recurring, sticky, ~26% segment margin (H1 FY26)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68680" y="41148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DRIVERS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68680" y="4416552"/>
            <a:ext cx="2194560" cy="365760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/>
        </p:spPr>
      </p:sp>
      <p:sp>
        <p:nvSpPr>
          <p:cNvPr id="16" name="Text 13"/>
          <p:cNvSpPr/>
          <p:nvPr/>
        </p:nvSpPr>
        <p:spPr>
          <a:xfrm>
            <a:off x="868680" y="441655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i-Construction 2.0</a:t>
            </a:r>
            <a:endParaRPr lang="en-US" sz="980" dirty="0"/>
          </a:p>
        </p:txBody>
      </p:sp>
      <p:sp>
        <p:nvSpPr>
          <p:cNvPr id="17" name="Shape 14"/>
          <p:cNvSpPr/>
          <p:nvPr/>
        </p:nvSpPr>
        <p:spPr>
          <a:xfrm>
            <a:off x="3200400" y="4416552"/>
            <a:ext cx="2194560" cy="365760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/>
        </p:spPr>
      </p:sp>
      <p:sp>
        <p:nvSpPr>
          <p:cNvPr id="18" name="Text 15"/>
          <p:cNvSpPr/>
          <p:nvPr/>
        </p:nvSpPr>
        <p:spPr>
          <a:xfrm>
            <a:off x="3200400" y="441655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Surveyor labour shortage</a:t>
            </a:r>
            <a:endParaRPr lang="en-US" sz="980" dirty="0"/>
          </a:p>
        </p:txBody>
      </p:sp>
      <p:sp>
        <p:nvSpPr>
          <p:cNvPr id="19" name="Shape 16"/>
          <p:cNvSpPr/>
          <p:nvPr/>
        </p:nvSpPr>
        <p:spPr>
          <a:xfrm>
            <a:off x="868680" y="4873752"/>
            <a:ext cx="2194560" cy="365760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/>
        </p:spPr>
      </p:sp>
      <p:sp>
        <p:nvSpPr>
          <p:cNvPr id="20" name="Text 17"/>
          <p:cNvSpPr/>
          <p:nvPr/>
        </p:nvSpPr>
        <p:spPr>
          <a:xfrm>
            <a:off x="868680" y="487375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3D / PLATEAU</a:t>
            </a:r>
            <a:endParaRPr lang="en-US" sz="980" dirty="0"/>
          </a:p>
        </p:txBody>
      </p:sp>
      <p:sp>
        <p:nvSpPr>
          <p:cNvPr id="21" name="Shape 18"/>
          <p:cNvSpPr/>
          <p:nvPr/>
        </p:nvSpPr>
        <p:spPr>
          <a:xfrm>
            <a:off x="3200400" y="4873752"/>
            <a:ext cx="2194560" cy="365760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/>
        </p:spPr>
      </p:sp>
      <p:sp>
        <p:nvSpPr>
          <p:cNvPr id="22" name="Text 19"/>
          <p:cNvSpPr/>
          <p:nvPr/>
        </p:nvSpPr>
        <p:spPr>
          <a:xfrm>
            <a:off x="3200400" y="487375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Disaster resilience</a:t>
            </a:r>
            <a:endParaRPr lang="en-US" sz="980" dirty="0"/>
          </a:p>
        </p:txBody>
      </p:sp>
      <p:sp>
        <p:nvSpPr>
          <p:cNvPr id="23" name="Text 20"/>
          <p:cNvSpPr/>
          <p:nvPr/>
        </p:nvSpPr>
        <p:spPr>
          <a:xfrm>
            <a:off x="868680" y="5440680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Stable, public-budget-linked — the segment funds the investment thesis and provides downside protection.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172200" y="1417320"/>
            <a:ext cx="5468112" cy="4617720"/>
          </a:xfrm>
          <a:prstGeom prst="roundRect">
            <a:avLst>
              <a:gd name="adj" fmla="val 1782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6172200" y="1417320"/>
            <a:ext cx="5468112" cy="841248"/>
          </a:xfrm>
          <a:prstGeom prst="roundRect">
            <a:avLst>
              <a:gd name="adj" fmla="val 9783"/>
            </a:avLst>
          </a:prstGeom>
          <a:solidFill>
            <a:srgbClr val="1E2761"/>
          </a:solidFill>
          <a:ln/>
        </p:spPr>
      </p:sp>
      <p:sp>
        <p:nvSpPr>
          <p:cNvPr id="26" name="Shape 23"/>
          <p:cNvSpPr/>
          <p:nvPr/>
        </p:nvSpPr>
        <p:spPr>
          <a:xfrm>
            <a:off x="6172200" y="1874520"/>
            <a:ext cx="5468112" cy="38404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7" name="Shape 24"/>
          <p:cNvSpPr/>
          <p:nvPr/>
        </p:nvSpPr>
        <p:spPr>
          <a:xfrm>
            <a:off x="6400800" y="1581912"/>
            <a:ext cx="512064" cy="512064"/>
          </a:xfrm>
          <a:prstGeom prst="ellipse">
            <a:avLst/>
          </a:prstGeom>
          <a:solidFill>
            <a:srgbClr val="C8A951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pic>
        <p:nvPicPr>
          <p:cNvPr id="28" name="Image 1" descr="assets/car_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3937" y="1715049"/>
            <a:ext cx="245791" cy="245791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7040880" y="1545336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MOBILITY / DX</a:t>
            </a:r>
            <a:endParaRPr lang="en-US" sz="1700" dirty="0"/>
          </a:p>
        </p:txBody>
      </p:sp>
      <p:sp>
        <p:nvSpPr>
          <p:cNvPr id="30" name="Text 26"/>
          <p:cNvSpPr/>
          <p:nvPr/>
        </p:nvSpPr>
        <p:spPr>
          <a:xfrm>
            <a:off x="7040880" y="18745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 maps &amp; autonomous-driving systems</a:t>
            </a:r>
            <a:endParaRPr lang="en-US" sz="1000" dirty="0"/>
          </a:p>
        </p:txBody>
      </p:sp>
      <p:sp>
        <p:nvSpPr>
          <p:cNvPr id="31" name="Text 27"/>
          <p:cNvSpPr/>
          <p:nvPr/>
        </p:nvSpPr>
        <p:spPr>
          <a:xfrm>
            <a:off x="10131552" y="170992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0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950" dirty="0"/>
          </a:p>
        </p:txBody>
      </p:sp>
      <p:sp>
        <p:nvSpPr>
          <p:cNvPr id="32" name="Text 28"/>
          <p:cNvSpPr/>
          <p:nvPr/>
        </p:nvSpPr>
        <p:spPr>
          <a:xfrm>
            <a:off x="6492240" y="2496312"/>
            <a:ext cx="48737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Offering   </a:t>
            </a:r>
            <a:pPr indent="0" marL="0">
              <a:lnSpc>
                <a:spcPct val="98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Mapping (MMS), high-precision 3D / dynamic maps</a:t>
            </a:r>
            <a:endParaRPr lang="en-US" sz="1100" dirty="0"/>
          </a:p>
          <a:p>
            <a:pPr indent="0" marL="0">
              <a:lnSpc>
                <a:spcPct val="98000"/>
              </a:lnSpc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  </a:t>
            </a:r>
            <a:pPr indent="0" marL="0">
              <a:lnSpc>
                <a:spcPct val="98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Level-4 system integration, proving-ground tests, drones</a:t>
            </a:r>
            <a:endParaRPr lang="en-US" sz="1100" dirty="0"/>
          </a:p>
          <a:p>
            <a:pPr indent="0" marL="0">
              <a:lnSpc>
                <a:spcPct val="98000"/>
              </a:lnSpc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Economics   </a:t>
            </a:r>
            <a:pPr indent="0" marL="0">
              <a:lnSpc>
                <a:spcPct val="98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Lumpy, Q4-weighted, currently low / negative margin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6492240" y="41148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BACKDROP</a:t>
            </a:r>
            <a:endParaRPr lang="en-US" sz="950" dirty="0"/>
          </a:p>
        </p:txBody>
      </p:sp>
      <p:sp>
        <p:nvSpPr>
          <p:cNvPr id="34" name="Shape 30"/>
          <p:cNvSpPr/>
          <p:nvPr/>
        </p:nvSpPr>
        <p:spPr>
          <a:xfrm>
            <a:off x="6492240" y="4416552"/>
            <a:ext cx="2194560" cy="365760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/>
        </p:spPr>
      </p:sp>
      <p:sp>
        <p:nvSpPr>
          <p:cNvPr id="35" name="Text 31"/>
          <p:cNvSpPr/>
          <p:nvPr/>
        </p:nvSpPr>
        <p:spPr>
          <a:xfrm>
            <a:off x="6492240" y="441655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Level-4 legalised (2023)</a:t>
            </a:r>
            <a:endParaRPr lang="en-US" sz="980" dirty="0"/>
          </a:p>
        </p:txBody>
      </p:sp>
      <p:sp>
        <p:nvSpPr>
          <p:cNvPr id="36" name="Shape 32"/>
          <p:cNvSpPr/>
          <p:nvPr/>
        </p:nvSpPr>
        <p:spPr>
          <a:xfrm>
            <a:off x="8823960" y="4416552"/>
            <a:ext cx="2194560" cy="365760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/>
        </p:spPr>
      </p:sp>
      <p:sp>
        <p:nvSpPr>
          <p:cNvPr id="37" name="Text 33"/>
          <p:cNvSpPr/>
          <p:nvPr/>
        </p:nvSpPr>
        <p:spPr>
          <a:xfrm>
            <a:off x="8823960" y="441655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Robotaxi / bus pilots</a:t>
            </a:r>
            <a:endParaRPr lang="en-US" sz="980" dirty="0"/>
          </a:p>
        </p:txBody>
      </p:sp>
      <p:sp>
        <p:nvSpPr>
          <p:cNvPr id="38" name="Shape 34"/>
          <p:cNvSpPr/>
          <p:nvPr/>
        </p:nvSpPr>
        <p:spPr>
          <a:xfrm>
            <a:off x="6492240" y="4873752"/>
            <a:ext cx="2194560" cy="365760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/>
        </p:spPr>
      </p:sp>
      <p:sp>
        <p:nvSpPr>
          <p:cNvPr id="39" name="Text 35"/>
          <p:cNvSpPr/>
          <p:nvPr/>
        </p:nvSpPr>
        <p:spPr>
          <a:xfrm>
            <a:off x="6492240" y="487375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Logistics automation</a:t>
            </a:r>
            <a:endParaRPr lang="en-US" sz="980" dirty="0"/>
          </a:p>
        </p:txBody>
      </p:sp>
      <p:sp>
        <p:nvSpPr>
          <p:cNvPr id="40" name="Shape 36"/>
          <p:cNvSpPr/>
          <p:nvPr/>
        </p:nvSpPr>
        <p:spPr>
          <a:xfrm>
            <a:off x="8823960" y="4873752"/>
            <a:ext cx="2194560" cy="365760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/>
        </p:spPr>
      </p:sp>
      <p:sp>
        <p:nvSpPr>
          <p:cNvPr id="41" name="Text 37"/>
          <p:cNvSpPr/>
          <p:nvPr/>
        </p:nvSpPr>
        <p:spPr>
          <a:xfrm>
            <a:off x="8823960" y="487375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Drone / delivery</a:t>
            </a:r>
            <a:endParaRPr lang="en-US" sz="980" dirty="0"/>
          </a:p>
        </p:txBody>
      </p:sp>
      <p:sp>
        <p:nvSpPr>
          <p:cNvPr id="42" name="Text 38"/>
          <p:cNvSpPr/>
          <p:nvPr/>
        </p:nvSpPr>
        <p:spPr>
          <a:xfrm>
            <a:off x="6492240" y="5440680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Early-stage and capital-hungry — the value-up plan rationalises losses while preserving strategic-exit optionality.</a:t>
            </a:r>
            <a:endParaRPr lang="en-US" sz="1000" dirty="0"/>
          </a:p>
        </p:txBody>
      </p:sp>
      <p:sp>
        <p:nvSpPr>
          <p:cNvPr id="43" name="Text 39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Measure  ·  Strictly Private &amp; Confidential</a:t>
            </a:r>
            <a:endParaRPr lang="en-US" sz="850" dirty="0"/>
          </a:p>
        </p:txBody>
      </p:sp>
      <p:sp>
        <p:nvSpPr>
          <p:cNvPr id="44" name="Text 40"/>
          <p:cNvSpPr/>
          <p:nvPr/>
        </p:nvSpPr>
        <p:spPr>
          <a:xfrm>
            <a:off x="11338560" y="64556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20624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78992" y="365760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Industry &amp; Market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097280" y="914400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supportive structural backdrops — one stable and policy-driven, one high-growth and nascent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① Surveying · Civil engineering · GIS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172200" y="1371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② High-definition maps · Autonomous driving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5468112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2139696"/>
            <a:ext cx="658368" cy="658368"/>
          </a:xfrm>
          <a:prstGeom prst="ellipse">
            <a:avLst/>
          </a:prstGeom>
          <a:solidFill>
            <a:srgbClr val="2E7D52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pic>
        <p:nvPicPr>
          <p:cNvPr id="9" name="Image 0" descr="assets/industry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8416" y="2310872"/>
            <a:ext cx="316017" cy="316017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645920" y="20116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i-Construction 2.0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645920" y="2377440"/>
            <a:ext cx="4251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05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MLIT's construction-DX programme mandates 3D data across the public works lifecycle.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48640" y="3246120"/>
            <a:ext cx="5468112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777240" y="3557016"/>
            <a:ext cx="658368" cy="658368"/>
          </a:xfrm>
          <a:prstGeom prst="ellipse">
            <a:avLst/>
          </a:prstGeom>
          <a:solidFill>
            <a:srgbClr val="2E7D52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pic>
        <p:nvPicPr>
          <p:cNvPr id="14" name="Image 1" descr="assets/user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416" y="3728192"/>
            <a:ext cx="316017" cy="316017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645920" y="34290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Labour shortage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1645920" y="3794760"/>
            <a:ext cx="4251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05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ageing, shrinking pool of licensed surveyors forces automation and software adoption.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548640" y="4663440"/>
            <a:ext cx="5468112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777240" y="4974336"/>
            <a:ext cx="658368" cy="658368"/>
          </a:xfrm>
          <a:prstGeom prst="ellipse">
            <a:avLst/>
          </a:prstGeom>
          <a:solidFill>
            <a:srgbClr val="2E7D52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pic>
        <p:nvPicPr>
          <p:cNvPr id="19" name="Image 2" descr="assets/city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416" y="5145512"/>
            <a:ext cx="316017" cy="316017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645920" y="48463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PLATEAU &amp; national 3D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1645920" y="5212080"/>
            <a:ext cx="4251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05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3D city-model and digital-twin initiatives expand the addressable data market.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6172200" y="1828800"/>
            <a:ext cx="5468112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400800" y="2139696"/>
            <a:ext cx="658368" cy="658368"/>
          </a:xfrm>
          <a:prstGeom prst="ellipse">
            <a:avLst/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pic>
        <p:nvPicPr>
          <p:cNvPr id="24" name="Image 3" descr="assets/road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1976" y="2310872"/>
            <a:ext cx="316017" cy="316017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269480" y="20116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Level-4 legalised</a:t>
            </a:r>
            <a:endParaRPr lang="en-US" sz="1300" dirty="0"/>
          </a:p>
        </p:txBody>
      </p:sp>
      <p:sp>
        <p:nvSpPr>
          <p:cNvPr id="26" name="Text 20"/>
          <p:cNvSpPr/>
          <p:nvPr/>
        </p:nvSpPr>
        <p:spPr>
          <a:xfrm>
            <a:off x="7269480" y="2377440"/>
            <a:ext cx="4251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05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 legal framework enables driverless operation; pilots scaling in transport &amp; logistics.</a:t>
            </a:r>
            <a:endParaRPr lang="en-US" sz="1050" dirty="0"/>
          </a:p>
        </p:txBody>
      </p:sp>
      <p:sp>
        <p:nvSpPr>
          <p:cNvPr id="27" name="Shape 21"/>
          <p:cNvSpPr/>
          <p:nvPr/>
        </p:nvSpPr>
        <p:spPr>
          <a:xfrm>
            <a:off x="6172200" y="3246120"/>
            <a:ext cx="5468112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0" y="3557016"/>
            <a:ext cx="658368" cy="658368"/>
          </a:xfrm>
          <a:prstGeom prst="ellipse">
            <a:avLst/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pic>
        <p:nvPicPr>
          <p:cNvPr id="29" name="Image 4" descr="assets/map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1976" y="3728192"/>
            <a:ext cx="316017" cy="316017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7269480" y="34290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HD-map demand</a:t>
            </a:r>
            <a:endParaRPr lang="en-US" sz="1300" dirty="0"/>
          </a:p>
        </p:txBody>
      </p:sp>
      <p:sp>
        <p:nvSpPr>
          <p:cNvPr id="31" name="Text 24"/>
          <p:cNvSpPr/>
          <p:nvPr/>
        </p:nvSpPr>
        <p:spPr>
          <a:xfrm>
            <a:off x="7269480" y="3794760"/>
            <a:ext cx="4251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05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fleets require continuously-maintained high-precision maps — a recurring data need.</a:t>
            </a:r>
            <a:endParaRPr lang="en-US" sz="1050" dirty="0"/>
          </a:p>
        </p:txBody>
      </p:sp>
      <p:sp>
        <p:nvSpPr>
          <p:cNvPr id="32" name="Shape 25"/>
          <p:cNvSpPr/>
          <p:nvPr/>
        </p:nvSpPr>
        <p:spPr>
          <a:xfrm>
            <a:off x="6172200" y="4663440"/>
            <a:ext cx="5468112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p:spPr>
      </p:sp>
      <p:sp>
        <p:nvSpPr>
          <p:cNvPr id="33" name="Shape 26"/>
          <p:cNvSpPr/>
          <p:nvPr/>
        </p:nvSpPr>
        <p:spPr>
          <a:xfrm>
            <a:off x="6400800" y="4974336"/>
            <a:ext cx="658368" cy="658368"/>
          </a:xfrm>
          <a:prstGeom prst="ellipse">
            <a:avLst/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pic>
        <p:nvPicPr>
          <p:cNvPr id="34" name="Image 5" descr="assets/handshake_whi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71976" y="5145512"/>
            <a:ext cx="316017" cy="316017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7269480" y="48463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Consolidation angle</a:t>
            </a:r>
            <a:endParaRPr lang="en-US" sz="1300" dirty="0"/>
          </a:p>
        </p:txBody>
      </p:sp>
      <p:sp>
        <p:nvSpPr>
          <p:cNvPr id="36" name="Text 28"/>
          <p:cNvSpPr/>
          <p:nvPr/>
        </p:nvSpPr>
        <p:spPr>
          <a:xfrm>
            <a:off x="7269480" y="5212080"/>
            <a:ext cx="4251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05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concentrated HD-map landscape (e.g. Dynamic Map Platform) creates strategic-buyer interest.</a:t>
            </a:r>
            <a:endParaRPr lang="en-US" sz="1050" dirty="0"/>
          </a:p>
        </p:txBody>
      </p:sp>
      <p:sp>
        <p:nvSpPr>
          <p:cNvPr id="37" name="Shape 29"/>
          <p:cNvSpPr/>
          <p:nvPr/>
        </p:nvSpPr>
        <p:spPr>
          <a:xfrm>
            <a:off x="548640" y="6144768"/>
            <a:ext cx="11091672" cy="0"/>
          </a:xfrm>
          <a:prstGeom prst="roundRect">
            <a:avLst/>
          </a:prstGeom>
          <a:solidFill>
            <a:srgbClr val="1E2761"/>
          </a:solidFill>
          <a:ln/>
        </p:spPr>
      </p:sp>
      <p:sp>
        <p:nvSpPr>
          <p:cNvPr id="38" name="Text 30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Measure  ·  Strictly Private &amp; Confidential</a:t>
            </a:r>
            <a:endParaRPr lang="en-US" sz="850" dirty="0"/>
          </a:p>
        </p:txBody>
      </p:sp>
      <p:sp>
        <p:nvSpPr>
          <p:cNvPr id="39" name="Text 31"/>
          <p:cNvSpPr/>
          <p:nvPr/>
        </p:nvSpPr>
        <p:spPr>
          <a:xfrm>
            <a:off x="11338560" y="64556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20624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78992" y="365760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Financial Track Record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097280" y="914400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Steady top-line growth and a structurally light balance sheet; profitability is the lever, not the revenue line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6583680" cy="4617720"/>
          </a:xfrm>
          <a:prstGeom prst="roundRect">
            <a:avLst>
              <a:gd name="adj" fmla="val 1782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591056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&amp; OPERATING PROFIT (¥mm)</a:t>
            </a:r>
            <a:endParaRPr lang="en-US" sz="10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640080" y="1965960"/>
          <a:ext cx="6355080" cy="2788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868680" y="4892040"/>
            <a:ext cx="5989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compounded at ~8.6% over FY17–FY25; FY26E guidance ¥7.2bn (+16%). Operating margin has held in a ~7–8% band — well below the software core's potential.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7315200" y="1417320"/>
            <a:ext cx="2103120" cy="1078992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0" y="1417320"/>
            <a:ext cx="82296" cy="1078992"/>
          </a:xfrm>
          <a:prstGeom prst="roundRect">
            <a:avLst>
              <a:gd name="adj" fmla="val 66667"/>
            </a:avLst>
          </a:prstGeom>
          <a:solidFill>
            <a:srgbClr val="2E7D52"/>
          </a:solidFill>
          <a:ln/>
        </p:spPr>
      </p:sp>
      <p:sp>
        <p:nvSpPr>
          <p:cNvPr id="11" name="Text 8"/>
          <p:cNvSpPr/>
          <p:nvPr/>
        </p:nvSpPr>
        <p:spPr>
          <a:xfrm>
            <a:off x="7516368" y="153619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spc="50" kern="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FY26E REVENUE</a:t>
            </a:r>
            <a:endParaRPr lang="en-US" sz="830" dirty="0"/>
          </a:p>
        </p:txBody>
      </p:sp>
      <p:sp>
        <p:nvSpPr>
          <p:cNvPr id="12" name="Text 9"/>
          <p:cNvSpPr/>
          <p:nvPr/>
        </p:nvSpPr>
        <p:spPr>
          <a:xfrm>
            <a:off x="7498080" y="1764792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¥7.20bn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516368" y="21762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+16% YoY</a:t>
            </a:r>
            <a:endParaRPr lang="en-US" sz="880" dirty="0"/>
          </a:p>
        </p:txBody>
      </p:sp>
      <p:sp>
        <p:nvSpPr>
          <p:cNvPr id="14" name="Shape 11"/>
          <p:cNvSpPr/>
          <p:nvPr/>
        </p:nvSpPr>
        <p:spPr>
          <a:xfrm>
            <a:off x="9537192" y="1417320"/>
            <a:ext cx="2103120" cy="1078992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9537192" y="1417320"/>
            <a:ext cx="82296" cy="1078992"/>
          </a:xfrm>
          <a:prstGeom prst="roundRect">
            <a:avLst>
              <a:gd name="adj" fmla="val 66667"/>
            </a:avLst>
          </a:prstGeom>
          <a:solidFill>
            <a:srgbClr val="1E2761"/>
          </a:solidFill>
          <a:ln/>
        </p:spPr>
      </p:sp>
      <p:sp>
        <p:nvSpPr>
          <p:cNvPr id="16" name="Text 13"/>
          <p:cNvSpPr/>
          <p:nvPr/>
        </p:nvSpPr>
        <p:spPr>
          <a:xfrm>
            <a:off x="9738360" y="153619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spc="50" kern="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FY26E OP. PROFIT</a:t>
            </a:r>
            <a:endParaRPr lang="en-US" sz="830" dirty="0"/>
          </a:p>
        </p:txBody>
      </p:sp>
      <p:sp>
        <p:nvSpPr>
          <p:cNvPr id="17" name="Text 14"/>
          <p:cNvSpPr/>
          <p:nvPr/>
        </p:nvSpPr>
        <p:spPr>
          <a:xfrm>
            <a:off x="9720072" y="1764792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¥600m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9738360" y="21762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8.3% margin</a:t>
            </a:r>
            <a:endParaRPr lang="en-US" sz="880" dirty="0"/>
          </a:p>
        </p:txBody>
      </p:sp>
      <p:sp>
        <p:nvSpPr>
          <p:cNvPr id="19" name="Shape 16"/>
          <p:cNvSpPr/>
          <p:nvPr/>
        </p:nvSpPr>
        <p:spPr>
          <a:xfrm>
            <a:off x="7315200" y="2642616"/>
            <a:ext cx="2103120" cy="1078992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7315200" y="2642616"/>
            <a:ext cx="82296" cy="1078992"/>
          </a:xfrm>
          <a:prstGeom prst="roundRect">
            <a:avLst>
              <a:gd name="adj" fmla="val 66667"/>
            </a:avLst>
          </a:prstGeom>
          <a:solidFill>
            <a:srgbClr val="C8A951"/>
          </a:solidFill>
          <a:ln/>
        </p:spPr>
      </p:sp>
      <p:sp>
        <p:nvSpPr>
          <p:cNvPr id="21" name="Text 18"/>
          <p:cNvSpPr/>
          <p:nvPr/>
        </p:nvSpPr>
        <p:spPr>
          <a:xfrm>
            <a:off x="7516368" y="276148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spc="50" kern="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FY25A NET CASH</a:t>
            </a:r>
            <a:endParaRPr lang="en-US" sz="830" dirty="0"/>
          </a:p>
        </p:txBody>
      </p:sp>
      <p:sp>
        <p:nvSpPr>
          <p:cNvPr id="22" name="Text 19"/>
          <p:cNvSpPr/>
          <p:nvPr/>
        </p:nvSpPr>
        <p:spPr>
          <a:xfrm>
            <a:off x="7498080" y="299008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¥4.13bn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7516368" y="34015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71.8% equity ratio</a:t>
            </a:r>
            <a:endParaRPr lang="en-US" sz="880" dirty="0"/>
          </a:p>
        </p:txBody>
      </p:sp>
      <p:sp>
        <p:nvSpPr>
          <p:cNvPr id="24" name="Shape 21"/>
          <p:cNvSpPr/>
          <p:nvPr/>
        </p:nvSpPr>
        <p:spPr>
          <a:xfrm>
            <a:off x="9537192" y="2642616"/>
            <a:ext cx="2103120" cy="1078992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9537192" y="2642616"/>
            <a:ext cx="82296" cy="1078992"/>
          </a:xfrm>
          <a:prstGeom prst="roundRect">
            <a:avLst>
              <a:gd name="adj" fmla="val 66667"/>
            </a:avLst>
          </a:prstGeom>
          <a:solidFill>
            <a:srgbClr val="1E2761"/>
          </a:solidFill>
          <a:ln/>
        </p:spPr>
      </p:sp>
      <p:sp>
        <p:nvSpPr>
          <p:cNvPr id="26" name="Text 23"/>
          <p:cNvSpPr/>
          <p:nvPr/>
        </p:nvSpPr>
        <p:spPr>
          <a:xfrm>
            <a:off x="9738360" y="276148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spc="50" kern="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INTEREST-BEARING DEBT</a:t>
            </a:r>
            <a:endParaRPr lang="en-US" sz="830" dirty="0"/>
          </a:p>
        </p:txBody>
      </p:sp>
      <p:sp>
        <p:nvSpPr>
          <p:cNvPr id="27" name="Text 24"/>
          <p:cNvSpPr/>
          <p:nvPr/>
        </p:nvSpPr>
        <p:spPr>
          <a:xfrm>
            <a:off x="9720072" y="299008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~¥0.05bn</a:t>
            </a:r>
            <a:endParaRPr lang="en-US" sz="2000" dirty="0"/>
          </a:p>
        </p:txBody>
      </p:sp>
      <p:sp>
        <p:nvSpPr>
          <p:cNvPr id="28" name="Text 25"/>
          <p:cNvSpPr/>
          <p:nvPr/>
        </p:nvSpPr>
        <p:spPr>
          <a:xfrm>
            <a:off x="9738360" y="34015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effectively unlevered</a:t>
            </a:r>
            <a:endParaRPr lang="en-US" sz="880" dirty="0"/>
          </a:p>
        </p:txBody>
      </p:sp>
      <p:sp>
        <p:nvSpPr>
          <p:cNvPr id="29" name="Shape 26"/>
          <p:cNvSpPr/>
          <p:nvPr/>
        </p:nvSpPr>
        <p:spPr>
          <a:xfrm>
            <a:off x="7315200" y="3867912"/>
            <a:ext cx="2103120" cy="1078992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7315200" y="3867912"/>
            <a:ext cx="82296" cy="1078992"/>
          </a:xfrm>
          <a:prstGeom prst="roundRect">
            <a:avLst>
              <a:gd name="adj" fmla="val 66667"/>
            </a:avLst>
          </a:prstGeom>
          <a:solidFill>
            <a:srgbClr val="1E2761"/>
          </a:solidFill>
          <a:ln/>
        </p:spPr>
      </p:sp>
      <p:sp>
        <p:nvSpPr>
          <p:cNvPr id="31" name="Text 28"/>
          <p:cNvSpPr/>
          <p:nvPr/>
        </p:nvSpPr>
        <p:spPr>
          <a:xfrm>
            <a:off x="7516368" y="398678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spc="50" kern="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FY26E EPS</a:t>
            </a:r>
            <a:endParaRPr lang="en-US" sz="830" dirty="0"/>
          </a:p>
        </p:txBody>
      </p:sp>
      <p:sp>
        <p:nvSpPr>
          <p:cNvPr id="32" name="Text 29"/>
          <p:cNvSpPr/>
          <p:nvPr/>
        </p:nvSpPr>
        <p:spPr>
          <a:xfrm>
            <a:off x="7498080" y="421538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¥68.8</a:t>
            </a:r>
            <a:endParaRPr lang="en-US" sz="2000" dirty="0"/>
          </a:p>
        </p:txBody>
      </p:sp>
      <p:sp>
        <p:nvSpPr>
          <p:cNvPr id="33" name="Text 30"/>
          <p:cNvSpPr/>
          <p:nvPr/>
        </p:nvSpPr>
        <p:spPr>
          <a:xfrm>
            <a:off x="7516368" y="462686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fwd P/E 23.2x</a:t>
            </a:r>
            <a:endParaRPr lang="en-US" sz="880" dirty="0"/>
          </a:p>
        </p:txBody>
      </p:sp>
      <p:sp>
        <p:nvSpPr>
          <p:cNvPr id="34" name="Shape 31"/>
          <p:cNvSpPr/>
          <p:nvPr/>
        </p:nvSpPr>
        <p:spPr>
          <a:xfrm>
            <a:off x="9537192" y="3867912"/>
            <a:ext cx="2103120" cy="1078992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p:spPr>
      </p:sp>
      <p:sp>
        <p:nvSpPr>
          <p:cNvPr id="35" name="Shape 32"/>
          <p:cNvSpPr/>
          <p:nvPr/>
        </p:nvSpPr>
        <p:spPr>
          <a:xfrm>
            <a:off x="9537192" y="3867912"/>
            <a:ext cx="82296" cy="1078992"/>
          </a:xfrm>
          <a:prstGeom prst="roundRect">
            <a:avLst>
              <a:gd name="adj" fmla="val 66667"/>
            </a:avLst>
          </a:prstGeom>
          <a:solidFill>
            <a:srgbClr val="2E7D52"/>
          </a:solidFill>
          <a:ln/>
        </p:spPr>
      </p:sp>
      <p:sp>
        <p:nvSpPr>
          <p:cNvPr id="36" name="Text 33"/>
          <p:cNvSpPr/>
          <p:nvPr/>
        </p:nvSpPr>
        <p:spPr>
          <a:xfrm>
            <a:off x="9738360" y="398678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spc="50" kern="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</a:t>
            </a:r>
            <a:endParaRPr lang="en-US" sz="830" dirty="0"/>
          </a:p>
        </p:txBody>
      </p:sp>
      <p:sp>
        <p:nvSpPr>
          <p:cNvPr id="37" name="Text 34"/>
          <p:cNvSpPr/>
          <p:nvPr/>
        </p:nvSpPr>
        <p:spPr>
          <a:xfrm>
            <a:off x="9720072" y="421538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~¥0.16bn/yr</a:t>
            </a:r>
            <a:endParaRPr lang="en-US" sz="2000" dirty="0"/>
          </a:p>
        </p:txBody>
      </p:sp>
      <p:sp>
        <p:nvSpPr>
          <p:cNvPr id="38" name="Text 35"/>
          <p:cNvSpPr/>
          <p:nvPr/>
        </p:nvSpPr>
        <p:spPr>
          <a:xfrm>
            <a:off x="9738360" y="462686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asset-light model</a:t>
            </a:r>
            <a:endParaRPr lang="en-US" sz="880" dirty="0"/>
          </a:p>
        </p:txBody>
      </p:sp>
      <p:sp>
        <p:nvSpPr>
          <p:cNvPr id="39" name="Text 36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Measure  ·  Strictly Private &amp; Confidential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11338560" y="64556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20624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78992" y="365760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Take-Private Feasibility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097280" y="914400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Concentrated ownership and low leverage make a take-private structurally feasible — but only DD-gated, post-investigation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5029200" cy="4617720"/>
          </a:xfrm>
          <a:prstGeom prst="roundRect">
            <a:avLst>
              <a:gd name="adj" fmla="val 1782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59105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 &amp; PREMIUM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" y="1965960"/>
            <a:ext cx="4389120" cy="786384"/>
          </a:xfrm>
          <a:prstGeom prst="roundRect">
            <a:avLst>
              <a:gd name="adj" fmla="val 8140"/>
            </a:avLst>
          </a:prstGeom>
          <a:solidFill>
            <a:srgbClr val="F4F6FB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205740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price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97280" y="236829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fraud-hit; re-base needed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291840" y="211226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¥1,675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868680" y="2871216"/>
            <a:ext cx="4389120" cy="786384"/>
          </a:xfrm>
          <a:prstGeom prst="roundRect">
            <a:avLst>
              <a:gd name="adj" fmla="val 8140"/>
            </a:avLst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296265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Indicative offer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97280" y="327355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+37% premium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291840" y="30175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¥2,295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868680" y="3776472"/>
            <a:ext cx="4389120" cy="786384"/>
          </a:xfrm>
          <a:prstGeom prst="roundRect">
            <a:avLst>
              <a:gd name="adj" fmla="val 8140"/>
            </a:avLst>
          </a:prstGeom>
          <a:solidFill>
            <a:srgbClr val="F4F6FB"/>
          </a:solidFill>
          <a:ln/>
        </p:spPr>
      </p:sp>
      <p:sp>
        <p:nvSpPr>
          <p:cNvPr id="16" name="Text 14"/>
          <p:cNvSpPr/>
          <p:nvPr/>
        </p:nvSpPr>
        <p:spPr>
          <a:xfrm>
            <a:off x="1097280" y="386791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 value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97280" y="41788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diluted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291840" y="3922776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¥12.7bn</a:t>
            </a:r>
            <a:endParaRPr lang="en-US" sz="1900" dirty="0"/>
          </a:p>
        </p:txBody>
      </p:sp>
      <p:sp>
        <p:nvSpPr>
          <p:cNvPr id="19" name="Shape 17"/>
          <p:cNvSpPr/>
          <p:nvPr/>
        </p:nvSpPr>
        <p:spPr>
          <a:xfrm>
            <a:off x="868680" y="4681728"/>
            <a:ext cx="4389120" cy="786384"/>
          </a:xfrm>
          <a:prstGeom prst="roundRect">
            <a:avLst>
              <a:gd name="adj" fmla="val 8140"/>
            </a:avLst>
          </a:prstGeom>
          <a:solidFill>
            <a:srgbClr val="F4F6FB"/>
          </a:solidFill>
          <a:ln/>
        </p:spPr>
      </p:sp>
      <p:sp>
        <p:nvSpPr>
          <p:cNvPr id="20" name="Text 18"/>
          <p:cNvSpPr/>
          <p:nvPr/>
        </p:nvSpPr>
        <p:spPr>
          <a:xfrm>
            <a:off x="1097280" y="477316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Implied EV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97280" y="508406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of ¥4.1bn cash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291840" y="48280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¥8.6bn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868680" y="5650992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¥1,675 already reflects the April-2026 fraud-news drop. Any offer / premium must be re-based on a clean post-investigation price; figures here are illustrative.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897880" y="1417320"/>
            <a:ext cx="5742432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172200" y="15727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SHAREHOLDER BASE</a:t>
            </a:r>
            <a:endParaRPr lang="en-US" sz="1050" dirty="0"/>
          </a:p>
        </p:txBody>
      </p:sp>
      <p:graphicFrame>
        <p:nvGraphicFramePr>
          <p:cNvPr id="26" name="Chart 0" descr=""/>
          <p:cNvGraphicFramePr/>
          <p:nvPr/>
        </p:nvGraphicFramePr>
        <p:xfrm>
          <a:off x="6035040" y="1874520"/>
          <a:ext cx="2286000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7" name="Text 24"/>
          <p:cNvSpPr/>
          <p:nvPr/>
        </p:nvSpPr>
        <p:spPr>
          <a:xfrm>
            <a:off x="6464808" y="2395728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~18.5%</a:t>
            </a:r>
            <a:endParaRPr lang="en-US" sz="17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family</a:t>
            </a:r>
            <a:endParaRPr lang="en-US" sz="1700" dirty="0"/>
          </a:p>
        </p:txBody>
      </p:sp>
      <p:sp>
        <p:nvSpPr>
          <p:cNvPr id="28" name="Text 25"/>
          <p:cNvSpPr/>
          <p:nvPr/>
        </p:nvSpPr>
        <p:spPr>
          <a:xfrm>
            <a:off x="8595360" y="2011680"/>
            <a:ext cx="28346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3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/ related holders ~18.5% may facilitate an MBO if aligned (willingness = DD item)</a:t>
            </a:r>
            <a:endParaRPr lang="en-US" sz="103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3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Remainder is dispersed — limited blocking-stake risk to a fair offer</a:t>
            </a:r>
            <a:endParaRPr lang="en-US" sz="103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3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engagement and a special committee would be required</a:t>
            </a:r>
            <a:endParaRPr lang="en-US" sz="1030" dirty="0"/>
          </a:p>
        </p:txBody>
      </p:sp>
      <p:sp>
        <p:nvSpPr>
          <p:cNvPr id="29" name="Shape 26"/>
          <p:cNvSpPr/>
          <p:nvPr/>
        </p:nvSpPr>
        <p:spPr>
          <a:xfrm>
            <a:off x="5897880" y="3794760"/>
            <a:ext cx="2798064" cy="1078992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6080760" y="4087368"/>
            <a:ext cx="493776" cy="493776"/>
          </a:xfrm>
          <a:prstGeom prst="ellipse">
            <a:avLst/>
          </a:prstGeom>
          <a:solidFill>
            <a:srgbClr val="F4F6FB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pic>
        <p:nvPicPr>
          <p:cNvPr id="31" name="Image 0" descr="assets/coins_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9142" y="4215750"/>
            <a:ext cx="237012" cy="237012"/>
          </a:xfrm>
          <a:prstGeom prst="rect">
            <a:avLst/>
          </a:prstGeom>
        </p:spPr>
      </p:pic>
      <p:sp>
        <p:nvSpPr>
          <p:cNvPr id="32" name="Text 28"/>
          <p:cNvSpPr/>
          <p:nvPr/>
        </p:nvSpPr>
        <p:spPr>
          <a:xfrm>
            <a:off x="6702552" y="3922776"/>
            <a:ext cx="187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spc="50" kern="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LEVERAGE TODAY</a:t>
            </a:r>
            <a:endParaRPr lang="en-US" sz="830" dirty="0"/>
          </a:p>
        </p:txBody>
      </p:sp>
      <p:sp>
        <p:nvSpPr>
          <p:cNvPr id="33" name="Text 29"/>
          <p:cNvSpPr/>
          <p:nvPr/>
        </p:nvSpPr>
        <p:spPr>
          <a:xfrm>
            <a:off x="6702552" y="4123944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~0.0x</a:t>
            </a:r>
            <a:endParaRPr lang="en-US" sz="1600" dirty="0"/>
          </a:p>
        </p:txBody>
      </p:sp>
      <p:sp>
        <p:nvSpPr>
          <p:cNvPr id="34" name="Text 30"/>
          <p:cNvSpPr/>
          <p:nvPr/>
        </p:nvSpPr>
        <p:spPr>
          <a:xfrm>
            <a:off x="6080760" y="454456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 exists; keep constrained pre-DD</a:t>
            </a:r>
            <a:endParaRPr lang="en-US" sz="840" dirty="0"/>
          </a:p>
        </p:txBody>
      </p:sp>
      <p:sp>
        <p:nvSpPr>
          <p:cNvPr id="35" name="Shape 31"/>
          <p:cNvSpPr/>
          <p:nvPr/>
        </p:nvSpPr>
        <p:spPr>
          <a:xfrm>
            <a:off x="8842248" y="3794760"/>
            <a:ext cx="2798064" cy="1078992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p:spPr>
      </p:sp>
      <p:sp>
        <p:nvSpPr>
          <p:cNvPr id="36" name="Shape 32"/>
          <p:cNvSpPr/>
          <p:nvPr/>
        </p:nvSpPr>
        <p:spPr>
          <a:xfrm>
            <a:off x="9025128" y="4087368"/>
            <a:ext cx="493776" cy="493776"/>
          </a:xfrm>
          <a:prstGeom prst="ellipse">
            <a:avLst/>
          </a:prstGeom>
          <a:solidFill>
            <a:srgbClr val="F4F6FB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pic>
        <p:nvPicPr>
          <p:cNvPr id="37" name="Image 1" descr="assets/money_nav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3510" y="4215750"/>
            <a:ext cx="237012" cy="237012"/>
          </a:xfrm>
          <a:prstGeom prst="rect">
            <a:avLst/>
          </a:prstGeom>
        </p:spPr>
      </p:pic>
      <p:sp>
        <p:nvSpPr>
          <p:cNvPr id="38" name="Text 33"/>
          <p:cNvSpPr/>
          <p:nvPr/>
        </p:nvSpPr>
        <p:spPr>
          <a:xfrm>
            <a:off x="9646920" y="3922776"/>
            <a:ext cx="187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spc="50" kern="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FCF GENERATION</a:t>
            </a:r>
            <a:endParaRPr lang="en-US" sz="830" dirty="0"/>
          </a:p>
        </p:txBody>
      </p:sp>
      <p:sp>
        <p:nvSpPr>
          <p:cNvPr id="39" name="Text 34"/>
          <p:cNvSpPr/>
          <p:nvPr/>
        </p:nvSpPr>
        <p:spPr>
          <a:xfrm>
            <a:off x="9646920" y="4123944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¥0.2–0.8bn</a:t>
            </a:r>
            <a:endParaRPr lang="en-US" sz="1600" dirty="0"/>
          </a:p>
        </p:txBody>
      </p:sp>
      <p:sp>
        <p:nvSpPr>
          <p:cNvPr id="40" name="Text 35"/>
          <p:cNvSpPr/>
          <p:nvPr/>
        </p:nvSpPr>
        <p:spPr>
          <a:xfrm>
            <a:off x="9025128" y="454456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debt service</a:t>
            </a:r>
            <a:endParaRPr lang="en-US" sz="840" dirty="0"/>
          </a:p>
        </p:txBody>
      </p:sp>
      <p:sp>
        <p:nvSpPr>
          <p:cNvPr id="41" name="Shape 36"/>
          <p:cNvSpPr/>
          <p:nvPr/>
        </p:nvSpPr>
        <p:spPr>
          <a:xfrm>
            <a:off x="5897880" y="4983480"/>
            <a:ext cx="2798064" cy="1078992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p:spPr>
      </p:sp>
      <p:sp>
        <p:nvSpPr>
          <p:cNvPr id="42" name="Shape 37"/>
          <p:cNvSpPr/>
          <p:nvPr/>
        </p:nvSpPr>
        <p:spPr>
          <a:xfrm>
            <a:off x="6080760" y="5276088"/>
            <a:ext cx="493776" cy="493776"/>
          </a:xfrm>
          <a:prstGeom prst="ellipse">
            <a:avLst/>
          </a:prstGeom>
          <a:solidFill>
            <a:srgbClr val="F4F6FB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pic>
        <p:nvPicPr>
          <p:cNvPr id="43" name="Image 2" descr="assets/building_nav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09142" y="5404470"/>
            <a:ext cx="237012" cy="237012"/>
          </a:xfrm>
          <a:prstGeom prst="rect">
            <a:avLst/>
          </a:prstGeom>
        </p:spPr>
      </p:pic>
      <p:sp>
        <p:nvSpPr>
          <p:cNvPr id="44" name="Text 38"/>
          <p:cNvSpPr/>
          <p:nvPr/>
        </p:nvSpPr>
        <p:spPr>
          <a:xfrm>
            <a:off x="6702552" y="5111496"/>
            <a:ext cx="187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spc="50" kern="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</a:t>
            </a:r>
            <a:endParaRPr lang="en-US" sz="830" dirty="0"/>
          </a:p>
        </p:txBody>
      </p:sp>
      <p:sp>
        <p:nvSpPr>
          <p:cNvPr id="45" name="Text 39"/>
          <p:cNvSpPr/>
          <p:nvPr/>
        </p:nvSpPr>
        <p:spPr>
          <a:xfrm>
            <a:off x="6702552" y="5312664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TSE Standard</a:t>
            </a:r>
            <a:endParaRPr lang="en-US" sz="1600" dirty="0"/>
          </a:p>
        </p:txBody>
      </p:sp>
      <p:sp>
        <p:nvSpPr>
          <p:cNvPr id="46" name="Text 40"/>
          <p:cNvSpPr/>
          <p:nvPr/>
        </p:nvSpPr>
        <p:spPr>
          <a:xfrm>
            <a:off x="6080760" y="573328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 float; squeeze-out feasible</a:t>
            </a:r>
            <a:endParaRPr lang="en-US" sz="840" dirty="0"/>
          </a:p>
        </p:txBody>
      </p:sp>
      <p:sp>
        <p:nvSpPr>
          <p:cNvPr id="47" name="Shape 41"/>
          <p:cNvSpPr/>
          <p:nvPr/>
        </p:nvSpPr>
        <p:spPr>
          <a:xfrm>
            <a:off x="8842248" y="4983480"/>
            <a:ext cx="2798064" cy="1078992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p:spPr>
      </p:sp>
      <p:sp>
        <p:nvSpPr>
          <p:cNvPr id="48" name="Shape 42"/>
          <p:cNvSpPr/>
          <p:nvPr/>
        </p:nvSpPr>
        <p:spPr>
          <a:xfrm>
            <a:off x="9025128" y="5276088"/>
            <a:ext cx="493776" cy="493776"/>
          </a:xfrm>
          <a:prstGeom prst="ellipse">
            <a:avLst/>
          </a:prstGeom>
          <a:solidFill>
            <a:srgbClr val="F4F6FB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pic>
        <p:nvPicPr>
          <p:cNvPr id="49" name="Image 3" descr="assets/handshake_nav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53510" y="5404470"/>
            <a:ext cx="237012" cy="237012"/>
          </a:xfrm>
          <a:prstGeom prst="rect">
            <a:avLst/>
          </a:prstGeom>
        </p:spPr>
      </p:pic>
      <p:sp>
        <p:nvSpPr>
          <p:cNvPr id="50" name="Text 43"/>
          <p:cNvSpPr/>
          <p:nvPr/>
        </p:nvSpPr>
        <p:spPr>
          <a:xfrm>
            <a:off x="9646920" y="5111496"/>
            <a:ext cx="187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spc="50" kern="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</a:t>
            </a:r>
            <a:endParaRPr lang="en-US" sz="830" dirty="0"/>
          </a:p>
        </p:txBody>
      </p:sp>
      <p:sp>
        <p:nvSpPr>
          <p:cNvPr id="51" name="Text 44"/>
          <p:cNvSpPr/>
          <p:nvPr/>
        </p:nvSpPr>
        <p:spPr>
          <a:xfrm>
            <a:off x="9646920" y="5312664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MBO / sponsor</a:t>
            </a:r>
            <a:endParaRPr lang="en-US" sz="1600" dirty="0"/>
          </a:p>
        </p:txBody>
      </p:sp>
      <p:sp>
        <p:nvSpPr>
          <p:cNvPr id="52" name="Text 45"/>
          <p:cNvSpPr/>
          <p:nvPr/>
        </p:nvSpPr>
        <p:spPr>
          <a:xfrm>
            <a:off x="9025128" y="573328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roll + new control equity</a:t>
            </a:r>
            <a:endParaRPr lang="en-US" sz="840" dirty="0"/>
          </a:p>
        </p:txBody>
      </p:sp>
      <p:sp>
        <p:nvSpPr>
          <p:cNvPr id="53" name="Text 46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Measure  ·  Strictly Private &amp; Confidential</a:t>
            </a:r>
            <a:endParaRPr lang="en-US" sz="850" dirty="0"/>
          </a:p>
        </p:txBody>
      </p:sp>
      <p:sp>
        <p:nvSpPr>
          <p:cNvPr id="54" name="Text 47"/>
          <p:cNvSpPr/>
          <p:nvPr/>
        </p:nvSpPr>
        <p:spPr>
          <a:xfrm>
            <a:off x="11338560" y="64556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20624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78992" y="365760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Illustrative LBO Structure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097280" y="914400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cash and excess balance-sheet cash fund most of the price; new leverage kept low (~1.0x) given lumpy EBITDA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6126480" cy="4617720"/>
          </a:xfrm>
          <a:prstGeom prst="roundRect">
            <a:avLst>
              <a:gd name="adj" fmla="val 1782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59105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&amp; USES (¥bn)</a:t>
            </a:r>
            <a:endParaRPr lang="en-US" sz="10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31520" y="2011680"/>
          <a:ext cx="576072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868680" y="55321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deal size ¥13.2bn balances exactly on both sides.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6903720" y="1417320"/>
            <a:ext cx="4736592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178040" y="157276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CAPITALISATION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178040" y="1901952"/>
            <a:ext cx="2743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senior term loan</a:t>
            </a:r>
            <a:endParaRPr lang="en-US" sz="1030" dirty="0"/>
          </a:p>
        </p:txBody>
      </p:sp>
      <p:sp>
        <p:nvSpPr>
          <p:cNvPr id="12" name="Text 9"/>
          <p:cNvSpPr/>
          <p:nvPr/>
        </p:nvSpPr>
        <p:spPr>
          <a:xfrm>
            <a:off x="9829800" y="1901952"/>
            <a:ext cx="1508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3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¥0.8bn</a:t>
            </a:r>
            <a:endParaRPr lang="en-US" sz="1030" dirty="0"/>
          </a:p>
        </p:txBody>
      </p:sp>
      <p:sp>
        <p:nvSpPr>
          <p:cNvPr id="13" name="Text 10"/>
          <p:cNvSpPr/>
          <p:nvPr/>
        </p:nvSpPr>
        <p:spPr>
          <a:xfrm>
            <a:off x="7178040" y="2180844"/>
            <a:ext cx="2743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operating cash</a:t>
            </a:r>
            <a:endParaRPr lang="en-US" sz="1030" dirty="0"/>
          </a:p>
        </p:txBody>
      </p:sp>
      <p:sp>
        <p:nvSpPr>
          <p:cNvPr id="14" name="Text 11"/>
          <p:cNvSpPr/>
          <p:nvPr/>
        </p:nvSpPr>
        <p:spPr>
          <a:xfrm>
            <a:off x="9829800" y="2180844"/>
            <a:ext cx="1508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3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¥0.8bn</a:t>
            </a:r>
            <a:endParaRPr lang="en-US" sz="1030" dirty="0"/>
          </a:p>
        </p:txBody>
      </p:sp>
      <p:sp>
        <p:nvSpPr>
          <p:cNvPr id="15" name="Shape 12"/>
          <p:cNvSpPr/>
          <p:nvPr/>
        </p:nvSpPr>
        <p:spPr>
          <a:xfrm>
            <a:off x="7178040" y="2441448"/>
            <a:ext cx="4160520" cy="0"/>
          </a:xfrm>
          <a:prstGeom prst="line">
            <a:avLst/>
          </a:prstGeom>
          <a:noFill/>
          <a:ln w="12700">
            <a:solidFill>
              <a:srgbClr val="DDE3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178040" y="2459736"/>
            <a:ext cx="2743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debt at close</a:t>
            </a:r>
            <a:endParaRPr lang="en-US" sz="1030" dirty="0"/>
          </a:p>
        </p:txBody>
      </p:sp>
      <p:sp>
        <p:nvSpPr>
          <p:cNvPr id="17" name="Text 14"/>
          <p:cNvSpPr/>
          <p:nvPr/>
        </p:nvSpPr>
        <p:spPr>
          <a:xfrm>
            <a:off x="9829800" y="2459736"/>
            <a:ext cx="1508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3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¥0.0bn</a:t>
            </a:r>
            <a:endParaRPr lang="en-US" sz="1030" dirty="0"/>
          </a:p>
        </p:txBody>
      </p:sp>
      <p:sp>
        <p:nvSpPr>
          <p:cNvPr id="18" name="Text 15"/>
          <p:cNvSpPr/>
          <p:nvPr/>
        </p:nvSpPr>
        <p:spPr>
          <a:xfrm>
            <a:off x="7178040" y="2738628"/>
            <a:ext cx="2743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debt / LTM EBITDA</a:t>
            </a:r>
            <a:endParaRPr lang="en-US" sz="1030" dirty="0"/>
          </a:p>
        </p:txBody>
      </p:sp>
      <p:sp>
        <p:nvSpPr>
          <p:cNvPr id="19" name="Text 16"/>
          <p:cNvSpPr/>
          <p:nvPr/>
        </p:nvSpPr>
        <p:spPr>
          <a:xfrm>
            <a:off x="9829800" y="2738628"/>
            <a:ext cx="1508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3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~0.0x</a:t>
            </a:r>
            <a:endParaRPr lang="en-US" sz="1030" dirty="0"/>
          </a:p>
        </p:txBody>
      </p:sp>
      <p:sp>
        <p:nvSpPr>
          <p:cNvPr id="20" name="Shape 17"/>
          <p:cNvSpPr/>
          <p:nvPr/>
        </p:nvSpPr>
        <p:spPr>
          <a:xfrm>
            <a:off x="7178040" y="2999232"/>
            <a:ext cx="4160520" cy="0"/>
          </a:xfrm>
          <a:prstGeom prst="line">
            <a:avLst/>
          </a:prstGeom>
          <a:noFill/>
          <a:ln w="12700">
            <a:solidFill>
              <a:srgbClr val="DDE3F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178040" y="3017520"/>
            <a:ext cx="2743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 equity</a:t>
            </a:r>
            <a:endParaRPr lang="en-US" sz="1030" dirty="0"/>
          </a:p>
        </p:txBody>
      </p:sp>
      <p:sp>
        <p:nvSpPr>
          <p:cNvPr id="22" name="Text 19"/>
          <p:cNvSpPr/>
          <p:nvPr/>
        </p:nvSpPr>
        <p:spPr>
          <a:xfrm>
            <a:off x="9829800" y="3017520"/>
            <a:ext cx="1508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3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¥9.0bn</a:t>
            </a:r>
            <a:endParaRPr lang="en-US" sz="1030" dirty="0"/>
          </a:p>
        </p:txBody>
      </p:sp>
      <p:sp>
        <p:nvSpPr>
          <p:cNvPr id="23" name="Text 20"/>
          <p:cNvSpPr/>
          <p:nvPr/>
        </p:nvSpPr>
        <p:spPr>
          <a:xfrm>
            <a:off x="7178040" y="3296412"/>
            <a:ext cx="2743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 % of capitalisation</a:t>
            </a:r>
            <a:endParaRPr lang="en-US" sz="1030" dirty="0"/>
          </a:p>
        </p:txBody>
      </p:sp>
      <p:sp>
        <p:nvSpPr>
          <p:cNvPr id="24" name="Text 21"/>
          <p:cNvSpPr/>
          <p:nvPr/>
        </p:nvSpPr>
        <p:spPr>
          <a:xfrm>
            <a:off x="9829800" y="3296412"/>
            <a:ext cx="1508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3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92%</a:t>
            </a:r>
            <a:endParaRPr lang="en-US" sz="1030" dirty="0"/>
          </a:p>
        </p:txBody>
      </p:sp>
      <p:sp>
        <p:nvSpPr>
          <p:cNvPr id="25" name="Shape 22"/>
          <p:cNvSpPr/>
          <p:nvPr/>
        </p:nvSpPr>
        <p:spPr>
          <a:xfrm>
            <a:off x="6903720" y="3794760"/>
            <a:ext cx="2295144" cy="1078992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903720" y="3794760"/>
            <a:ext cx="82296" cy="1078992"/>
          </a:xfrm>
          <a:prstGeom prst="roundRect">
            <a:avLst>
              <a:gd name="adj" fmla="val 66667"/>
            </a:avLst>
          </a:prstGeom>
          <a:solidFill>
            <a:srgbClr val="1E2761"/>
          </a:solidFill>
          <a:ln/>
        </p:spPr>
      </p:sp>
      <p:sp>
        <p:nvSpPr>
          <p:cNvPr id="27" name="Text 24"/>
          <p:cNvSpPr/>
          <p:nvPr/>
        </p:nvSpPr>
        <p:spPr>
          <a:xfrm>
            <a:off x="7132320" y="394106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50" kern="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EV / EBITDA</a:t>
            </a:r>
            <a:endParaRPr lang="en-US" sz="860" dirty="0"/>
          </a:p>
        </p:txBody>
      </p:sp>
      <p:sp>
        <p:nvSpPr>
          <p:cNvPr id="28" name="Text 25"/>
          <p:cNvSpPr/>
          <p:nvPr/>
        </p:nvSpPr>
        <p:spPr>
          <a:xfrm>
            <a:off x="7132320" y="4215384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10.8x</a:t>
            </a:r>
            <a:endParaRPr lang="en-US" sz="2500" dirty="0"/>
          </a:p>
        </p:txBody>
      </p:sp>
      <p:sp>
        <p:nvSpPr>
          <p:cNvPr id="29" name="Shape 26"/>
          <p:cNvSpPr/>
          <p:nvPr/>
        </p:nvSpPr>
        <p:spPr>
          <a:xfrm>
            <a:off x="9345168" y="3794760"/>
            <a:ext cx="2295144" cy="1078992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9345168" y="3794760"/>
            <a:ext cx="82296" cy="1078992"/>
          </a:xfrm>
          <a:prstGeom prst="roundRect">
            <a:avLst>
              <a:gd name="adj" fmla="val 66667"/>
            </a:avLst>
          </a:prstGeom>
          <a:solidFill>
            <a:srgbClr val="2A3470"/>
          </a:solidFill>
          <a:ln/>
        </p:spPr>
      </p:sp>
      <p:sp>
        <p:nvSpPr>
          <p:cNvPr id="31" name="Text 28"/>
          <p:cNvSpPr/>
          <p:nvPr/>
        </p:nvSpPr>
        <p:spPr>
          <a:xfrm>
            <a:off x="9573768" y="394106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50" kern="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EV / EBIT</a:t>
            </a:r>
            <a:endParaRPr lang="en-US" sz="860" dirty="0"/>
          </a:p>
        </p:txBody>
      </p:sp>
      <p:sp>
        <p:nvSpPr>
          <p:cNvPr id="32" name="Text 29"/>
          <p:cNvSpPr/>
          <p:nvPr/>
        </p:nvSpPr>
        <p:spPr>
          <a:xfrm>
            <a:off x="9573768" y="4215384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14.4x</a:t>
            </a:r>
            <a:endParaRPr lang="en-US" sz="2500" dirty="0"/>
          </a:p>
        </p:txBody>
      </p:sp>
      <p:sp>
        <p:nvSpPr>
          <p:cNvPr id="33" name="Shape 30"/>
          <p:cNvSpPr/>
          <p:nvPr/>
        </p:nvSpPr>
        <p:spPr>
          <a:xfrm>
            <a:off x="6903720" y="4983480"/>
            <a:ext cx="2295144" cy="1078992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903720" y="4983480"/>
            <a:ext cx="82296" cy="1078992"/>
          </a:xfrm>
          <a:prstGeom prst="roundRect">
            <a:avLst>
              <a:gd name="adj" fmla="val 66667"/>
            </a:avLst>
          </a:prstGeom>
          <a:solidFill>
            <a:srgbClr val="C8A951"/>
          </a:solidFill>
          <a:ln/>
        </p:spPr>
      </p:sp>
      <p:sp>
        <p:nvSpPr>
          <p:cNvPr id="35" name="Text 32"/>
          <p:cNvSpPr/>
          <p:nvPr/>
        </p:nvSpPr>
        <p:spPr>
          <a:xfrm>
            <a:off x="7132320" y="512978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50" kern="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 P / E</a:t>
            </a:r>
            <a:endParaRPr lang="en-US" sz="860" dirty="0"/>
          </a:p>
        </p:txBody>
      </p:sp>
      <p:sp>
        <p:nvSpPr>
          <p:cNvPr id="36" name="Text 33"/>
          <p:cNvSpPr/>
          <p:nvPr/>
        </p:nvSpPr>
        <p:spPr>
          <a:xfrm>
            <a:off x="7132320" y="5404104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33.4x</a:t>
            </a:r>
            <a:endParaRPr lang="en-US" sz="2500" dirty="0"/>
          </a:p>
        </p:txBody>
      </p:sp>
      <p:sp>
        <p:nvSpPr>
          <p:cNvPr id="37" name="Shape 34"/>
          <p:cNvSpPr/>
          <p:nvPr/>
        </p:nvSpPr>
        <p:spPr>
          <a:xfrm>
            <a:off x="9345168" y="4983480"/>
            <a:ext cx="2295144" cy="1078992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9345168" y="4983480"/>
            <a:ext cx="82296" cy="1078992"/>
          </a:xfrm>
          <a:prstGeom prst="roundRect">
            <a:avLst>
              <a:gd name="adj" fmla="val 66667"/>
            </a:avLst>
          </a:prstGeom>
          <a:solidFill>
            <a:srgbClr val="2E7D52"/>
          </a:solidFill>
          <a:ln/>
        </p:spPr>
      </p:sp>
      <p:sp>
        <p:nvSpPr>
          <p:cNvPr id="39" name="Text 36"/>
          <p:cNvSpPr/>
          <p:nvPr/>
        </p:nvSpPr>
        <p:spPr>
          <a:xfrm>
            <a:off x="9573768" y="512978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50" kern="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TERM-LOAN PRICING</a:t>
            </a:r>
            <a:endParaRPr lang="en-US" sz="860" dirty="0"/>
          </a:p>
        </p:txBody>
      </p:sp>
      <p:sp>
        <p:nvSpPr>
          <p:cNvPr id="40" name="Text 37"/>
          <p:cNvSpPr/>
          <p:nvPr/>
        </p:nvSpPr>
        <p:spPr>
          <a:xfrm>
            <a:off x="9573768" y="5404104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~3.5%</a:t>
            </a:r>
            <a:endParaRPr lang="en-US" sz="2500" dirty="0"/>
          </a:p>
        </p:txBody>
      </p:sp>
      <p:sp>
        <p:nvSpPr>
          <p:cNvPr id="41" name="Text 38"/>
          <p:cNvSpPr/>
          <p:nvPr/>
        </p:nvSpPr>
        <p:spPr>
          <a:xfrm>
            <a:off x="6922008" y="6053328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i="1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 P/E is optically high — depressed by Mobility losses; normalised on the software core it is far lower.</a:t>
            </a:r>
            <a:endParaRPr lang="en-US" sz="860" dirty="0"/>
          </a:p>
        </p:txBody>
      </p:sp>
      <p:sp>
        <p:nvSpPr>
          <p:cNvPr id="42" name="Text 39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Measure  ·  Strictly Private &amp; Confidential</a:t>
            </a:r>
            <a:endParaRPr lang="en-US" sz="850" dirty="0"/>
          </a:p>
        </p:txBody>
      </p:sp>
      <p:sp>
        <p:nvSpPr>
          <p:cNvPr id="43" name="Text 40"/>
          <p:cNvSpPr/>
          <p:nvPr/>
        </p:nvSpPr>
        <p:spPr>
          <a:xfrm>
            <a:off x="11338560" y="64556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20624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78992" y="365760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Projections — Base Case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097280" y="914400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Mid-single-digit growth with gradual margin expansion toward the software core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6949440" cy="4617720"/>
          </a:xfrm>
          <a:prstGeom prst="roundRect">
            <a:avLst>
              <a:gd name="adj" fmla="val 1782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59105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&amp; EBITDA (¥mm)</a:t>
            </a:r>
            <a:endParaRPr lang="en-US" sz="10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640080" y="1965960"/>
          <a:ext cx="6766560" cy="2971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868680" y="507492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~6% CAGR (FY26E→FY31E); EBITDA margin expands ~11% → ~15% as overhead is rationalised and Mobility losses narrow.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7680960" y="1417320"/>
            <a:ext cx="3959352" cy="4617720"/>
          </a:xfrm>
          <a:prstGeom prst="roundRect">
            <a:avLst>
              <a:gd name="adj" fmla="val 2079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955280" y="159105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OPERATING ASSUMPTIONS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001000" y="199339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growth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10012680" y="199339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+5% → +7% p.a.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7863840" y="2423160"/>
            <a:ext cx="3593592" cy="420624"/>
          </a:xfrm>
          <a:prstGeom prst="roundRect">
            <a:avLst>
              <a:gd name="adj" fmla="val 13043"/>
            </a:avLst>
          </a:prstGeom>
          <a:solidFill>
            <a:srgbClr val="F4F6FB"/>
          </a:solidFill>
          <a:ln/>
        </p:spPr>
      </p:sp>
      <p:sp>
        <p:nvSpPr>
          <p:cNvPr id="14" name="Text 11"/>
          <p:cNvSpPr/>
          <p:nvPr/>
        </p:nvSpPr>
        <p:spPr>
          <a:xfrm>
            <a:off x="8001000" y="245059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margin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10012680" y="245059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9.2% → 12.0%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8001000" y="290779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EBITDA (FY31E)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10012680" y="290779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¥1.43bn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863840" y="3337560"/>
            <a:ext cx="3593592" cy="420624"/>
          </a:xfrm>
          <a:prstGeom prst="roundRect">
            <a:avLst>
              <a:gd name="adj" fmla="val 13043"/>
            </a:avLst>
          </a:prstGeom>
          <a:solidFill>
            <a:srgbClr val="F4F6FB"/>
          </a:solidFill>
          <a:ln/>
        </p:spPr>
      </p:sp>
      <p:sp>
        <p:nvSpPr>
          <p:cNvPr id="19" name="Text 16"/>
          <p:cNvSpPr/>
          <p:nvPr/>
        </p:nvSpPr>
        <p:spPr>
          <a:xfrm>
            <a:off x="8001000" y="336499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10012680" y="336499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2.5% of revenue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001000" y="382219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 net working capital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10012680" y="382219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6% of Δ revenue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7863840" y="4251960"/>
            <a:ext cx="3593592" cy="420624"/>
          </a:xfrm>
          <a:prstGeom prst="roundRect">
            <a:avLst>
              <a:gd name="adj" fmla="val 13043"/>
            </a:avLst>
          </a:prstGeom>
          <a:solidFill>
            <a:srgbClr val="F4F6FB"/>
          </a:solidFill>
          <a:ln/>
        </p:spPr>
      </p:sp>
      <p:sp>
        <p:nvSpPr>
          <p:cNvPr id="24" name="Text 21"/>
          <p:cNvSpPr/>
          <p:nvPr/>
        </p:nvSpPr>
        <p:spPr>
          <a:xfrm>
            <a:off x="8001000" y="427939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tax rate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10012680" y="427939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8001000" y="473659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D&amp;A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10012680" y="473659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¥0.21–0.27bn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7863840" y="5166360"/>
            <a:ext cx="3593592" cy="420624"/>
          </a:xfrm>
          <a:prstGeom prst="roundRect">
            <a:avLst>
              <a:gd name="adj" fmla="val 13043"/>
            </a:avLst>
          </a:prstGeom>
          <a:solidFill>
            <a:srgbClr val="F4F6FB"/>
          </a:solidFill>
          <a:ln/>
        </p:spPr>
      </p:sp>
      <p:sp>
        <p:nvSpPr>
          <p:cNvPr id="29" name="Text 26"/>
          <p:cNvSpPr/>
          <p:nvPr/>
        </p:nvSpPr>
        <p:spPr>
          <a:xfrm>
            <a:off x="8001000" y="519379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sweep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10012680" y="519379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to debt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7973568" y="577900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i="1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conservative: growth in line with history, margin gains phased — not a hockey stick.</a:t>
            </a:r>
            <a:endParaRPr lang="en-US" sz="880" dirty="0"/>
          </a:p>
        </p:txBody>
      </p:sp>
      <p:sp>
        <p:nvSpPr>
          <p:cNvPr id="32" name="Text 29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Measure  ·  Strictly Private &amp; Confidential</a:t>
            </a:r>
            <a:endParaRPr lang="en-US" sz="850" dirty="0"/>
          </a:p>
        </p:txBody>
      </p:sp>
      <p:sp>
        <p:nvSpPr>
          <p:cNvPr id="33" name="Text 30"/>
          <p:cNvSpPr/>
          <p:nvPr/>
        </p:nvSpPr>
        <p:spPr>
          <a:xfrm>
            <a:off x="11338560" y="64556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20624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78992" y="365760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Returns — Base Case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097280" y="914400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 base case: 1.9x MOIC / ~14% IRR (below hurdle) — figures pending any restatement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7772400" cy="4617720"/>
          </a:xfrm>
          <a:prstGeom prst="roundRect">
            <a:avLst>
              <a:gd name="adj" fmla="val 1782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59105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 VALUE CREATION BRIDGE (¥bn)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075688" y="3698086"/>
            <a:ext cx="548640" cy="0"/>
          </a:xfrm>
          <a:prstGeom prst="line">
            <a:avLst/>
          </a:prstGeom>
          <a:noFill/>
          <a:ln w="12700">
            <a:solidFill>
              <a:srgbClr val="8A93B2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3557016" y="2520096"/>
            <a:ext cx="548640" cy="0"/>
          </a:xfrm>
          <a:prstGeom prst="line">
            <a:avLst/>
          </a:prstGeom>
          <a:noFill/>
          <a:ln w="12700">
            <a:solidFill>
              <a:srgbClr val="8A93B2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5038344" y="2520096"/>
            <a:ext cx="548640" cy="0"/>
          </a:xfrm>
          <a:prstGeom prst="line">
            <a:avLst/>
          </a:prstGeom>
          <a:noFill/>
          <a:ln w="12700">
            <a:solidFill>
              <a:srgbClr val="8A93B2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6519672" y="2240280"/>
            <a:ext cx="548640" cy="0"/>
          </a:xfrm>
          <a:prstGeom prst="line">
            <a:avLst/>
          </a:prstGeom>
          <a:noFill/>
          <a:ln w="12700">
            <a:solidFill>
              <a:srgbClr val="8A93B2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1143000" y="3698086"/>
            <a:ext cx="932688" cy="1559714"/>
          </a:xfrm>
          <a:prstGeom prst="rect">
            <a:avLst/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005840" y="3387190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9.03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960120" y="5330952"/>
            <a:ext cx="12984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</a:t>
            </a:r>
            <a:endParaRPr lang="en-US" sz="9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624328" y="2520096"/>
            <a:ext cx="932688" cy="1177990"/>
          </a:xfrm>
          <a:prstGeom prst="rect">
            <a:avLst/>
          </a:prstGeom>
          <a:solidFill>
            <a:srgbClr val="2E7D52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2487168" y="2209200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E7D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+6.82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2441448" y="5330952"/>
            <a:ext cx="12984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EBITDA</a:t>
            </a:r>
            <a:endParaRPr lang="en-US" sz="9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105656" y="2520096"/>
            <a:ext cx="932688" cy="195180"/>
          </a:xfrm>
          <a:prstGeom prst="rect">
            <a:avLst/>
          </a:prstGeom>
          <a:solidFill>
            <a:srgbClr val="B5462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3968496" y="2209200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54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–1.13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922776" y="5330952"/>
            <a:ext cx="12984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</a:t>
            </a:r>
            <a:endParaRPr lang="en-US" sz="9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586984" y="2240280"/>
            <a:ext cx="932688" cy="474996"/>
          </a:xfrm>
          <a:prstGeom prst="rect">
            <a:avLst/>
          </a:prstGeom>
          <a:solidFill>
            <a:srgbClr val="2E7D52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449824" y="1929384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E7D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+2.75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404104" y="5330952"/>
            <a:ext cx="12984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Deleverage,</a:t>
            </a:r>
            <a:endParaRPr lang="en-US" sz="9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FCF &amp; fees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7068312" y="2240280"/>
            <a:ext cx="932688" cy="3017520"/>
          </a:xfrm>
          <a:prstGeom prst="rect">
            <a:avLst/>
          </a:prstGeom>
          <a:solidFill>
            <a:srgbClr val="C8A951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931152" y="1929384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17.47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885432" y="5330952"/>
            <a:ext cx="12984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</a:t>
            </a:r>
            <a:endParaRPr lang="en-US" sz="9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822960" y="5257800"/>
            <a:ext cx="7315200" cy="0"/>
          </a:xfrm>
          <a:prstGeom prst="line">
            <a:avLst/>
          </a:prstGeom>
          <a:noFill/>
          <a:ln w="12700">
            <a:solidFill>
              <a:srgbClr val="C7CE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68680" y="577900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i="1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 reconciles exactly to exit equity; 'Deleverage, FCF &amp; fees' is net of ~¥0.4bn transaction costs.</a:t>
            </a:r>
            <a:endParaRPr lang="en-US" sz="860" dirty="0"/>
          </a:p>
        </p:txBody>
      </p:sp>
      <p:sp>
        <p:nvSpPr>
          <p:cNvPr id="28" name="Shape 26"/>
          <p:cNvSpPr/>
          <p:nvPr/>
        </p:nvSpPr>
        <p:spPr>
          <a:xfrm>
            <a:off x="8549640" y="1417320"/>
            <a:ext cx="3090672" cy="2240280"/>
          </a:xfrm>
          <a:prstGeom prst="roundRect">
            <a:avLst>
              <a:gd name="adj" fmla="val 4082"/>
            </a:avLst>
          </a:prstGeom>
          <a:solidFill>
            <a:srgbClr val="1E2761"/>
          </a:solidFill>
          <a:ln/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8823960" y="159105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BASE-CASE RETURNS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823960" y="196596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1.93x</a:t>
            </a:r>
            <a:endParaRPr lang="en-US" sz="4200" dirty="0"/>
          </a:p>
          <a:p>
            <a:pPr indent="0" marL="0">
              <a:buNone/>
            </a:pPr>
            <a:r>
              <a:rPr lang="en-US" sz="1000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MOIC</a:t>
            </a:r>
            <a:endParaRPr lang="en-US" sz="4200" dirty="0"/>
          </a:p>
        </p:txBody>
      </p:sp>
      <p:sp>
        <p:nvSpPr>
          <p:cNvPr id="31" name="Shape 29"/>
          <p:cNvSpPr/>
          <p:nvPr/>
        </p:nvSpPr>
        <p:spPr>
          <a:xfrm>
            <a:off x="8823960" y="2944368"/>
            <a:ext cx="2542032" cy="0"/>
          </a:xfrm>
          <a:prstGeom prst="line">
            <a:avLst/>
          </a:prstGeom>
          <a:noFill/>
          <a:ln w="12700">
            <a:solidFill>
              <a:srgbClr val="2A347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823960" y="306324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14.1%</a:t>
            </a:r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gross IRR · 5-yr hold</a:t>
            </a:r>
            <a:endParaRPr lang="en-US" sz="3000" dirty="0"/>
          </a:p>
        </p:txBody>
      </p:sp>
      <p:sp>
        <p:nvSpPr>
          <p:cNvPr id="33" name="Shape 31"/>
          <p:cNvSpPr/>
          <p:nvPr/>
        </p:nvSpPr>
        <p:spPr>
          <a:xfrm>
            <a:off x="8549640" y="3822192"/>
            <a:ext cx="3090672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8732520" y="382219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EBITDA (FY31E)</a:t>
            </a:r>
            <a:endParaRPr lang="en-US" sz="980" dirty="0"/>
          </a:p>
        </p:txBody>
      </p:sp>
      <p:sp>
        <p:nvSpPr>
          <p:cNvPr id="35" name="Text 33"/>
          <p:cNvSpPr/>
          <p:nvPr/>
        </p:nvSpPr>
        <p:spPr>
          <a:xfrm>
            <a:off x="10561320" y="382219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¥1.43bn</a:t>
            </a:r>
            <a:endParaRPr lang="en-US" sz="980" dirty="0"/>
          </a:p>
        </p:txBody>
      </p:sp>
      <p:sp>
        <p:nvSpPr>
          <p:cNvPr id="36" name="Shape 34"/>
          <p:cNvSpPr/>
          <p:nvPr/>
        </p:nvSpPr>
        <p:spPr>
          <a:xfrm>
            <a:off x="8549640" y="4201668"/>
            <a:ext cx="3090672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8732520" y="420166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EV / EBITDA</a:t>
            </a:r>
            <a:endParaRPr lang="en-US" sz="980" dirty="0"/>
          </a:p>
        </p:txBody>
      </p:sp>
      <p:sp>
        <p:nvSpPr>
          <p:cNvPr id="38" name="Text 36"/>
          <p:cNvSpPr/>
          <p:nvPr/>
        </p:nvSpPr>
        <p:spPr>
          <a:xfrm>
            <a:off x="10561320" y="420166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10.0x</a:t>
            </a:r>
            <a:endParaRPr lang="en-US" sz="980" dirty="0"/>
          </a:p>
        </p:txBody>
      </p:sp>
      <p:sp>
        <p:nvSpPr>
          <p:cNvPr id="39" name="Shape 37"/>
          <p:cNvSpPr/>
          <p:nvPr/>
        </p:nvSpPr>
        <p:spPr>
          <a:xfrm>
            <a:off x="8549640" y="4581144"/>
            <a:ext cx="3090672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8732520" y="4581144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enterprise value</a:t>
            </a:r>
            <a:endParaRPr lang="en-US" sz="980" dirty="0"/>
          </a:p>
        </p:txBody>
      </p:sp>
      <p:sp>
        <p:nvSpPr>
          <p:cNvPr id="41" name="Text 39"/>
          <p:cNvSpPr/>
          <p:nvPr/>
        </p:nvSpPr>
        <p:spPr>
          <a:xfrm>
            <a:off x="10561320" y="458114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¥14.3bn</a:t>
            </a:r>
            <a:endParaRPr lang="en-US" sz="980" dirty="0"/>
          </a:p>
        </p:txBody>
      </p:sp>
      <p:sp>
        <p:nvSpPr>
          <p:cNvPr id="42" name="Shape 40"/>
          <p:cNvSpPr/>
          <p:nvPr/>
        </p:nvSpPr>
        <p:spPr>
          <a:xfrm>
            <a:off x="8549640" y="4960620"/>
            <a:ext cx="3090672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8732520" y="49606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cash at exit</a:t>
            </a:r>
            <a:endParaRPr lang="en-US" sz="980" dirty="0"/>
          </a:p>
        </p:txBody>
      </p:sp>
      <p:sp>
        <p:nvSpPr>
          <p:cNvPr id="44" name="Text 42"/>
          <p:cNvSpPr/>
          <p:nvPr/>
        </p:nvSpPr>
        <p:spPr>
          <a:xfrm>
            <a:off x="10561320" y="49606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¥3.15bn</a:t>
            </a:r>
            <a:endParaRPr lang="en-US" sz="980" dirty="0"/>
          </a:p>
        </p:txBody>
      </p:sp>
      <p:sp>
        <p:nvSpPr>
          <p:cNvPr id="45" name="Shape 43"/>
          <p:cNvSpPr/>
          <p:nvPr/>
        </p:nvSpPr>
        <p:spPr>
          <a:xfrm>
            <a:off x="8549640" y="5340096"/>
            <a:ext cx="3090672" cy="365760"/>
          </a:xfrm>
          <a:prstGeom prst="roundRect">
            <a:avLst>
              <a:gd name="adj" fmla="val 12500"/>
            </a:avLst>
          </a:prstGeom>
          <a:solidFill>
            <a:srgbClr val="F4F6FB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8732520" y="5340096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equity value</a:t>
            </a:r>
            <a:endParaRPr lang="en-US" sz="980" dirty="0"/>
          </a:p>
        </p:txBody>
      </p:sp>
      <p:sp>
        <p:nvSpPr>
          <p:cNvPr id="47" name="Text 45"/>
          <p:cNvSpPr/>
          <p:nvPr/>
        </p:nvSpPr>
        <p:spPr>
          <a:xfrm>
            <a:off x="10561320" y="534009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¥17.5bn</a:t>
            </a:r>
            <a:endParaRPr lang="en-US" sz="980" dirty="0"/>
          </a:p>
        </p:txBody>
      </p:sp>
      <p:sp>
        <p:nvSpPr>
          <p:cNvPr id="48" name="Shape 46"/>
          <p:cNvSpPr/>
          <p:nvPr/>
        </p:nvSpPr>
        <p:spPr>
          <a:xfrm>
            <a:off x="8549640" y="5719572"/>
            <a:ext cx="3090672" cy="365760"/>
          </a:xfrm>
          <a:prstGeom prst="roundRect">
            <a:avLst>
              <a:gd name="adj" fmla="val 12500"/>
            </a:avLst>
          </a:prstGeom>
          <a:solidFill>
            <a:srgbClr val="F4F6FB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8732520" y="571957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 equity in</a:t>
            </a:r>
            <a:endParaRPr lang="en-US" sz="980" dirty="0"/>
          </a:p>
        </p:txBody>
      </p:sp>
      <p:sp>
        <p:nvSpPr>
          <p:cNvPr id="50" name="Text 48"/>
          <p:cNvSpPr/>
          <p:nvPr/>
        </p:nvSpPr>
        <p:spPr>
          <a:xfrm>
            <a:off x="10561320" y="571957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¥9.03bn</a:t>
            </a:r>
            <a:endParaRPr lang="en-US" sz="980" dirty="0"/>
          </a:p>
        </p:txBody>
      </p:sp>
      <p:sp>
        <p:nvSpPr>
          <p:cNvPr id="51" name="Text 49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Measure  ·  Strictly Private &amp; Confidential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11338560" y="64556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20624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78992" y="365760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Sensitivity &amp; Scenarios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097280" y="914400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sit below a ~20% hurdle across the grid; the downside is a capital impairment, the upside only approaches hurdle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6400800" cy="3063240"/>
          </a:xfrm>
          <a:prstGeom prst="roundRect">
            <a:avLst>
              <a:gd name="adj" fmla="val 2687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57276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IRR  —  offer premium × exit EV/EBITDA</a:t>
            </a:r>
            <a:endParaRPr lang="en-US" sz="10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68680" y="1993392"/>
          <a:ext cx="5760720" cy="2148840"/>
        </p:xfrm>
        <a:graphic>
          <a:graphicData uri="http://schemas.openxmlformats.org/drawingml/2006/table">
            <a:tbl>
              <a:tblPr/>
              <a:tblGrid>
                <a:gridCol w="1371600"/>
                <a:gridCol w="1097280"/>
                <a:gridCol w="1097280"/>
                <a:gridCol w="1097280"/>
                <a:gridCol w="109728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Premium ＼ Exit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8.0x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9.0x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10.0x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11.0x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AC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9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76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F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1BD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A08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F886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705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CCB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FB1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7977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3806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DAC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BFA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907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CDB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B59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19E81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868680" y="416052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case (37% premium, 10.0x exit) ≈ 14.1% IRR. Returns stay below a ~20% hurdle across the grid; only a low premium with a high exit multiple approaches it.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7178040" y="1417320"/>
            <a:ext cx="4462272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178040" y="1417320"/>
            <a:ext cx="109728" cy="1463040"/>
          </a:xfrm>
          <a:prstGeom prst="roundRect">
            <a:avLst>
              <a:gd name="adj" fmla="val 50000"/>
            </a:avLst>
          </a:prstGeom>
          <a:solidFill>
            <a:srgbClr val="B5462F"/>
          </a:solidFill>
          <a:ln/>
        </p:spPr>
      </p:sp>
      <p:sp>
        <p:nvSpPr>
          <p:cNvPr id="11" name="Text 8"/>
          <p:cNvSpPr/>
          <p:nvPr/>
        </p:nvSpPr>
        <p:spPr>
          <a:xfrm>
            <a:off x="7470648" y="156362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B54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DOWNSIDE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470648" y="18928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impairment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7470648" y="2194560"/>
            <a:ext cx="2514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 +3% · margin ~8.5% · exit 8.0x · restatement drag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0104120" y="1618488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0.78x</a:t>
            </a:r>
            <a:endParaRPr lang="en-US" sz="2300" dirty="0"/>
          </a:p>
          <a:p>
            <a:pPr algn="ctr" indent="0" marL="0">
              <a:buNone/>
            </a:pPr>
            <a:r>
              <a:rPr lang="en-US" sz="800" spc="100" kern="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MOIC</a:t>
            </a:r>
            <a:endParaRPr lang="en-US" sz="2300" dirty="0"/>
          </a:p>
        </p:txBody>
      </p:sp>
      <p:sp>
        <p:nvSpPr>
          <p:cNvPr id="15" name="Text 12"/>
          <p:cNvSpPr/>
          <p:nvPr/>
        </p:nvSpPr>
        <p:spPr>
          <a:xfrm>
            <a:off x="10104120" y="233172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54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-4.9%</a:t>
            </a:r>
            <a:endParaRPr lang="en-US" sz="1600" dirty="0"/>
          </a:p>
          <a:p>
            <a:pPr algn="ctr" indent="0" marL="0">
              <a:buNone/>
            </a:pPr>
            <a:r>
              <a:rPr lang="en-US" sz="800" spc="100" kern="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7178040" y="2971800"/>
            <a:ext cx="4462272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7178040" y="2971800"/>
            <a:ext cx="109728" cy="1463040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18" name="Text 15"/>
          <p:cNvSpPr/>
          <p:nvPr/>
        </p:nvSpPr>
        <p:spPr>
          <a:xfrm>
            <a:off x="7470648" y="311810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BASE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7470648" y="344728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hurdle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7470648" y="3749040"/>
            <a:ext cx="2514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 +6% · margin →12% · exit 10.0x · ~1.0x leverage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0104120" y="3172968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1.93x</a:t>
            </a:r>
            <a:endParaRPr lang="en-US" sz="2300" dirty="0"/>
          </a:p>
          <a:p>
            <a:pPr algn="ctr" indent="0" marL="0">
              <a:buNone/>
            </a:pPr>
            <a:r>
              <a:rPr lang="en-US" sz="800" spc="100" kern="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MOIC</a:t>
            </a:r>
            <a:endParaRPr lang="en-US" sz="2300" dirty="0"/>
          </a:p>
        </p:txBody>
      </p:sp>
      <p:sp>
        <p:nvSpPr>
          <p:cNvPr id="22" name="Text 19"/>
          <p:cNvSpPr/>
          <p:nvPr/>
        </p:nvSpPr>
        <p:spPr>
          <a:xfrm>
            <a:off x="10104120" y="388620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14.1%</a:t>
            </a:r>
            <a:endParaRPr lang="en-US" sz="1600" dirty="0"/>
          </a:p>
          <a:p>
            <a:pPr algn="ctr" indent="0" marL="0">
              <a:buNone/>
            </a:pPr>
            <a:r>
              <a:rPr lang="en-US" sz="800" spc="100" kern="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7178040" y="4526280"/>
            <a:ext cx="4462272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7178040" y="4526280"/>
            <a:ext cx="109728" cy="1463040"/>
          </a:xfrm>
          <a:prstGeom prst="roundRect">
            <a:avLst>
              <a:gd name="adj" fmla="val 50000"/>
            </a:avLst>
          </a:prstGeom>
          <a:solidFill>
            <a:srgbClr val="2E7D52"/>
          </a:solidFill>
          <a:ln/>
        </p:spPr>
      </p:sp>
      <p:sp>
        <p:nvSpPr>
          <p:cNvPr id="25" name="Text 22"/>
          <p:cNvSpPr/>
          <p:nvPr/>
        </p:nvSpPr>
        <p:spPr>
          <a:xfrm>
            <a:off x="7470648" y="467258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2E7D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UPSIDE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7470648" y="500176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Approaches hurdle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470648" y="5303520"/>
            <a:ext cx="2514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 +8% · margin →16% · exit 11.5x · extra leverage = more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10104120" y="4727448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2.46x</a:t>
            </a:r>
            <a:endParaRPr lang="en-US" sz="2300" dirty="0"/>
          </a:p>
          <a:p>
            <a:pPr algn="ctr" indent="0" marL="0">
              <a:buNone/>
            </a:pPr>
            <a:r>
              <a:rPr lang="en-US" sz="800" spc="100" kern="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MOIC</a:t>
            </a:r>
            <a:endParaRPr lang="en-US" sz="2300" dirty="0"/>
          </a:p>
        </p:txBody>
      </p:sp>
      <p:sp>
        <p:nvSpPr>
          <p:cNvPr id="29" name="Text 26"/>
          <p:cNvSpPr/>
          <p:nvPr/>
        </p:nvSpPr>
        <p:spPr>
          <a:xfrm>
            <a:off x="10104120" y="544068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7D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19.7%</a:t>
            </a:r>
            <a:endParaRPr lang="en-US" sz="1600" dirty="0"/>
          </a:p>
          <a:p>
            <a:pPr algn="ctr" indent="0" marL="0">
              <a:buNone/>
            </a:pPr>
            <a:r>
              <a:rPr lang="en-US" sz="800" spc="100" kern="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Measure  ·  Strictly Private &amp; Confidential</a:t>
            </a:r>
            <a:endParaRPr lang="en-US" sz="850" dirty="0"/>
          </a:p>
        </p:txBody>
      </p:sp>
      <p:sp>
        <p:nvSpPr>
          <p:cNvPr id="31" name="Text 28"/>
          <p:cNvSpPr/>
          <p:nvPr/>
        </p:nvSpPr>
        <p:spPr>
          <a:xfrm>
            <a:off x="11338560" y="64556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20624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78992" y="365760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Value-Up Theses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097280" y="914400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levers that could lift returns if the investigation clears — none is fully underwritable pre-DD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5468112" cy="2212848"/>
          </a:xfrm>
          <a:prstGeom prst="roundRect">
            <a:avLst>
              <a:gd name="adj" fmla="val 3719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1709928"/>
            <a:ext cx="713232" cy="713232"/>
          </a:xfrm>
          <a:prstGeom prst="ellipse">
            <a:avLst/>
          </a:prstGeom>
          <a:solidFill>
            <a:srgbClr val="C8A951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0" descr="assets/coins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8400" y="1895368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737360" y="1655064"/>
            <a:ext cx="4096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Balance-sheet optimisation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841248" y="2532888"/>
            <a:ext cx="49011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06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the ~¥4.1bn net cash and monetise investment securities. Excess cash reduces headline EV but does not make this a classic leverage-driven LBO — sponsor equity stays high at ~¥9.0bn because debt capacity is constrained. Cash extraction is subject to legal, operating, lender and investigation-related DD.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41248" y="3246120"/>
            <a:ext cx="164592" cy="164592"/>
          </a:xfrm>
          <a:prstGeom prst="roundRect">
            <a:avLst>
              <a:gd name="adj" fmla="val 16667"/>
            </a:avLst>
          </a:prstGeom>
          <a:solidFill>
            <a:srgbClr val="C8A951"/>
          </a:solidFill>
          <a:ln/>
        </p:spPr>
      </p:sp>
      <p:sp>
        <p:nvSpPr>
          <p:cNvPr id="11" name="Text 8"/>
          <p:cNvSpPr/>
          <p:nvPr/>
        </p:nvSpPr>
        <p:spPr>
          <a:xfrm>
            <a:off x="1078992" y="3172968"/>
            <a:ext cx="4736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i="1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Important but DD-dependent lever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172200" y="1417320"/>
            <a:ext cx="5468112" cy="2212848"/>
          </a:xfrm>
          <a:prstGeom prst="roundRect">
            <a:avLst>
              <a:gd name="adj" fmla="val 3719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446520" y="1709928"/>
            <a:ext cx="713232" cy="713232"/>
          </a:xfrm>
          <a:prstGeom prst="ellipse">
            <a:avLst/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pic>
        <p:nvPicPr>
          <p:cNvPr id="14" name="Image 1" descr="assets/chart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1960" y="1895368"/>
            <a:ext cx="342351" cy="342351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360920" y="1655064"/>
            <a:ext cx="4096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Margin expansion</a:t>
            </a:r>
            <a:endParaRPr lang="en-US" sz="1450" dirty="0"/>
          </a:p>
        </p:txBody>
      </p:sp>
      <p:sp>
        <p:nvSpPr>
          <p:cNvPr id="16" name="Text 12"/>
          <p:cNvSpPr/>
          <p:nvPr/>
        </p:nvSpPr>
        <p:spPr>
          <a:xfrm>
            <a:off x="6464808" y="2532888"/>
            <a:ext cx="49011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06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Rationalise group overhead and lift the software mix; turn around or partner the loss-making Mobility unit to move blended operating margin from ~8% toward 12%+.</a:t>
            </a:r>
            <a:endParaRPr lang="en-US" sz="1060" dirty="0"/>
          </a:p>
        </p:txBody>
      </p:sp>
      <p:sp>
        <p:nvSpPr>
          <p:cNvPr id="17" name="Shape 13"/>
          <p:cNvSpPr/>
          <p:nvPr/>
        </p:nvSpPr>
        <p:spPr>
          <a:xfrm>
            <a:off x="6464808" y="3246120"/>
            <a:ext cx="164592" cy="164592"/>
          </a:xfrm>
          <a:prstGeom prst="roundRect">
            <a:avLst>
              <a:gd name="adj" fmla="val 16667"/>
            </a:avLst>
          </a:prstGeom>
          <a:solidFill>
            <a:srgbClr val="1E2761"/>
          </a:solidFill>
          <a:ln/>
        </p:spPr>
      </p:sp>
      <p:sp>
        <p:nvSpPr>
          <p:cNvPr id="18" name="Text 14"/>
          <p:cNvSpPr/>
          <p:nvPr/>
        </p:nvSpPr>
        <p:spPr>
          <a:xfrm>
            <a:off x="6702552" y="3172968"/>
            <a:ext cx="4736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control, phased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548640" y="3767328"/>
            <a:ext cx="5468112" cy="2212848"/>
          </a:xfrm>
          <a:prstGeom prst="roundRect">
            <a:avLst>
              <a:gd name="adj" fmla="val 3719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822960" y="4059936"/>
            <a:ext cx="713232" cy="713232"/>
          </a:xfrm>
          <a:prstGeom prst="ellipse">
            <a:avLst/>
          </a:prstGeom>
          <a:solidFill>
            <a:srgbClr val="2A3470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pic>
        <p:nvPicPr>
          <p:cNvPr id="21" name="Image 2" descr="assets/road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8400" y="4245376"/>
            <a:ext cx="342351" cy="342351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1737360" y="4005072"/>
            <a:ext cx="4096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Strategic re-rating of optionality</a:t>
            </a:r>
            <a:endParaRPr lang="en-US" sz="1450" dirty="0"/>
          </a:p>
        </p:txBody>
      </p:sp>
      <p:sp>
        <p:nvSpPr>
          <p:cNvPr id="23" name="Text 18"/>
          <p:cNvSpPr/>
          <p:nvPr/>
        </p:nvSpPr>
        <p:spPr>
          <a:xfrm>
            <a:off x="841248" y="4882896"/>
            <a:ext cx="49011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06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Professionalise and scale the HD-map / Level-4 franchise into a separately valuable asset, supporting an exit to an auto OEM, map consolidator or geospatial buyer at a premium multiple.</a:t>
            </a:r>
            <a:endParaRPr lang="en-US" sz="1060" dirty="0"/>
          </a:p>
        </p:txBody>
      </p:sp>
      <p:sp>
        <p:nvSpPr>
          <p:cNvPr id="24" name="Shape 19"/>
          <p:cNvSpPr/>
          <p:nvPr/>
        </p:nvSpPr>
        <p:spPr>
          <a:xfrm>
            <a:off x="841248" y="5596128"/>
            <a:ext cx="164592" cy="164592"/>
          </a:xfrm>
          <a:prstGeom prst="roundRect">
            <a:avLst>
              <a:gd name="adj" fmla="val 16667"/>
            </a:avLst>
          </a:prstGeom>
          <a:solidFill>
            <a:srgbClr val="2A3470"/>
          </a:solidFill>
          <a:ln/>
        </p:spPr>
      </p:sp>
      <p:sp>
        <p:nvSpPr>
          <p:cNvPr id="25" name="Text 20"/>
          <p:cNvSpPr/>
          <p:nvPr/>
        </p:nvSpPr>
        <p:spPr>
          <a:xfrm>
            <a:off x="1078992" y="5522976"/>
            <a:ext cx="4736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i="1" dirty="0">
                <a:solidFill>
                  <a:srgbClr val="2A3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risk, higher reward</a:t>
            </a:r>
            <a:endParaRPr lang="en-US" sz="950" dirty="0"/>
          </a:p>
        </p:txBody>
      </p:sp>
      <p:sp>
        <p:nvSpPr>
          <p:cNvPr id="26" name="Shape 21"/>
          <p:cNvSpPr/>
          <p:nvPr/>
        </p:nvSpPr>
        <p:spPr>
          <a:xfrm>
            <a:off x="6172200" y="3767328"/>
            <a:ext cx="5468112" cy="2212848"/>
          </a:xfrm>
          <a:prstGeom prst="roundRect">
            <a:avLst>
              <a:gd name="adj" fmla="val 3719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6446520" y="4059936"/>
            <a:ext cx="713232" cy="713232"/>
          </a:xfrm>
          <a:prstGeom prst="ellipse">
            <a:avLst/>
          </a:prstGeom>
          <a:solidFill>
            <a:srgbClr val="2E7D52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pic>
        <p:nvPicPr>
          <p:cNvPr id="28" name="Image 3" descr="assets/shield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1960" y="4245376"/>
            <a:ext cx="342351" cy="342351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7360920" y="4005072"/>
            <a:ext cx="4096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Defensive compounding</a:t>
            </a:r>
            <a:endParaRPr lang="en-US" sz="1450" dirty="0"/>
          </a:p>
        </p:txBody>
      </p:sp>
      <p:sp>
        <p:nvSpPr>
          <p:cNvPr id="30" name="Text 24"/>
          <p:cNvSpPr/>
          <p:nvPr/>
        </p:nvSpPr>
        <p:spPr>
          <a:xfrm>
            <a:off x="6464808" y="4882896"/>
            <a:ext cx="49011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06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and grow the recurring public-sector software base through i-Construction and national 3D-data tailwinds — the floor under every scenario.</a:t>
            </a:r>
            <a:endParaRPr lang="en-US" sz="1060" dirty="0"/>
          </a:p>
        </p:txBody>
      </p:sp>
      <p:sp>
        <p:nvSpPr>
          <p:cNvPr id="31" name="Shape 25"/>
          <p:cNvSpPr/>
          <p:nvPr/>
        </p:nvSpPr>
        <p:spPr>
          <a:xfrm>
            <a:off x="6464808" y="5596128"/>
            <a:ext cx="164592" cy="164592"/>
          </a:xfrm>
          <a:prstGeom prst="roundRect">
            <a:avLst>
              <a:gd name="adj" fmla="val 16667"/>
            </a:avLst>
          </a:prstGeom>
          <a:solidFill>
            <a:srgbClr val="2E7D52"/>
          </a:solidFill>
          <a:ln/>
        </p:spPr>
      </p:sp>
      <p:sp>
        <p:nvSpPr>
          <p:cNvPr id="32" name="Text 26"/>
          <p:cNvSpPr/>
          <p:nvPr/>
        </p:nvSpPr>
        <p:spPr>
          <a:xfrm>
            <a:off x="6702552" y="5522976"/>
            <a:ext cx="4736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i="1" dirty="0">
                <a:solidFill>
                  <a:srgbClr val="2E7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Downside protection</a:t>
            </a:r>
            <a:endParaRPr lang="en-US" sz="950" dirty="0"/>
          </a:p>
        </p:txBody>
      </p:sp>
      <p:sp>
        <p:nvSpPr>
          <p:cNvPr id="33" name="Text 27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Measure  ·  Strictly Private &amp; Confidential</a:t>
            </a:r>
            <a:endParaRPr lang="en-US" sz="850" dirty="0"/>
          </a:p>
        </p:txBody>
      </p:sp>
      <p:sp>
        <p:nvSpPr>
          <p:cNvPr id="34" name="Text 28"/>
          <p:cNvSpPr/>
          <p:nvPr/>
        </p:nvSpPr>
        <p:spPr>
          <a:xfrm>
            <a:off x="11338560" y="64556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20624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78992" y="365760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Risks &amp; Diligence Checklist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097280" y="914400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must be verified before committing capital in the next phase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5468112" cy="4617720"/>
          </a:xfrm>
          <a:prstGeom prst="roundRect">
            <a:avLst>
              <a:gd name="adj" fmla="val 1782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417320"/>
            <a:ext cx="5468112" cy="566928"/>
          </a:xfrm>
          <a:prstGeom prst="roundRect">
            <a:avLst>
              <a:gd name="adj" fmla="val 14516"/>
            </a:avLst>
          </a:prstGeom>
          <a:solidFill>
            <a:srgbClr val="B5462F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1783080"/>
            <a:ext cx="5468112" cy="201168"/>
          </a:xfrm>
          <a:prstGeom prst="rect">
            <a:avLst/>
          </a:prstGeom>
          <a:solidFill>
            <a:srgbClr val="B5462F"/>
          </a:solidFill>
          <a:ln/>
        </p:spPr>
      </p:sp>
      <p:sp>
        <p:nvSpPr>
          <p:cNvPr id="8" name="Shape 6"/>
          <p:cNvSpPr/>
          <p:nvPr/>
        </p:nvSpPr>
        <p:spPr>
          <a:xfrm>
            <a:off x="777240" y="1481328"/>
            <a:ext cx="420624" cy="420624"/>
          </a:xfrm>
          <a:prstGeom prst="ellipse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pic>
        <p:nvPicPr>
          <p:cNvPr id="9" name="Image 0" descr="assets/warning_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602" y="1590690"/>
            <a:ext cx="201900" cy="2019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325880" y="1481328"/>
            <a:ext cx="4114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RISKS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68680" y="2240280"/>
            <a:ext cx="128016" cy="128016"/>
          </a:xfrm>
          <a:prstGeom prst="ellipse">
            <a:avLst/>
          </a:prstGeom>
          <a:solidFill>
            <a:srgbClr val="B5462F"/>
          </a:solidFill>
          <a:ln/>
        </p:spPr>
      </p:sp>
      <p:sp>
        <p:nvSpPr>
          <p:cNvPr id="12" name="Text 9"/>
          <p:cNvSpPr/>
          <p:nvPr/>
        </p:nvSpPr>
        <p:spPr>
          <a:xfrm>
            <a:off x="1115568" y="215798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Subsidiary fraud probe (GATING)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1115568" y="2432304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4A5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committee at 100%-sub Akisoku — suspected forgery, concealment &amp; unpaid debt; FY26 impact undetermined and financials may be restated.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868680" y="3017520"/>
            <a:ext cx="128016" cy="128016"/>
          </a:xfrm>
          <a:prstGeom prst="ellipse">
            <a:avLst/>
          </a:prstGeom>
          <a:solidFill>
            <a:srgbClr val="B5462F"/>
          </a:solidFill>
          <a:ln/>
        </p:spPr>
      </p:sp>
      <p:sp>
        <p:nvSpPr>
          <p:cNvPr id="15" name="Text 12"/>
          <p:cNvSpPr/>
          <p:nvPr/>
        </p:nvSpPr>
        <p:spPr>
          <a:xfrm>
            <a:off x="1115568" y="293522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Seasonality / cash burn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1115568" y="3209544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4A5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Q4-loaded revenue and a Q1–Q3 working-capital draw complicate debt service timing.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68680" y="3794760"/>
            <a:ext cx="128016" cy="128016"/>
          </a:xfrm>
          <a:prstGeom prst="ellipse">
            <a:avLst/>
          </a:prstGeom>
          <a:solidFill>
            <a:srgbClr val="B5462F"/>
          </a:solidFill>
          <a:ln/>
        </p:spPr>
      </p:sp>
      <p:sp>
        <p:nvSpPr>
          <p:cNvPr id="18" name="Text 15"/>
          <p:cNvSpPr/>
          <p:nvPr/>
        </p:nvSpPr>
        <p:spPr>
          <a:xfrm>
            <a:off x="1115568" y="371246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Mobility losses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1115568" y="3986784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4A5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growth segment is not yet profitable; turnaround timing and capital needs are uncertain.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868680" y="4572000"/>
            <a:ext cx="128016" cy="128016"/>
          </a:xfrm>
          <a:prstGeom prst="ellipse">
            <a:avLst/>
          </a:prstGeom>
          <a:solidFill>
            <a:srgbClr val="B5462F"/>
          </a:solidFill>
          <a:ln/>
        </p:spPr>
      </p:sp>
      <p:sp>
        <p:nvSpPr>
          <p:cNvPr id="21" name="Text 18"/>
          <p:cNvSpPr/>
          <p:nvPr/>
        </p:nvSpPr>
        <p:spPr>
          <a:xfrm>
            <a:off x="1115568" y="448970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Public-budget reliance &amp; float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1115568" y="4764024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4A5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tied to government budgets; thin TSE Standard float and minority protections.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868680" y="5349240"/>
            <a:ext cx="128016" cy="128016"/>
          </a:xfrm>
          <a:prstGeom prst="ellipse">
            <a:avLst/>
          </a:prstGeom>
          <a:solidFill>
            <a:srgbClr val="B5462F"/>
          </a:solidFill>
          <a:ln/>
        </p:spPr>
      </p:sp>
      <p:sp>
        <p:nvSpPr>
          <p:cNvPr id="24" name="Text 21"/>
          <p:cNvSpPr/>
          <p:nvPr/>
        </p:nvSpPr>
        <p:spPr>
          <a:xfrm>
            <a:off x="1115568" y="526694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Sub-hurdle returns</a:t>
            </a:r>
            <a:endParaRPr lang="en-US" sz="1150" dirty="0"/>
          </a:p>
        </p:txBody>
      </p:sp>
      <p:sp>
        <p:nvSpPr>
          <p:cNvPr id="25" name="Text 22"/>
          <p:cNvSpPr/>
          <p:nvPr/>
        </p:nvSpPr>
        <p:spPr>
          <a:xfrm>
            <a:off x="1115568" y="5541264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4A5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pre-restatement, corrected base IRR ~14% (upside ~20%) is below a typical PE hurdle.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6172200" y="1417320"/>
            <a:ext cx="5468112" cy="4617720"/>
          </a:xfrm>
          <a:prstGeom prst="roundRect">
            <a:avLst>
              <a:gd name="adj" fmla="val 1782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6172200" y="1417320"/>
            <a:ext cx="5468112" cy="566928"/>
          </a:xfrm>
          <a:prstGeom prst="roundRect">
            <a:avLst>
              <a:gd name="adj" fmla="val 14516"/>
            </a:avLst>
          </a:prstGeom>
          <a:solidFill>
            <a:srgbClr val="2E7D52"/>
          </a:solidFill>
          <a:ln/>
        </p:spPr>
      </p:sp>
      <p:sp>
        <p:nvSpPr>
          <p:cNvPr id="28" name="Shape 25"/>
          <p:cNvSpPr/>
          <p:nvPr/>
        </p:nvSpPr>
        <p:spPr>
          <a:xfrm>
            <a:off x="6172200" y="1783080"/>
            <a:ext cx="5468112" cy="201168"/>
          </a:xfrm>
          <a:prstGeom prst="rect">
            <a:avLst/>
          </a:prstGeom>
          <a:solidFill>
            <a:srgbClr val="2E7D52"/>
          </a:solidFill>
          <a:ln/>
        </p:spPr>
      </p:sp>
      <p:sp>
        <p:nvSpPr>
          <p:cNvPr id="29" name="Shape 26"/>
          <p:cNvSpPr/>
          <p:nvPr/>
        </p:nvSpPr>
        <p:spPr>
          <a:xfrm>
            <a:off x="6400800" y="1481328"/>
            <a:ext cx="420624" cy="420624"/>
          </a:xfrm>
          <a:prstGeom prst="ellipse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pic>
        <p:nvPicPr>
          <p:cNvPr id="30" name="Image 1" descr="assets/clipboard_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0162" y="1590690"/>
            <a:ext cx="201900" cy="201900"/>
          </a:xfrm>
          <a:prstGeom prst="rect">
            <a:avLst/>
          </a:prstGeom>
        </p:spPr>
      </p:pic>
      <p:sp>
        <p:nvSpPr>
          <p:cNvPr id="31" name="Text 27"/>
          <p:cNvSpPr/>
          <p:nvPr/>
        </p:nvSpPr>
        <p:spPr>
          <a:xfrm>
            <a:off x="6949440" y="1481328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PRIORITY DD ITEMS</a:t>
            </a:r>
            <a:endParaRPr lang="en-US" sz="1500" dirty="0"/>
          </a:p>
        </p:txBody>
      </p:sp>
      <p:pic>
        <p:nvPicPr>
          <p:cNvPr id="32" name="Image 2" descr="assets/check_nav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4808" y="2194560"/>
            <a:ext cx="182880" cy="182880"/>
          </a:xfrm>
          <a:prstGeom prst="rect">
            <a:avLst/>
          </a:prstGeom>
        </p:spPr>
      </p:pic>
      <p:sp>
        <p:nvSpPr>
          <p:cNvPr id="33" name="Text 28"/>
          <p:cNvSpPr/>
          <p:nvPr/>
        </p:nvSpPr>
        <p:spPr>
          <a:xfrm>
            <a:off x="6739128" y="213055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Special-investigation findings, scope &amp; quantified FY26 impact / restatement</a:t>
            </a:r>
            <a:endParaRPr lang="en-US" sz="1060" dirty="0"/>
          </a:p>
        </p:txBody>
      </p:sp>
      <p:pic>
        <p:nvPicPr>
          <p:cNvPr id="34" name="Image 3" descr="assets/check_nav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4808" y="2674620"/>
            <a:ext cx="182880" cy="182880"/>
          </a:xfrm>
          <a:prstGeom prst="rect">
            <a:avLst/>
          </a:prstGeom>
        </p:spPr>
      </p:pic>
      <p:sp>
        <p:nvSpPr>
          <p:cNvPr id="35" name="Text 29"/>
          <p:cNvSpPr/>
          <p:nvPr/>
        </p:nvSpPr>
        <p:spPr>
          <a:xfrm>
            <a:off x="6739128" y="261061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issues extend beyond Akisoku — group-wide internal controls</a:t>
            </a:r>
            <a:endParaRPr lang="en-US" sz="1060" dirty="0"/>
          </a:p>
        </p:txBody>
      </p:sp>
      <p:pic>
        <p:nvPicPr>
          <p:cNvPr id="36" name="Image 4" descr="assets/check_nav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4808" y="3154680"/>
            <a:ext cx="182880" cy="182880"/>
          </a:xfrm>
          <a:prstGeom prst="rect">
            <a:avLst/>
          </a:prstGeom>
        </p:spPr>
      </p:pic>
      <p:sp>
        <p:nvSpPr>
          <p:cNvPr id="37" name="Text 30"/>
          <p:cNvSpPr/>
          <p:nvPr/>
        </p:nvSpPr>
        <p:spPr>
          <a:xfrm>
            <a:off x="6739128" y="309067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current cap table &amp; founder-family intent on an MBO / roll-over</a:t>
            </a:r>
            <a:endParaRPr lang="en-US" sz="1060" dirty="0"/>
          </a:p>
        </p:txBody>
      </p:sp>
      <p:pic>
        <p:nvPicPr>
          <p:cNvPr id="38" name="Image 5" descr="assets/check_navy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64808" y="3634740"/>
            <a:ext cx="182880" cy="182880"/>
          </a:xfrm>
          <a:prstGeom prst="rect">
            <a:avLst/>
          </a:prstGeom>
        </p:spPr>
      </p:pic>
      <p:sp>
        <p:nvSpPr>
          <p:cNvPr id="39" name="Text 31"/>
          <p:cNvSpPr/>
          <p:nvPr/>
        </p:nvSpPr>
        <p:spPr>
          <a:xfrm>
            <a:off x="6739128" y="357073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cash &amp; investment-securities mark at close; distributable reserves</a:t>
            </a:r>
            <a:endParaRPr lang="en-US" sz="1060" dirty="0"/>
          </a:p>
        </p:txBody>
      </p:sp>
      <p:pic>
        <p:nvPicPr>
          <p:cNvPr id="40" name="Image 6" descr="assets/check_navy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64808" y="4114800"/>
            <a:ext cx="182880" cy="182880"/>
          </a:xfrm>
          <a:prstGeom prst="rect">
            <a:avLst/>
          </a:prstGeom>
        </p:spPr>
      </p:pic>
      <p:sp>
        <p:nvSpPr>
          <p:cNvPr id="41" name="Text 32"/>
          <p:cNvSpPr/>
          <p:nvPr/>
        </p:nvSpPr>
        <p:spPr>
          <a:xfrm>
            <a:off x="6739128" y="405079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Mobility / DX standalone P&amp;L and a credible path to breakeven</a:t>
            </a:r>
            <a:endParaRPr lang="en-US" sz="1060" dirty="0"/>
          </a:p>
        </p:txBody>
      </p:sp>
      <p:pic>
        <p:nvPicPr>
          <p:cNvPr id="42" name="Image 7" descr="assets/check_navy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64808" y="4594860"/>
            <a:ext cx="182880" cy="182880"/>
          </a:xfrm>
          <a:prstGeom prst="rect">
            <a:avLst/>
          </a:prstGeom>
        </p:spPr>
      </p:pic>
      <p:sp>
        <p:nvSpPr>
          <p:cNvPr id="43" name="Text 33"/>
          <p:cNvSpPr/>
          <p:nvPr/>
        </p:nvSpPr>
        <p:spPr>
          <a:xfrm>
            <a:off x="6739128" y="453085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Public-revenue backlog, contract terms and budget sensitivity</a:t>
            </a:r>
            <a:endParaRPr lang="en-US" sz="1060" dirty="0"/>
          </a:p>
        </p:txBody>
      </p:sp>
      <p:pic>
        <p:nvPicPr>
          <p:cNvPr id="44" name="Image 8" descr="assets/check_navy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64808" y="5074920"/>
            <a:ext cx="182880" cy="182880"/>
          </a:xfrm>
          <a:prstGeom prst="rect">
            <a:avLst/>
          </a:prstGeom>
        </p:spPr>
      </p:pic>
      <p:sp>
        <p:nvSpPr>
          <p:cNvPr id="45" name="Text 34"/>
          <p:cNvSpPr/>
          <p:nvPr/>
        </p:nvSpPr>
        <p:spPr>
          <a:xfrm>
            <a:off x="6739128" y="501091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of earnings on Q4-loaded revenue recognition; software cap. policy</a:t>
            </a:r>
            <a:endParaRPr lang="en-US" sz="1060" dirty="0"/>
          </a:p>
        </p:txBody>
      </p:sp>
      <p:pic>
        <p:nvPicPr>
          <p:cNvPr id="46" name="Image 9" descr="assets/check_navy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64808" y="5554980"/>
            <a:ext cx="182880" cy="182880"/>
          </a:xfrm>
          <a:prstGeom prst="rect">
            <a:avLst/>
          </a:prstGeom>
        </p:spPr>
      </p:pic>
      <p:sp>
        <p:nvSpPr>
          <p:cNvPr id="47" name="Text 35"/>
          <p:cNvSpPr/>
          <p:nvPr/>
        </p:nvSpPr>
        <p:spPr>
          <a:xfrm>
            <a:off x="6739128" y="549097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Lender appetite &amp; debt capacity given the seasonal cash profile</a:t>
            </a:r>
            <a:endParaRPr lang="en-US" sz="1060" dirty="0"/>
          </a:p>
        </p:txBody>
      </p:sp>
      <p:sp>
        <p:nvSpPr>
          <p:cNvPr id="48" name="Text 36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Measure  ·  Strictly Private &amp; Confidential</a:t>
            </a:r>
            <a:endParaRPr lang="en-US" sz="850" dirty="0"/>
          </a:p>
        </p:txBody>
      </p:sp>
      <p:sp>
        <p:nvSpPr>
          <p:cNvPr id="49" name="Text 37"/>
          <p:cNvSpPr/>
          <p:nvPr/>
        </p:nvSpPr>
        <p:spPr>
          <a:xfrm>
            <a:off x="11338560" y="64556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20624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78992" y="365760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Gating Item — Subsidiary Probe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097280" y="914400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unresolved fraud probe at a 100%-owned subsidiary overrides the investment case until cleared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6126480" cy="4617720"/>
          </a:xfrm>
          <a:prstGeom prst="roundRect">
            <a:avLst>
              <a:gd name="adj" fmla="val 1782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591056"/>
            <a:ext cx="457200" cy="457200"/>
          </a:xfrm>
          <a:prstGeom prst="ellipse">
            <a:avLst/>
          </a:prstGeom>
          <a:solidFill>
            <a:srgbClr val="B5462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0" descr="assets/warning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1709928"/>
            <a:ext cx="219456" cy="2194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1664208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B54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HAPPENED — AKISOKU (有限会社秋測)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886968" y="2276856"/>
            <a:ext cx="146304" cy="146304"/>
          </a:xfrm>
          <a:prstGeom prst="ellipse">
            <a:avLst/>
          </a:prstGeom>
          <a:solidFill>
            <a:srgbClr val="C8A951"/>
          </a:solidFill>
          <a:ln/>
        </p:spPr>
      </p:sp>
      <p:sp>
        <p:nvSpPr>
          <p:cNvPr id="10" name="Shape 7"/>
          <p:cNvSpPr/>
          <p:nvPr/>
        </p:nvSpPr>
        <p:spPr>
          <a:xfrm>
            <a:off x="960120" y="2423160"/>
            <a:ext cx="0" cy="457200"/>
          </a:xfrm>
          <a:prstGeom prst="line">
            <a:avLst/>
          </a:prstGeom>
          <a:noFill/>
          <a:ln w="19050">
            <a:solidFill>
              <a:srgbClr val="DDE3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43000" y="2203704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 2024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2880360" y="2203704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3000"/>
              </a:lnSpc>
              <a:buNone/>
            </a:pPr>
            <a:r>
              <a:rPr lang="en-US" sz="97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AISAN acquires 100% of Akisoku, an Akita-based survey-instrument sales / repair firm.</a:t>
            </a:r>
            <a:endParaRPr lang="en-US" sz="970" dirty="0"/>
          </a:p>
        </p:txBody>
      </p:sp>
      <p:sp>
        <p:nvSpPr>
          <p:cNvPr id="13" name="Shape 10"/>
          <p:cNvSpPr/>
          <p:nvPr/>
        </p:nvSpPr>
        <p:spPr>
          <a:xfrm>
            <a:off x="886968" y="2907792"/>
            <a:ext cx="146304" cy="146304"/>
          </a:xfrm>
          <a:prstGeom prst="ellipse">
            <a:avLst/>
          </a:prstGeom>
          <a:solidFill>
            <a:srgbClr val="C8A951"/>
          </a:solidFill>
          <a:ln/>
        </p:spPr>
      </p:sp>
      <p:sp>
        <p:nvSpPr>
          <p:cNvPr id="14" name="Shape 11"/>
          <p:cNvSpPr/>
          <p:nvPr/>
        </p:nvSpPr>
        <p:spPr>
          <a:xfrm>
            <a:off x="960120" y="3054096"/>
            <a:ext cx="0" cy="457200"/>
          </a:xfrm>
          <a:prstGeom prst="line">
            <a:avLst/>
          </a:prstGeom>
          <a:noFill/>
          <a:ln w="19050">
            <a:solidFill>
              <a:srgbClr val="DDE3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143000" y="283464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Mar 2026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2880360" y="283464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3000"/>
              </a:lnSpc>
              <a:buNone/>
            </a:pPr>
            <a:r>
              <a:rPr lang="en-US" sz="97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supplier queries unpaid debt at the subsidiary's marketing centre (Ueda, Nagano) — the trigger.</a:t>
            </a:r>
            <a:endParaRPr lang="en-US" sz="970" dirty="0"/>
          </a:p>
        </p:txBody>
      </p:sp>
      <p:sp>
        <p:nvSpPr>
          <p:cNvPr id="17" name="Shape 14"/>
          <p:cNvSpPr/>
          <p:nvPr/>
        </p:nvSpPr>
        <p:spPr>
          <a:xfrm>
            <a:off x="886968" y="3538728"/>
            <a:ext cx="146304" cy="146304"/>
          </a:xfrm>
          <a:prstGeom prst="ellipse">
            <a:avLst/>
          </a:prstGeom>
          <a:solidFill>
            <a:srgbClr val="C8A951"/>
          </a:solidFill>
          <a:ln/>
        </p:spPr>
      </p:sp>
      <p:sp>
        <p:nvSpPr>
          <p:cNvPr id="18" name="Shape 15"/>
          <p:cNvSpPr/>
          <p:nvPr/>
        </p:nvSpPr>
        <p:spPr>
          <a:xfrm>
            <a:off x="960120" y="3685032"/>
            <a:ext cx="0" cy="457200"/>
          </a:xfrm>
          <a:prstGeom prst="line">
            <a:avLst/>
          </a:prstGeom>
          <a:noFill/>
          <a:ln w="19050">
            <a:solidFill>
              <a:srgbClr val="DDE3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143000" y="3465576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review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2880360" y="3465576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3000"/>
              </a:lnSpc>
              <a:buNone/>
            </a:pPr>
            <a:r>
              <a:rPr lang="en-US" sz="97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Suspected improper transactions by a subsidiary director; forgery &amp; concealment of documents.</a:t>
            </a:r>
            <a:endParaRPr lang="en-US" sz="970" dirty="0"/>
          </a:p>
        </p:txBody>
      </p:sp>
      <p:sp>
        <p:nvSpPr>
          <p:cNvPr id="21" name="Shape 18"/>
          <p:cNvSpPr/>
          <p:nvPr/>
        </p:nvSpPr>
        <p:spPr>
          <a:xfrm>
            <a:off x="886968" y="4169664"/>
            <a:ext cx="146304" cy="146304"/>
          </a:xfrm>
          <a:prstGeom prst="ellipse">
            <a:avLst/>
          </a:prstGeom>
          <a:solidFill>
            <a:srgbClr val="C8A951"/>
          </a:solidFill>
          <a:ln/>
        </p:spPr>
      </p:sp>
      <p:sp>
        <p:nvSpPr>
          <p:cNvPr id="22" name="Shape 19"/>
          <p:cNvSpPr/>
          <p:nvPr/>
        </p:nvSpPr>
        <p:spPr>
          <a:xfrm>
            <a:off x="960120" y="4315968"/>
            <a:ext cx="0" cy="457200"/>
          </a:xfrm>
          <a:prstGeom prst="line">
            <a:avLst/>
          </a:prstGeom>
          <a:noFill/>
          <a:ln w="19050">
            <a:solidFill>
              <a:srgbClr val="DDE3F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143000" y="409651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Widening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2880360" y="4096512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3000"/>
              </a:lnSpc>
              <a:buNone/>
            </a:pPr>
            <a:r>
              <a:rPr lang="en-US" sz="97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Further forged documents and concealment of inventory losses / unpaid debts identified.</a:t>
            </a:r>
            <a:endParaRPr lang="en-US" sz="970" dirty="0"/>
          </a:p>
        </p:txBody>
      </p:sp>
      <p:sp>
        <p:nvSpPr>
          <p:cNvPr id="25" name="Shape 22"/>
          <p:cNvSpPr/>
          <p:nvPr/>
        </p:nvSpPr>
        <p:spPr>
          <a:xfrm>
            <a:off x="886968" y="4800600"/>
            <a:ext cx="146304" cy="146304"/>
          </a:xfrm>
          <a:prstGeom prst="ellipse">
            <a:avLst/>
          </a:prstGeom>
          <a:solidFill>
            <a:srgbClr val="B5462F"/>
          </a:solidFill>
          <a:ln/>
        </p:spPr>
      </p:sp>
      <p:sp>
        <p:nvSpPr>
          <p:cNvPr id="26" name="Shape 23"/>
          <p:cNvSpPr/>
          <p:nvPr/>
        </p:nvSpPr>
        <p:spPr>
          <a:xfrm>
            <a:off x="960120" y="4946904"/>
            <a:ext cx="0" cy="457200"/>
          </a:xfrm>
          <a:prstGeom prst="line">
            <a:avLst/>
          </a:prstGeom>
          <a:noFill/>
          <a:ln w="19050">
            <a:solidFill>
              <a:srgbClr val="DDE3F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143000" y="472744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Apr 2026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2880360" y="4727448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3000"/>
              </a:lnSpc>
              <a:buNone/>
            </a:pPr>
            <a:r>
              <a:rPr lang="en-US" sz="97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Investigation Committee established (external lawyer + CPAs, outside directors / auditors).</a:t>
            </a:r>
            <a:endParaRPr lang="en-US" sz="970" dirty="0"/>
          </a:p>
        </p:txBody>
      </p:sp>
      <p:sp>
        <p:nvSpPr>
          <p:cNvPr id="29" name="Shape 26"/>
          <p:cNvSpPr/>
          <p:nvPr/>
        </p:nvSpPr>
        <p:spPr>
          <a:xfrm>
            <a:off x="886968" y="5431536"/>
            <a:ext cx="146304" cy="146304"/>
          </a:xfrm>
          <a:prstGeom prst="ellipse">
            <a:avLst/>
          </a:prstGeom>
          <a:solidFill>
            <a:srgbClr val="C8A951"/>
          </a:solidFill>
          <a:ln/>
        </p:spPr>
      </p:sp>
      <p:sp>
        <p:nvSpPr>
          <p:cNvPr id="30" name="Text 27"/>
          <p:cNvSpPr/>
          <p:nvPr/>
        </p:nvSpPr>
        <p:spPr>
          <a:xfrm>
            <a:off x="1143000" y="5358384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2880360" y="5358384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3000"/>
              </a:lnSpc>
              <a:buNone/>
            </a:pPr>
            <a:r>
              <a:rPr lang="en-US" sz="97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Shares fell sharply to a year-low (~¥1,643) on the disclosure; FY26 impact undetermined.</a:t>
            </a:r>
            <a:endParaRPr lang="en-US" sz="970" dirty="0"/>
          </a:p>
        </p:txBody>
      </p:sp>
      <p:sp>
        <p:nvSpPr>
          <p:cNvPr id="32" name="Shape 29"/>
          <p:cNvSpPr/>
          <p:nvPr/>
        </p:nvSpPr>
        <p:spPr>
          <a:xfrm>
            <a:off x="6903720" y="1417320"/>
            <a:ext cx="4736592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p:spPr>
      </p:sp>
      <p:sp>
        <p:nvSpPr>
          <p:cNvPr id="33" name="Text 30"/>
          <p:cNvSpPr/>
          <p:nvPr/>
        </p:nvSpPr>
        <p:spPr>
          <a:xfrm>
            <a:off x="7178040" y="157276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IS A GATING ITEM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7196328" y="1920240"/>
            <a:ext cx="4297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consolidated impact undetermined — guidance and entry EBITDA may be restated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'unaffected' price is already fraud-depressed — premium must re-base on a clean price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Forgery at a recently-bought subsidiary signals weak group controls &amp; integration DD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Outcome, scope and any filing delay unknown as of Jun 2026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6903720" y="3794760"/>
            <a:ext cx="4736592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903720" y="3794760"/>
            <a:ext cx="4736592" cy="457200"/>
          </a:xfrm>
          <a:prstGeom prst="roundRect">
            <a:avLst>
              <a:gd name="adj" fmla="val 18000"/>
            </a:avLst>
          </a:prstGeom>
          <a:solidFill>
            <a:srgbClr val="1E2761"/>
          </a:solidFill>
          <a:ln/>
        </p:spPr>
      </p:sp>
      <p:sp>
        <p:nvSpPr>
          <p:cNvPr id="37" name="Shape 34"/>
          <p:cNvSpPr/>
          <p:nvPr/>
        </p:nvSpPr>
        <p:spPr>
          <a:xfrm>
            <a:off x="6903720" y="4069080"/>
            <a:ext cx="4736592" cy="18288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8" name="Text 35"/>
          <p:cNvSpPr/>
          <p:nvPr/>
        </p:nvSpPr>
        <p:spPr>
          <a:xfrm>
            <a:off x="7178040" y="3813048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GATE — REQUIRED BEFORE ANY BID</a:t>
            </a:r>
            <a:endParaRPr lang="en-US" sz="1250" dirty="0"/>
          </a:p>
        </p:txBody>
      </p:sp>
      <p:pic>
        <p:nvPicPr>
          <p:cNvPr id="39" name="Image 1" descr="assets/check_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6328" y="4453128"/>
            <a:ext cx="182880" cy="182880"/>
          </a:xfrm>
          <a:prstGeom prst="rect">
            <a:avLst/>
          </a:prstGeom>
        </p:spPr>
      </p:pic>
      <p:sp>
        <p:nvSpPr>
          <p:cNvPr id="40" name="Text 36"/>
          <p:cNvSpPr/>
          <p:nvPr/>
        </p:nvSpPr>
        <p:spPr>
          <a:xfrm>
            <a:off x="7470648" y="4398264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investigation report &amp; quantified financial impact</a:t>
            </a:r>
            <a:endParaRPr lang="en-US" sz="1000" dirty="0"/>
          </a:p>
        </p:txBody>
      </p:sp>
      <p:pic>
        <p:nvPicPr>
          <p:cNvPr id="41" name="Image 2" descr="assets/check_nav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6328" y="4837176"/>
            <a:ext cx="182880" cy="182880"/>
          </a:xfrm>
          <a:prstGeom prst="rect">
            <a:avLst/>
          </a:prstGeom>
        </p:spPr>
      </p:pic>
      <p:sp>
        <p:nvSpPr>
          <p:cNvPr id="42" name="Text 37"/>
          <p:cNvSpPr/>
          <p:nvPr/>
        </p:nvSpPr>
        <p:spPr>
          <a:xfrm>
            <a:off x="7470648" y="4782312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Restated / audited financial statements</a:t>
            </a:r>
            <a:endParaRPr lang="en-US" sz="1000" dirty="0"/>
          </a:p>
        </p:txBody>
      </p:sp>
      <p:pic>
        <p:nvPicPr>
          <p:cNvPr id="43" name="Image 3" descr="assets/check_nav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6328" y="5221224"/>
            <a:ext cx="182880" cy="182880"/>
          </a:xfrm>
          <a:prstGeom prst="rect">
            <a:avLst/>
          </a:prstGeom>
        </p:spPr>
      </p:pic>
      <p:sp>
        <p:nvSpPr>
          <p:cNvPr id="44" name="Text 38"/>
          <p:cNvSpPr/>
          <p:nvPr/>
        </p:nvSpPr>
        <p:spPr>
          <a:xfrm>
            <a:off x="7470648" y="5166360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the issues are contained to Akisoku</a:t>
            </a:r>
            <a:endParaRPr lang="en-US" sz="1000" dirty="0"/>
          </a:p>
        </p:txBody>
      </p:sp>
      <p:pic>
        <p:nvPicPr>
          <p:cNvPr id="45" name="Image 4" descr="assets/check_nav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96328" y="5605272"/>
            <a:ext cx="182880" cy="182880"/>
          </a:xfrm>
          <a:prstGeom prst="rect">
            <a:avLst/>
          </a:prstGeom>
        </p:spPr>
      </p:pic>
      <p:sp>
        <p:nvSpPr>
          <p:cNvPr id="46" name="Text 39"/>
          <p:cNvSpPr/>
          <p:nvPr/>
        </p:nvSpPr>
        <p:spPr>
          <a:xfrm>
            <a:off x="7470648" y="5550408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 of group-wide internal controls</a:t>
            </a:r>
            <a:endParaRPr lang="en-US" sz="1000" dirty="0"/>
          </a:p>
        </p:txBody>
      </p:sp>
      <p:sp>
        <p:nvSpPr>
          <p:cNvPr id="47" name="Text 40"/>
          <p:cNvSpPr/>
          <p:nvPr/>
        </p:nvSpPr>
        <p:spPr>
          <a:xfrm>
            <a:off x="548640" y="616305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AISAN IR (3 Apr 2026); Nikkei; Yahoo Finance JP (Apr 2026). See source appendix.</a:t>
            </a:r>
            <a:endParaRPr lang="en-US" sz="800" dirty="0"/>
          </a:p>
        </p:txBody>
      </p:sp>
      <p:sp>
        <p:nvSpPr>
          <p:cNvPr id="48" name="Text 41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Measure  ·  Strictly Private &amp; Confidential</a:t>
            </a:r>
            <a:endParaRPr lang="en-US" sz="850" dirty="0"/>
          </a:p>
        </p:txBody>
      </p:sp>
      <p:sp>
        <p:nvSpPr>
          <p:cNvPr id="49" name="Text 42"/>
          <p:cNvSpPr/>
          <p:nvPr/>
        </p:nvSpPr>
        <p:spPr>
          <a:xfrm>
            <a:off x="11338560" y="64556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11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194560" y="3291840"/>
            <a:ext cx="6400800" cy="6400800"/>
          </a:xfrm>
          <a:prstGeom prst="ellipse">
            <a:avLst/>
          </a:prstGeom>
          <a:ln w="12700">
            <a:solidFill>
              <a:srgbClr val="2A347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188720" y="4297680"/>
            <a:ext cx="4572000" cy="4572000"/>
          </a:xfrm>
          <a:prstGeom prst="ellipse">
            <a:avLst/>
          </a:prstGeom>
          <a:ln w="12700">
            <a:solidFill>
              <a:srgbClr val="C8A95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777240"/>
            <a:ext cx="1828800" cy="64008"/>
          </a:xfrm>
          <a:prstGeom prst="roundRect">
            <a:avLst>
              <a:gd name="adj" fmla="val 85714"/>
            </a:avLst>
          </a:prstGeom>
          <a:solidFill>
            <a:srgbClr val="C8A951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" y="141732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fundamentally interesting, cash-rich target — </a:t>
            </a:r>
            <a:pPr indent="0" marL="0">
              <a:lnSpc>
                <a:spcPct val="105000"/>
              </a:lnSpc>
              <a:buNone/>
            </a:pPr>
            <a:r>
              <a:rPr lang="en-US" sz="2500" b="1" i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but a live fraud investigation and sub-hurdle returns mean we should not bid now.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777240" y="2971800"/>
            <a:ext cx="2514600" cy="1234440"/>
          </a:xfrm>
          <a:prstGeom prst="roundRect">
            <a:avLst>
              <a:gd name="adj" fmla="val 5926"/>
            </a:avLst>
          </a:prstGeom>
          <a:solidFill>
            <a:srgbClr val="1E2761"/>
          </a:solidFill>
          <a:ln w="12700">
            <a:solidFill>
              <a:srgbClr val="2A347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31089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05840" y="338328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Too early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005840" y="384048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proceed to confirmatory DD only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47288" y="2971800"/>
            <a:ext cx="2514600" cy="1234440"/>
          </a:xfrm>
          <a:prstGeom prst="roundRect">
            <a:avLst>
              <a:gd name="adj" fmla="val 5926"/>
            </a:avLst>
          </a:prstGeom>
          <a:solidFill>
            <a:srgbClr val="1E2761"/>
          </a:solidFill>
          <a:ln w="12700">
            <a:solidFill>
              <a:srgbClr val="2A347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75888" y="31089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CASE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675888" y="338328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1.93x / 14.1%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3675888" y="384048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hurdle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117336" y="2971800"/>
            <a:ext cx="2514600" cy="1234440"/>
          </a:xfrm>
          <a:prstGeom prst="roundRect">
            <a:avLst>
              <a:gd name="adj" fmla="val 5926"/>
            </a:avLst>
          </a:prstGeom>
          <a:solidFill>
            <a:srgbClr val="1E2761"/>
          </a:solidFill>
          <a:ln w="12700">
            <a:solidFill>
              <a:srgbClr val="2A347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45936" y="31089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UPSIDE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345936" y="338328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2.46x / 19.7%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6345936" y="384048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if cleared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098280" y="14173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098280" y="1783080"/>
            <a:ext cx="26974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Await the special-investigation report &amp; any restatement before any bid</a:t>
            </a:r>
            <a:endParaRPr lang="en-US" sz="1050" dirty="0"/>
          </a:p>
          <a:p>
            <a:pPr marL="342900" indent="-342900">
              <a:spcAft>
                <a:spcPts val="7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Re-underwrite on restated financials; re-base the offer off a clean price</a:t>
            </a:r>
            <a:endParaRPr lang="en-US" sz="1050" dirty="0"/>
          </a:p>
          <a:p>
            <a:pPr marL="342900" indent="-342900">
              <a:spcAft>
                <a:spcPts val="7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Confirmatory diligence per the priority checklist</a:t>
            </a:r>
            <a:endParaRPr lang="en-US" sz="1050" dirty="0"/>
          </a:p>
          <a:p>
            <a:pPr marL="342900" indent="-342900">
              <a:spcAft>
                <a:spcPts val="7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 an outreach plan subject to explicit authorization (no contact under current data policy)</a:t>
            </a:r>
            <a:endParaRPr lang="en-US" sz="105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Revisit only if returns clear the hurdle post-clearance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77240" y="5440680"/>
            <a:ext cx="11018520" cy="0"/>
          </a:xfrm>
          <a:prstGeom prst="line">
            <a:avLst/>
          </a:prstGeom>
          <a:noFill/>
          <a:ln w="12700">
            <a:solidFill>
              <a:srgbClr val="2A347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" y="55778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850" i="1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Preliminary case study for internal discussion only — not investment advice, a valuation opinion or an offer. No contact has been made with the company, its shareholders or management; analysis uses public information only, which requires verification. Figures are pre-restatement and may change with the investigation outcome.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9144000" y="59436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Measure  ·  June 2026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20624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78992" y="365760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 Appendix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097280" y="914400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 public sources — every factual claim is to be verified in confirmatory diligence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32688" y="137160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97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AISAN IR — Special Investigation Committee notice (3 Apr 2026)</a:t>
            </a:r>
            <a:pPr indent="0" marL="0">
              <a:lnSpc>
                <a:spcPct val="95000"/>
              </a:lnSpc>
              <a:buNone/>
            </a:pPr>
            <a:r>
              <a:rPr lang="en-US" sz="97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subsidiary fraud probe: scope, trigger, committee composition</a:t>
            </a:r>
            <a:endParaRPr lang="en-US" sz="970" dirty="0"/>
          </a:p>
        </p:txBody>
      </p:sp>
      <p:sp>
        <p:nvSpPr>
          <p:cNvPr id="7" name="Text 5"/>
          <p:cNvSpPr/>
          <p:nvPr/>
        </p:nvSpPr>
        <p:spPr>
          <a:xfrm>
            <a:off x="932688" y="1618488"/>
            <a:ext cx="10698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https://www.aisantec.co.jp/information/4167/   ·   retrieved 7 Jun 2026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48640" y="1920240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32688" y="192024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97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AISAN IR — shareholder / stock information (株主メモ)</a:t>
            </a:r>
            <a:pPr indent="0" marL="0">
              <a:lnSpc>
                <a:spcPct val="95000"/>
              </a:lnSpc>
              <a:buNone/>
            </a:pPr>
            <a:r>
              <a:rPr lang="en-US" sz="97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shares outstanding 5,548,979; fiscal year-end; share administration</a:t>
            </a:r>
            <a:endParaRPr lang="en-US" sz="970" dirty="0"/>
          </a:p>
        </p:txBody>
      </p:sp>
      <p:sp>
        <p:nvSpPr>
          <p:cNvPr id="10" name="Text 8"/>
          <p:cNvSpPr/>
          <p:nvPr/>
        </p:nvSpPr>
        <p:spPr>
          <a:xfrm>
            <a:off x="932688" y="2167128"/>
            <a:ext cx="10698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https://www.aisantec.co.jp/ir/stockholders-note.html   ·   retrieved 7 Jun 2026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48640" y="2468880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32688" y="246888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97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AISAN IR — FY2025 results &amp; FY2026 guidance (決算短信; results normally announced May)</a:t>
            </a:r>
            <a:pPr indent="0" marL="0">
              <a:lnSpc>
                <a:spcPct val="95000"/>
              </a:lnSpc>
              <a:buNone/>
            </a:pPr>
            <a:r>
              <a:rPr lang="en-US" sz="97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FY25A rev ¥6.22bn / OP ¥0.44bn; FY26E guidance ¥7.2bn / ¥0.6bn (reported); verify FY26 results timing</a:t>
            </a:r>
            <a:endParaRPr lang="en-US" sz="970" dirty="0"/>
          </a:p>
        </p:txBody>
      </p:sp>
      <p:sp>
        <p:nvSpPr>
          <p:cNvPr id="13" name="Text 11"/>
          <p:cNvSpPr/>
          <p:nvPr/>
        </p:nvSpPr>
        <p:spPr>
          <a:xfrm>
            <a:off x="932688" y="2715768"/>
            <a:ext cx="10698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https://www.aisantec.co.jp/ir/investors/   ·   retrieved 7 Jun 2026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48640" y="3017520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32688" y="301752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97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Nikkei — “アイサン、特別調査委設置 子会社で不適切取引の疑い” (3 Apr 2026)</a:t>
            </a:r>
            <a:pPr indent="0" marL="0">
              <a:lnSpc>
                <a:spcPct val="95000"/>
              </a:lnSpc>
              <a:buNone/>
            </a:pPr>
            <a:r>
              <a:rPr lang="en-US" sz="97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independent confirmation of the investigation</a:t>
            </a:r>
            <a:endParaRPr lang="en-US" sz="970" dirty="0"/>
          </a:p>
        </p:txBody>
      </p:sp>
      <p:sp>
        <p:nvSpPr>
          <p:cNvPr id="16" name="Text 14"/>
          <p:cNvSpPr/>
          <p:nvPr/>
        </p:nvSpPr>
        <p:spPr>
          <a:xfrm>
            <a:off x="932688" y="3264408"/>
            <a:ext cx="10698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https://www.nikkei.com/nkd/industry/article/?DisplayType=1&amp;n_m_code=146&amp;ng=DGXZQOFD03A3V0T00C26A4000000   ·   retrieved 7 Jun 2026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548640" y="3566160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32688" y="356616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97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Yahoo Finance JP — market news &amp; quote (4667; Apr 2026)</a:t>
            </a:r>
            <a:pPr indent="0" marL="0">
              <a:lnSpc>
                <a:spcPct val="95000"/>
              </a:lnSpc>
              <a:buNone/>
            </a:pPr>
            <a:r>
              <a:rPr lang="en-US" sz="97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market reaction; year-low ~¥1,643; share price (per AISAN IR FAQ)</a:t>
            </a:r>
            <a:endParaRPr lang="en-US" sz="970" dirty="0"/>
          </a:p>
        </p:txBody>
      </p:sp>
      <p:sp>
        <p:nvSpPr>
          <p:cNvPr id="19" name="Text 17"/>
          <p:cNvSpPr/>
          <p:nvPr/>
        </p:nvSpPr>
        <p:spPr>
          <a:xfrm>
            <a:off x="932688" y="3813048"/>
            <a:ext cx="10698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https://finance.yahoo.co.jp/news/detail/5c27f0e1919b1e7001799004888f00d95af6ee3d   ·   retrieved 7 Jun 2026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548640" y="4114800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32688" y="411480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97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IRBANK — 4667 / E04980 (P&amp;L, balance sheet, cash flow, segment)</a:t>
            </a:r>
            <a:pPr indent="0" marL="0">
              <a:lnSpc>
                <a:spcPct val="95000"/>
              </a:lnSpc>
              <a:buNone/>
            </a:pPr>
            <a:r>
              <a:rPr lang="en-US" sz="97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financial history &amp; multiples (FY24–FY26E)</a:t>
            </a:r>
            <a:endParaRPr lang="en-US" sz="970" dirty="0"/>
          </a:p>
        </p:txBody>
      </p:sp>
      <p:sp>
        <p:nvSpPr>
          <p:cNvPr id="22" name="Text 20"/>
          <p:cNvSpPr/>
          <p:nvPr/>
        </p:nvSpPr>
        <p:spPr>
          <a:xfrm>
            <a:off x="932688" y="4361688"/>
            <a:ext cx="10698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https://irbank.net/E04980/pl  (also /bs, /cf)   ·   retrieved 7 Jun 2026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548640" y="4663440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32688" y="466344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97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M&amp;A Online — Akisoku acquisition (Oct 2023; executed Jan 2024)</a:t>
            </a:r>
            <a:pPr indent="0" marL="0">
              <a:lnSpc>
                <a:spcPct val="95000"/>
              </a:lnSpc>
              <a:buNone/>
            </a:pPr>
            <a:r>
              <a:rPr lang="en-US" sz="97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subsidiary acquisition; corporate history</a:t>
            </a:r>
            <a:endParaRPr lang="en-US" sz="970" dirty="0"/>
          </a:p>
        </p:txBody>
      </p:sp>
      <p:sp>
        <p:nvSpPr>
          <p:cNvPr id="25" name="Text 23"/>
          <p:cNvSpPr/>
          <p:nvPr/>
        </p:nvSpPr>
        <p:spPr>
          <a:xfrm>
            <a:off x="932688" y="4910328"/>
            <a:ext cx="10698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https://maonline.jp/news/20231013b   ·   retrieved 7 Jun 2026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48640" y="5285232"/>
            <a:ext cx="11091672" cy="1078992"/>
          </a:xfrm>
          <a:prstGeom prst="roundRect">
            <a:avLst>
              <a:gd name="adj" fmla="val 6780"/>
            </a:avLst>
          </a:prstGeom>
          <a:solidFill>
            <a:srgbClr val="F4F6FB"/>
          </a:solidFill>
          <a:ln w="12700">
            <a:solidFill>
              <a:srgbClr val="DDE3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5285232"/>
            <a:ext cx="91440" cy="1078992"/>
          </a:xfrm>
          <a:prstGeom prst="roundRect">
            <a:avLst>
              <a:gd name="adj" fmla="val 60000"/>
            </a:avLst>
          </a:prstGeom>
          <a:solidFill>
            <a:srgbClr val="C8A951"/>
          </a:solidFill>
          <a:ln/>
        </p:spPr>
      </p:sp>
      <p:sp>
        <p:nvSpPr>
          <p:cNvPr id="28" name="Text 26"/>
          <p:cNvSpPr/>
          <p:nvPr/>
        </p:nvSpPr>
        <p:spPr>
          <a:xfrm>
            <a:off x="868680" y="5376672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/ estimated / to be verified in DD:  </a:t>
            </a:r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/ related-holder stake (~18.5%, reported), segment margins (Public ~26%, Mobility loss-making — reported H1 FY26), investment-securities mark, FY2026E guidance and the Akisoku impact are reported or estimated and may change with the investigation outcome and any restatement. Sources retrieved 7 Jun 2026. No company / shareholder / management contact has been made; this analysis relies on public information only.</a:t>
            </a:r>
            <a:endParaRPr lang="en-US" sz="930" dirty="0"/>
          </a:p>
        </p:txBody>
      </p:sp>
      <p:sp>
        <p:nvSpPr>
          <p:cNvPr id="29" name="Text 27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Measure  ·  Strictly Private &amp; Confidential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11338560" y="64556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Measure — AISAN TECHNOLOGY Take-Private</dc:title>
  <dc:subject>PptxGenJS Presentation</dc:subject>
  <dc:creator>Investment Team</dc:creator>
  <cp:lastModifiedBy>Investment Team</cp:lastModifiedBy>
  <cp:revision>1</cp:revision>
  <dcterms:created xsi:type="dcterms:W3CDTF">2026-06-07T12:40:10Z</dcterms:created>
  <dcterms:modified xsi:type="dcterms:W3CDTF">2026-06-07T12:40:10Z</dcterms:modified>
</cp:coreProperties>
</file>